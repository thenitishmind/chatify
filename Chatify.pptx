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ish Kumar" userId="9118870bacc3ec78" providerId="LiveId" clId="{5482C1D5-59F5-4CC2-8A57-A188655CA23C}"/>
    <pc:docChg chg="modSld">
      <pc:chgData name="Nitish Kumar" userId="9118870bacc3ec78" providerId="LiveId" clId="{5482C1D5-59F5-4CC2-8A57-A188655CA23C}" dt="2026-05-19T07:36:34.983" v="15" actId="14100"/>
      <pc:docMkLst>
        <pc:docMk/>
      </pc:docMkLst>
      <pc:sldChg chg="modSp mod">
        <pc:chgData name="Nitish Kumar" userId="9118870bacc3ec78" providerId="LiveId" clId="{5482C1D5-59F5-4CC2-8A57-A188655CA23C}" dt="2026-05-19T07:35:57.312" v="14" actId="1035"/>
        <pc:sldMkLst>
          <pc:docMk/>
          <pc:sldMk cId="0" sldId="259"/>
        </pc:sldMkLst>
        <pc:spChg chg="mod">
          <ac:chgData name="Nitish Kumar" userId="9118870bacc3ec78" providerId="LiveId" clId="{5482C1D5-59F5-4CC2-8A57-A188655CA23C}" dt="2026-05-19T07:35:57.312" v="14" actId="1035"/>
          <ac:spMkLst>
            <pc:docMk/>
            <pc:sldMk cId="0" sldId="259"/>
            <ac:spMk id="58" creationId="{00000000-0000-0000-0000-000000000000}"/>
          </ac:spMkLst>
        </pc:spChg>
      </pc:sldChg>
      <pc:sldChg chg="modSp mod">
        <pc:chgData name="Nitish Kumar" userId="9118870bacc3ec78" providerId="LiveId" clId="{5482C1D5-59F5-4CC2-8A57-A188655CA23C}" dt="2026-05-19T07:36:34.983" v="15" actId="14100"/>
        <pc:sldMkLst>
          <pc:docMk/>
          <pc:sldMk cId="0" sldId="273"/>
        </pc:sldMkLst>
        <pc:spChg chg="mod">
          <ac:chgData name="Nitish Kumar" userId="9118870bacc3ec78" providerId="LiveId" clId="{5482C1D5-59F5-4CC2-8A57-A188655CA23C}" dt="2026-05-19T07:36:34.983" v="15" actId="14100"/>
          <ac:spMkLst>
            <pc:docMk/>
            <pc:sldMk cId="0" sldId="273"/>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5404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7.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9.png"/><Relationship Id="rId12"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3.png"/><Relationship Id="rId5" Type="http://schemas.openxmlformats.org/officeDocument/2006/relationships/image" Target="../media/image1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394960" cy="5143500"/>
          </a:xfrm>
          <a:prstGeom prst="rect">
            <a:avLst/>
          </a:prstGeom>
          <a:solidFill>
            <a:srgbClr val="1A2233"/>
          </a:solidFill>
          <a:ln w="12700">
            <a:solidFill>
              <a:srgbClr val="1A2233"/>
            </a:solidFill>
            <a:prstDash val="solid"/>
          </a:ln>
        </p:spPr>
        <p:txBody>
          <a:bodyPr/>
          <a:lstStyle/>
          <a:p>
            <a:endParaRPr lang="en-US"/>
          </a:p>
        </p:txBody>
      </p:sp>
      <p:sp>
        <p:nvSpPr>
          <p:cNvPr id="3" name="Shape 1"/>
          <p:cNvSpPr/>
          <p:nvPr/>
        </p:nvSpPr>
        <p:spPr>
          <a:xfrm>
            <a:off x="5394960" y="0"/>
            <a:ext cx="45720" cy="5143500"/>
          </a:xfrm>
          <a:prstGeom prst="rect">
            <a:avLst/>
          </a:prstGeom>
          <a:solidFill>
            <a:srgbClr val="6366F1"/>
          </a:solidFill>
          <a:ln w="12700">
            <a:solidFill>
              <a:srgbClr val="6366F1"/>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5669280" y="457200"/>
            <a:ext cx="3017520" cy="3319272"/>
          </a:xfrm>
          <a:prstGeom prst="rect">
            <a:avLst/>
          </a:prstGeom>
        </p:spPr>
      </p:pic>
      <p:pic>
        <p:nvPicPr>
          <p:cNvPr id="5" name="Image 1" descr="preencoded.png"/>
          <p:cNvPicPr>
            <a:picLocks noChangeAspect="1"/>
          </p:cNvPicPr>
          <p:nvPr/>
        </p:nvPicPr>
        <p:blipFill>
          <a:blip r:embed="rId4"/>
          <a:stretch>
            <a:fillRect/>
          </a:stretch>
        </p:blipFill>
        <p:spPr>
          <a:xfrm>
            <a:off x="5394960" y="3291840"/>
            <a:ext cx="3474720" cy="1828800"/>
          </a:xfrm>
          <a:prstGeom prst="rect">
            <a:avLst/>
          </a:prstGeom>
        </p:spPr>
      </p:pic>
      <p:sp>
        <p:nvSpPr>
          <p:cNvPr id="6" name="Shape 2"/>
          <p:cNvSpPr/>
          <p:nvPr/>
        </p:nvSpPr>
        <p:spPr>
          <a:xfrm>
            <a:off x="411480" y="502920"/>
            <a:ext cx="914400" cy="914400"/>
          </a:xfrm>
          <a:prstGeom prst="rect">
            <a:avLst/>
          </a:prstGeom>
          <a:solidFill>
            <a:srgbClr val="6366F1"/>
          </a:solidFill>
          <a:ln/>
          <a:effectLst>
            <a:outerShdw blurRad="101600" dist="25400" dir="8100000" algn="bl" rotWithShape="0">
              <a:srgbClr val="000000">
                <a:alpha val="28000"/>
              </a:srgbClr>
            </a:outerShdw>
          </a:effectLst>
        </p:spPr>
        <p:txBody>
          <a:bodyPr/>
          <a:lstStyle/>
          <a:p>
            <a:endParaRPr lang="en-US"/>
          </a:p>
        </p:txBody>
      </p:sp>
      <p:pic>
        <p:nvPicPr>
          <p:cNvPr id="7" name="Image 2" descr="preencoded.png"/>
          <p:cNvPicPr>
            <a:picLocks noChangeAspect="1"/>
          </p:cNvPicPr>
          <p:nvPr/>
        </p:nvPicPr>
        <p:blipFill>
          <a:blip r:embed="rId5"/>
          <a:stretch>
            <a:fillRect/>
          </a:stretch>
        </p:blipFill>
        <p:spPr>
          <a:xfrm>
            <a:off x="502920" y="576072"/>
            <a:ext cx="731520" cy="731520"/>
          </a:xfrm>
          <a:prstGeom prst="rect">
            <a:avLst/>
          </a:prstGeom>
        </p:spPr>
      </p:pic>
      <p:sp>
        <p:nvSpPr>
          <p:cNvPr id="8" name="Text 3"/>
          <p:cNvSpPr/>
          <p:nvPr/>
        </p:nvSpPr>
        <p:spPr>
          <a:xfrm>
            <a:off x="411480" y="1572768"/>
            <a:ext cx="4663440" cy="804672"/>
          </a:xfrm>
          <a:prstGeom prst="rect">
            <a:avLst/>
          </a:prstGeom>
          <a:noFill/>
          <a:ln/>
        </p:spPr>
        <p:txBody>
          <a:bodyPr wrap="square" lIns="0" tIns="0" rIns="0" bIns="0" rtlCol="0" anchor="ctr"/>
          <a:lstStyle/>
          <a:p>
            <a:pPr marL="0" indent="0">
              <a:buNone/>
            </a:pPr>
            <a:r>
              <a:rPr lang="en-US" sz="5600" b="1" dirty="0">
                <a:solidFill>
                  <a:srgbClr val="F0F6FC"/>
                </a:solidFill>
                <a:latin typeface="Calibri" pitchFamily="34" charset="0"/>
                <a:ea typeface="Calibri" pitchFamily="34" charset="-122"/>
                <a:cs typeface="Calibri" pitchFamily="34" charset="-120"/>
              </a:rPr>
              <a:t>Chatify</a:t>
            </a:r>
            <a:endParaRPr lang="en-US" sz="5600" dirty="0"/>
          </a:p>
        </p:txBody>
      </p:sp>
      <p:sp>
        <p:nvSpPr>
          <p:cNvPr id="9" name="Text 4"/>
          <p:cNvSpPr/>
          <p:nvPr/>
        </p:nvSpPr>
        <p:spPr>
          <a:xfrm>
            <a:off x="411480" y="2395728"/>
            <a:ext cx="4663440" cy="329184"/>
          </a:xfrm>
          <a:prstGeom prst="rect">
            <a:avLst/>
          </a:prstGeom>
          <a:noFill/>
          <a:ln/>
        </p:spPr>
        <p:txBody>
          <a:bodyPr wrap="square" lIns="0" tIns="0" rIns="0" bIns="0" rtlCol="0" anchor="ctr"/>
          <a:lstStyle/>
          <a:p>
            <a:pPr marL="0" indent="0">
              <a:buNone/>
            </a:pPr>
            <a:r>
              <a:rPr lang="en-US" sz="1800" i="1" dirty="0">
                <a:solidFill>
                  <a:srgbClr val="22D3EE"/>
                </a:solidFill>
                <a:latin typeface="Calibri" pitchFamily="34" charset="0"/>
                <a:ea typeface="Calibri" pitchFamily="34" charset="-122"/>
                <a:cs typeface="Calibri" pitchFamily="34" charset="-120"/>
              </a:rPr>
              <a:t>Real-Time Chat &amp; Calling Platform</a:t>
            </a:r>
            <a:endParaRPr lang="en-US" sz="1800" dirty="0"/>
          </a:p>
        </p:txBody>
      </p:sp>
      <p:sp>
        <p:nvSpPr>
          <p:cNvPr id="10" name="Text 5"/>
          <p:cNvSpPr/>
          <p:nvPr/>
        </p:nvSpPr>
        <p:spPr>
          <a:xfrm>
            <a:off x="411480" y="2752344"/>
            <a:ext cx="4663440" cy="256032"/>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Deep Technical Analysis  ·  Full-Stack Project Presentation</a:t>
            </a:r>
            <a:endParaRPr lang="en-US" sz="1200" dirty="0"/>
          </a:p>
        </p:txBody>
      </p:sp>
      <p:sp>
        <p:nvSpPr>
          <p:cNvPr id="11" name="Shape 6"/>
          <p:cNvSpPr/>
          <p:nvPr/>
        </p:nvSpPr>
        <p:spPr>
          <a:xfrm>
            <a:off x="411480" y="3163824"/>
            <a:ext cx="2286000" cy="36576"/>
          </a:xfrm>
          <a:prstGeom prst="rect">
            <a:avLst/>
          </a:prstGeom>
          <a:solidFill>
            <a:srgbClr val="8B5CF6"/>
          </a:solidFill>
          <a:ln w="12700">
            <a:solidFill>
              <a:srgbClr val="8B5CF6"/>
            </a:solidFill>
            <a:prstDash val="solid"/>
          </a:ln>
        </p:spPr>
        <p:txBody>
          <a:bodyPr/>
          <a:lstStyle/>
          <a:p>
            <a:endParaRPr lang="en-US"/>
          </a:p>
        </p:txBody>
      </p:sp>
      <p:sp>
        <p:nvSpPr>
          <p:cNvPr id="12" name="Text 7"/>
          <p:cNvSpPr/>
          <p:nvPr/>
        </p:nvSpPr>
        <p:spPr>
          <a:xfrm>
            <a:off x="411480" y="3310128"/>
            <a:ext cx="4663440" cy="329184"/>
          </a:xfrm>
          <a:prstGeom prst="rect">
            <a:avLst/>
          </a:prstGeom>
          <a:noFill/>
          <a:ln/>
        </p:spPr>
        <p:txBody>
          <a:bodyPr wrap="square" lIns="0" tIns="0" rIns="0" bIns="0" rtlCol="0" anchor="ctr"/>
          <a:lstStyle/>
          <a:p>
            <a:pPr marL="0" indent="0">
              <a:buNone/>
            </a:pPr>
            <a:r>
              <a:rPr lang="en-US" sz="1700" b="1" dirty="0">
                <a:solidFill>
                  <a:srgbClr val="F0F6FC"/>
                </a:solidFill>
                <a:latin typeface="Calibri" pitchFamily="34" charset="0"/>
                <a:ea typeface="Calibri" pitchFamily="34" charset="-122"/>
                <a:cs typeface="Calibri" pitchFamily="34" charset="-120"/>
              </a:rPr>
              <a:t>Nitish Kumar</a:t>
            </a:r>
            <a:endParaRPr lang="en-US" sz="1700" dirty="0"/>
          </a:p>
        </p:txBody>
      </p:sp>
      <p:sp>
        <p:nvSpPr>
          <p:cNvPr id="13" name="Text 8"/>
          <p:cNvSpPr/>
          <p:nvPr/>
        </p:nvSpPr>
        <p:spPr>
          <a:xfrm>
            <a:off x="411480" y="3657600"/>
            <a:ext cx="4663440" cy="237744"/>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Final Year  ·  2026  ·  Bachelor of Computer Science</a:t>
            </a:r>
            <a:endParaRPr lang="en-US" sz="1200" dirty="0"/>
          </a:p>
        </p:txBody>
      </p:sp>
      <p:sp>
        <p:nvSpPr>
          <p:cNvPr id="14" name="Shape 9"/>
          <p:cNvSpPr/>
          <p:nvPr/>
        </p:nvSpPr>
        <p:spPr>
          <a:xfrm>
            <a:off x="411480" y="4133088"/>
            <a:ext cx="138988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15" name="Text 10"/>
          <p:cNvSpPr/>
          <p:nvPr/>
        </p:nvSpPr>
        <p:spPr>
          <a:xfrm>
            <a:off x="411480" y="4133088"/>
            <a:ext cx="138988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React 19</a:t>
            </a:r>
            <a:endParaRPr lang="en-US" sz="950" dirty="0"/>
          </a:p>
        </p:txBody>
      </p:sp>
      <p:sp>
        <p:nvSpPr>
          <p:cNvPr id="16" name="Shape 11"/>
          <p:cNvSpPr/>
          <p:nvPr/>
        </p:nvSpPr>
        <p:spPr>
          <a:xfrm>
            <a:off x="1920240" y="4133088"/>
            <a:ext cx="138988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17" name="Text 12"/>
          <p:cNvSpPr/>
          <p:nvPr/>
        </p:nvSpPr>
        <p:spPr>
          <a:xfrm>
            <a:off x="1920240" y="4133088"/>
            <a:ext cx="138988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Node.js</a:t>
            </a:r>
            <a:endParaRPr lang="en-US" sz="950" dirty="0"/>
          </a:p>
        </p:txBody>
      </p:sp>
      <p:sp>
        <p:nvSpPr>
          <p:cNvPr id="18" name="Shape 13"/>
          <p:cNvSpPr/>
          <p:nvPr/>
        </p:nvSpPr>
        <p:spPr>
          <a:xfrm>
            <a:off x="3429000" y="4133088"/>
            <a:ext cx="138988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19" name="Text 14"/>
          <p:cNvSpPr/>
          <p:nvPr/>
        </p:nvSpPr>
        <p:spPr>
          <a:xfrm>
            <a:off x="3429000" y="4133088"/>
            <a:ext cx="138988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Supabase</a:t>
            </a:r>
            <a:endParaRPr lang="en-US" sz="950" dirty="0"/>
          </a:p>
        </p:txBody>
      </p:sp>
      <p:sp>
        <p:nvSpPr>
          <p:cNvPr id="20" name="Shape 15"/>
          <p:cNvSpPr/>
          <p:nvPr/>
        </p:nvSpPr>
        <p:spPr>
          <a:xfrm>
            <a:off x="411480" y="4517136"/>
            <a:ext cx="138988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21" name="Text 16"/>
          <p:cNvSpPr/>
          <p:nvPr/>
        </p:nvSpPr>
        <p:spPr>
          <a:xfrm>
            <a:off x="411480" y="4517136"/>
            <a:ext cx="138988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Firebase</a:t>
            </a:r>
            <a:endParaRPr lang="en-US" sz="950" dirty="0"/>
          </a:p>
        </p:txBody>
      </p:sp>
      <p:sp>
        <p:nvSpPr>
          <p:cNvPr id="22" name="Shape 17"/>
          <p:cNvSpPr/>
          <p:nvPr/>
        </p:nvSpPr>
        <p:spPr>
          <a:xfrm>
            <a:off x="1920240" y="4517136"/>
            <a:ext cx="138988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23" name="Text 18"/>
          <p:cNvSpPr/>
          <p:nvPr/>
        </p:nvSpPr>
        <p:spPr>
          <a:xfrm>
            <a:off x="1920240" y="4517136"/>
            <a:ext cx="138988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WebRTC</a:t>
            </a:r>
            <a:endParaRPr lang="en-US" sz="950" dirty="0"/>
          </a:p>
        </p:txBody>
      </p:sp>
      <p:sp>
        <p:nvSpPr>
          <p:cNvPr id="24" name="Shape 19"/>
          <p:cNvSpPr/>
          <p:nvPr/>
        </p:nvSpPr>
        <p:spPr>
          <a:xfrm>
            <a:off x="3429000" y="4517136"/>
            <a:ext cx="138988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25" name="Text 20"/>
          <p:cNvSpPr/>
          <p:nvPr/>
        </p:nvSpPr>
        <p:spPr>
          <a:xfrm>
            <a:off x="3429000" y="4517136"/>
            <a:ext cx="138988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PostgreSQL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What Is Chatify?</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A production-grade real-time communication platform — built end to end by one developer</a:t>
            </a:r>
            <a:endParaRPr lang="en-US" sz="1300" dirty="0"/>
          </a:p>
        </p:txBody>
      </p:sp>
      <p:pic>
        <p:nvPicPr>
          <p:cNvPr id="5" name="Image 0" descr="preencoded.png"/>
          <p:cNvPicPr>
            <a:picLocks noChangeAspect="1"/>
          </p:cNvPicPr>
          <p:nvPr/>
        </p:nvPicPr>
        <p:blipFill>
          <a:blip r:embed="rId3"/>
          <a:stretch>
            <a:fillRect/>
          </a:stretch>
        </p:blipFill>
        <p:spPr>
          <a:xfrm>
            <a:off x="347472" y="987552"/>
            <a:ext cx="640080" cy="640080"/>
          </a:xfrm>
          <a:prstGeom prst="rect">
            <a:avLst/>
          </a:prstGeom>
        </p:spPr>
      </p:pic>
      <p:sp>
        <p:nvSpPr>
          <p:cNvPr id="6" name="Text 3"/>
          <p:cNvSpPr/>
          <p:nvPr/>
        </p:nvSpPr>
        <p:spPr>
          <a:xfrm>
            <a:off x="1115568" y="987552"/>
            <a:ext cx="7772400" cy="658368"/>
          </a:xfrm>
          <a:prstGeom prst="rect">
            <a:avLst/>
          </a:prstGeom>
          <a:noFill/>
          <a:ln/>
        </p:spPr>
        <p:txBody>
          <a:bodyPr wrap="square" rtlCol="0" anchor="ctr"/>
          <a:lstStyle/>
          <a:p>
            <a:pPr marL="0" indent="0">
              <a:buNone/>
            </a:pPr>
            <a:r>
              <a:rPr lang="en-US" sz="1600" b="1" dirty="0">
                <a:solidFill>
                  <a:srgbClr val="F0F6FC"/>
                </a:solidFill>
                <a:latin typeface="Calibri" pitchFamily="34" charset="0"/>
                <a:ea typeface="Calibri" pitchFamily="34" charset="-122"/>
                <a:cs typeface="Calibri" pitchFamily="34" charset="-120"/>
              </a:rPr>
              <a:t>Chatify is a full-stack messaging &amp; calling web application that rivals commercial chat apps.</a:t>
            </a:r>
            <a:endParaRPr lang="en-US" sz="1600" dirty="0"/>
          </a:p>
        </p:txBody>
      </p:sp>
      <p:sp>
        <p:nvSpPr>
          <p:cNvPr id="7" name="Shape 4"/>
          <p:cNvSpPr/>
          <p:nvPr/>
        </p:nvSpPr>
        <p:spPr>
          <a:xfrm>
            <a:off x="256032" y="1783080"/>
            <a:ext cx="2743200" cy="3127248"/>
          </a:xfrm>
          <a:prstGeom prst="rect">
            <a:avLst/>
          </a:prstGeom>
          <a:solidFill>
            <a:srgbClr val="161B22"/>
          </a:solidFill>
          <a:ln w="1016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sp>
        <p:nvSpPr>
          <p:cNvPr id="8" name="Shape 5"/>
          <p:cNvSpPr/>
          <p:nvPr/>
        </p:nvSpPr>
        <p:spPr>
          <a:xfrm>
            <a:off x="256032" y="1783080"/>
            <a:ext cx="2743200" cy="365760"/>
          </a:xfrm>
          <a:prstGeom prst="rect">
            <a:avLst/>
          </a:prstGeom>
          <a:solidFill>
            <a:srgbClr val="22D3EE"/>
          </a:solidFill>
          <a:ln w="12700">
            <a:solidFill>
              <a:srgbClr val="22D3EE"/>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347472" y="1828800"/>
            <a:ext cx="310896" cy="310896"/>
          </a:xfrm>
          <a:prstGeom prst="rect">
            <a:avLst/>
          </a:prstGeom>
        </p:spPr>
      </p:pic>
      <p:sp>
        <p:nvSpPr>
          <p:cNvPr id="10" name="Text 6"/>
          <p:cNvSpPr/>
          <p:nvPr/>
        </p:nvSpPr>
        <p:spPr>
          <a:xfrm>
            <a:off x="713232" y="1801368"/>
            <a:ext cx="2148840" cy="329184"/>
          </a:xfrm>
          <a:prstGeom prst="rect">
            <a:avLst/>
          </a:prstGeom>
          <a:noFill/>
          <a:ln/>
        </p:spPr>
        <p:txBody>
          <a:bodyPr wrap="square" lIns="0" tIns="0" rIns="0" bIns="0" rtlCol="0" anchor="ctr"/>
          <a:lstStyle/>
          <a:p>
            <a:pPr marL="0" indent="0">
              <a:buNone/>
            </a:pPr>
            <a:r>
              <a:rPr lang="en-US" sz="1300" b="1" dirty="0">
                <a:solidFill>
                  <a:srgbClr val="0D1117"/>
                </a:solidFill>
                <a:latin typeface="Calibri" pitchFamily="34" charset="0"/>
                <a:ea typeface="Calibri" pitchFamily="34" charset="-122"/>
                <a:cs typeface="Calibri" pitchFamily="34" charset="-120"/>
              </a:rPr>
              <a:t>Frontend SPA</a:t>
            </a:r>
            <a:endParaRPr lang="en-US" sz="1300" dirty="0"/>
          </a:p>
        </p:txBody>
      </p:sp>
      <p:sp>
        <p:nvSpPr>
          <p:cNvPr id="11" name="Text 7"/>
          <p:cNvSpPr/>
          <p:nvPr/>
        </p:nvSpPr>
        <p:spPr>
          <a:xfrm>
            <a:off x="420624" y="2267712"/>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React 19 + Vite</a:t>
            </a:r>
            <a:endParaRPr lang="en-US" sz="1150" dirty="0"/>
          </a:p>
        </p:txBody>
      </p:sp>
      <p:sp>
        <p:nvSpPr>
          <p:cNvPr id="12" name="Text 8"/>
          <p:cNvSpPr/>
          <p:nvPr/>
        </p:nvSpPr>
        <p:spPr>
          <a:xfrm>
            <a:off x="420624" y="2889504"/>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Feature-based architecture</a:t>
            </a:r>
            <a:endParaRPr lang="en-US" sz="1150" dirty="0"/>
          </a:p>
        </p:txBody>
      </p:sp>
      <p:sp>
        <p:nvSpPr>
          <p:cNvPr id="13" name="Text 9"/>
          <p:cNvSpPr/>
          <p:nvPr/>
        </p:nvSpPr>
        <p:spPr>
          <a:xfrm>
            <a:off x="420624" y="3511296"/>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Context API state management</a:t>
            </a:r>
            <a:endParaRPr lang="en-US" sz="1150" dirty="0"/>
          </a:p>
        </p:txBody>
      </p:sp>
      <p:sp>
        <p:nvSpPr>
          <p:cNvPr id="14" name="Text 10"/>
          <p:cNvSpPr/>
          <p:nvPr/>
        </p:nvSpPr>
        <p:spPr>
          <a:xfrm>
            <a:off x="420624" y="4133088"/>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GSAP animations + glassmorphism CSS</a:t>
            </a:r>
            <a:endParaRPr lang="en-US" sz="1150" dirty="0"/>
          </a:p>
        </p:txBody>
      </p:sp>
      <p:sp>
        <p:nvSpPr>
          <p:cNvPr id="15" name="Shape 11"/>
          <p:cNvSpPr/>
          <p:nvPr/>
        </p:nvSpPr>
        <p:spPr>
          <a:xfrm>
            <a:off x="3200400" y="1783080"/>
            <a:ext cx="2743200" cy="3127248"/>
          </a:xfrm>
          <a:prstGeom prst="rect">
            <a:avLst/>
          </a:prstGeom>
          <a:solidFill>
            <a:srgbClr val="161B22"/>
          </a:solidFill>
          <a:ln w="10160">
            <a:solidFill>
              <a:srgbClr val="6366F1"/>
            </a:solidFill>
            <a:prstDash val="solid"/>
          </a:ln>
          <a:effectLst>
            <a:outerShdw blurRad="101600" dist="25400" dir="8100000" algn="bl" rotWithShape="0">
              <a:srgbClr val="000000">
                <a:alpha val="28000"/>
              </a:srgbClr>
            </a:outerShdw>
          </a:effectLst>
        </p:spPr>
        <p:txBody>
          <a:bodyPr/>
          <a:lstStyle/>
          <a:p>
            <a:endParaRPr lang="en-US"/>
          </a:p>
        </p:txBody>
      </p:sp>
      <p:sp>
        <p:nvSpPr>
          <p:cNvPr id="16" name="Shape 12"/>
          <p:cNvSpPr/>
          <p:nvPr/>
        </p:nvSpPr>
        <p:spPr>
          <a:xfrm>
            <a:off x="3200400" y="1783080"/>
            <a:ext cx="2743200" cy="365760"/>
          </a:xfrm>
          <a:prstGeom prst="rect">
            <a:avLst/>
          </a:prstGeom>
          <a:solidFill>
            <a:srgbClr val="6366F1"/>
          </a:solidFill>
          <a:ln w="12700">
            <a:solidFill>
              <a:srgbClr val="6366F1"/>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291840" y="1828800"/>
            <a:ext cx="310896" cy="310896"/>
          </a:xfrm>
          <a:prstGeom prst="rect">
            <a:avLst/>
          </a:prstGeom>
        </p:spPr>
      </p:pic>
      <p:sp>
        <p:nvSpPr>
          <p:cNvPr id="18" name="Text 13"/>
          <p:cNvSpPr/>
          <p:nvPr/>
        </p:nvSpPr>
        <p:spPr>
          <a:xfrm>
            <a:off x="3657600" y="1801368"/>
            <a:ext cx="2148840" cy="329184"/>
          </a:xfrm>
          <a:prstGeom prst="rect">
            <a:avLst/>
          </a:prstGeom>
          <a:noFill/>
          <a:ln/>
        </p:spPr>
        <p:txBody>
          <a:bodyPr wrap="square" lIns="0" tIns="0" rIns="0" bIns="0" rtlCol="0" anchor="ctr"/>
          <a:lstStyle/>
          <a:p>
            <a:pPr marL="0" indent="0">
              <a:buNone/>
            </a:pPr>
            <a:r>
              <a:rPr lang="en-US" sz="1300" b="1" dirty="0">
                <a:solidFill>
                  <a:srgbClr val="0D1117"/>
                </a:solidFill>
                <a:latin typeface="Calibri" pitchFamily="34" charset="0"/>
                <a:ea typeface="Calibri" pitchFamily="34" charset="-122"/>
                <a:cs typeface="Calibri" pitchFamily="34" charset="-120"/>
              </a:rPr>
              <a:t>Backend API</a:t>
            </a:r>
            <a:endParaRPr lang="en-US" sz="1300" dirty="0"/>
          </a:p>
        </p:txBody>
      </p:sp>
      <p:sp>
        <p:nvSpPr>
          <p:cNvPr id="19" name="Text 14"/>
          <p:cNvSpPr/>
          <p:nvPr/>
        </p:nvSpPr>
        <p:spPr>
          <a:xfrm>
            <a:off x="3364992" y="2267712"/>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Node.js + Express REST</a:t>
            </a:r>
            <a:endParaRPr lang="en-US" sz="1150" dirty="0"/>
          </a:p>
        </p:txBody>
      </p:sp>
      <p:sp>
        <p:nvSpPr>
          <p:cNvPr id="20" name="Text 15"/>
          <p:cNvSpPr/>
          <p:nvPr/>
        </p:nvSpPr>
        <p:spPr>
          <a:xfrm>
            <a:off x="3364992" y="2889504"/>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Firebase JWT middleware</a:t>
            </a:r>
            <a:endParaRPr lang="en-US" sz="1150" dirty="0"/>
          </a:p>
        </p:txBody>
      </p:sp>
      <p:sp>
        <p:nvSpPr>
          <p:cNvPr id="21" name="Text 16"/>
          <p:cNvSpPr/>
          <p:nvPr/>
        </p:nvSpPr>
        <p:spPr>
          <a:xfrm>
            <a:off x="3364992" y="3511296"/>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Multer file upload pipeline</a:t>
            </a:r>
            <a:endParaRPr lang="en-US" sz="1150" dirty="0"/>
          </a:p>
        </p:txBody>
      </p:sp>
      <p:sp>
        <p:nvSpPr>
          <p:cNvPr id="22" name="Text 17"/>
          <p:cNvSpPr/>
          <p:nvPr/>
        </p:nvSpPr>
        <p:spPr>
          <a:xfrm>
            <a:off x="3364992" y="4133088"/>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Centralized error handling</a:t>
            </a:r>
            <a:endParaRPr lang="en-US" sz="1150" dirty="0"/>
          </a:p>
        </p:txBody>
      </p:sp>
      <p:sp>
        <p:nvSpPr>
          <p:cNvPr id="23" name="Shape 18"/>
          <p:cNvSpPr/>
          <p:nvPr/>
        </p:nvSpPr>
        <p:spPr>
          <a:xfrm>
            <a:off x="6144768" y="1783080"/>
            <a:ext cx="2743200" cy="3127248"/>
          </a:xfrm>
          <a:prstGeom prst="rect">
            <a:avLst/>
          </a:prstGeom>
          <a:solidFill>
            <a:srgbClr val="161B22"/>
          </a:solidFill>
          <a:ln w="1016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sp>
        <p:nvSpPr>
          <p:cNvPr id="24" name="Shape 19"/>
          <p:cNvSpPr/>
          <p:nvPr/>
        </p:nvSpPr>
        <p:spPr>
          <a:xfrm>
            <a:off x="6144768" y="1783080"/>
            <a:ext cx="2743200" cy="365760"/>
          </a:xfrm>
          <a:prstGeom prst="rect">
            <a:avLst/>
          </a:prstGeom>
          <a:solidFill>
            <a:srgbClr val="10B981"/>
          </a:solidFill>
          <a:ln w="12700">
            <a:solidFill>
              <a:srgbClr val="10B981"/>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6236208" y="1828800"/>
            <a:ext cx="310896" cy="310896"/>
          </a:xfrm>
          <a:prstGeom prst="rect">
            <a:avLst/>
          </a:prstGeom>
        </p:spPr>
      </p:pic>
      <p:sp>
        <p:nvSpPr>
          <p:cNvPr id="26" name="Text 20"/>
          <p:cNvSpPr/>
          <p:nvPr/>
        </p:nvSpPr>
        <p:spPr>
          <a:xfrm>
            <a:off x="6601968" y="1801368"/>
            <a:ext cx="2148840" cy="329184"/>
          </a:xfrm>
          <a:prstGeom prst="rect">
            <a:avLst/>
          </a:prstGeom>
          <a:noFill/>
          <a:ln/>
        </p:spPr>
        <p:txBody>
          <a:bodyPr wrap="square" lIns="0" tIns="0" rIns="0" bIns="0" rtlCol="0" anchor="ctr"/>
          <a:lstStyle/>
          <a:p>
            <a:pPr marL="0" indent="0">
              <a:buNone/>
            </a:pPr>
            <a:r>
              <a:rPr lang="en-US" sz="1300" b="1" dirty="0">
                <a:solidFill>
                  <a:srgbClr val="0D1117"/>
                </a:solidFill>
                <a:latin typeface="Calibri" pitchFamily="34" charset="0"/>
                <a:ea typeface="Calibri" pitchFamily="34" charset="-122"/>
                <a:cs typeface="Calibri" pitchFamily="34" charset="-120"/>
              </a:rPr>
              <a:t>Data &amp; Realtime</a:t>
            </a:r>
            <a:endParaRPr lang="en-US" sz="1300" dirty="0"/>
          </a:p>
        </p:txBody>
      </p:sp>
      <p:sp>
        <p:nvSpPr>
          <p:cNvPr id="27" name="Text 21"/>
          <p:cNvSpPr/>
          <p:nvPr/>
        </p:nvSpPr>
        <p:spPr>
          <a:xfrm>
            <a:off x="6309360" y="2267712"/>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Supabase PostgreSQL + RLS</a:t>
            </a:r>
            <a:endParaRPr lang="en-US" sz="1150" dirty="0"/>
          </a:p>
        </p:txBody>
      </p:sp>
      <p:sp>
        <p:nvSpPr>
          <p:cNvPr id="28" name="Text 22"/>
          <p:cNvSpPr/>
          <p:nvPr/>
        </p:nvSpPr>
        <p:spPr>
          <a:xfrm>
            <a:off x="6309360" y="2889504"/>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Realtime PubSub subscriptions</a:t>
            </a:r>
            <a:endParaRPr lang="en-US" sz="1150" dirty="0"/>
          </a:p>
        </p:txBody>
      </p:sp>
      <p:sp>
        <p:nvSpPr>
          <p:cNvPr id="29" name="Text 23"/>
          <p:cNvSpPr/>
          <p:nvPr/>
        </p:nvSpPr>
        <p:spPr>
          <a:xfrm>
            <a:off x="6309360" y="3511296"/>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3 Storage buckets (CDN)</a:t>
            </a:r>
            <a:endParaRPr lang="en-US" sz="1150" dirty="0"/>
          </a:p>
        </p:txBody>
      </p:sp>
      <p:sp>
        <p:nvSpPr>
          <p:cNvPr id="30" name="Text 24"/>
          <p:cNvSpPr/>
          <p:nvPr/>
        </p:nvSpPr>
        <p:spPr>
          <a:xfrm>
            <a:off x="6309360" y="4133088"/>
            <a:ext cx="2423160" cy="548640"/>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  2 staged SQL migrations</a:t>
            </a:r>
            <a:endParaRPr lang="en-US" sz="1150" dirty="0"/>
          </a:p>
        </p:txBody>
      </p:sp>
      <p:sp>
        <p:nvSpPr>
          <p:cNvPr id="31" name="Shape 25"/>
          <p:cNvSpPr/>
          <p:nvPr/>
        </p:nvSpPr>
        <p:spPr>
          <a:xfrm>
            <a:off x="256032" y="4846320"/>
            <a:ext cx="1353312" cy="256032"/>
          </a:xfrm>
          <a:prstGeom prst="rect">
            <a:avLst/>
          </a:prstGeom>
          <a:solidFill>
            <a:srgbClr val="1F2937"/>
          </a:solidFill>
          <a:ln w="6350">
            <a:solidFill>
              <a:srgbClr val="6366F1"/>
            </a:solidFill>
            <a:prstDash val="solid"/>
          </a:ln>
        </p:spPr>
        <p:txBody>
          <a:bodyPr/>
          <a:lstStyle/>
          <a:p>
            <a:endParaRPr lang="en-US"/>
          </a:p>
        </p:txBody>
      </p:sp>
      <p:sp>
        <p:nvSpPr>
          <p:cNvPr id="32" name="Text 26"/>
          <p:cNvSpPr/>
          <p:nvPr/>
        </p:nvSpPr>
        <p:spPr>
          <a:xfrm>
            <a:off x="256032" y="4846320"/>
            <a:ext cx="1353312" cy="256032"/>
          </a:xfrm>
          <a:prstGeom prst="rect">
            <a:avLst/>
          </a:prstGeom>
          <a:noFill/>
          <a:ln/>
        </p:spPr>
        <p:txBody>
          <a:bodyPr wrap="square"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React 19  ·  UI Framework</a:t>
            </a:r>
            <a:endParaRPr lang="en-US" sz="850" dirty="0"/>
          </a:p>
        </p:txBody>
      </p:sp>
      <p:sp>
        <p:nvSpPr>
          <p:cNvPr id="33" name="Shape 27"/>
          <p:cNvSpPr/>
          <p:nvPr/>
        </p:nvSpPr>
        <p:spPr>
          <a:xfrm>
            <a:off x="1719072" y="4846320"/>
            <a:ext cx="1353312" cy="256032"/>
          </a:xfrm>
          <a:prstGeom prst="rect">
            <a:avLst/>
          </a:prstGeom>
          <a:solidFill>
            <a:srgbClr val="1F2937"/>
          </a:solidFill>
          <a:ln w="6350">
            <a:solidFill>
              <a:srgbClr val="6366F1"/>
            </a:solidFill>
            <a:prstDash val="solid"/>
          </a:ln>
        </p:spPr>
        <p:txBody>
          <a:bodyPr/>
          <a:lstStyle/>
          <a:p>
            <a:endParaRPr lang="en-US"/>
          </a:p>
        </p:txBody>
      </p:sp>
      <p:sp>
        <p:nvSpPr>
          <p:cNvPr id="34" name="Text 28"/>
          <p:cNvSpPr/>
          <p:nvPr/>
        </p:nvSpPr>
        <p:spPr>
          <a:xfrm>
            <a:off x="1719072" y="4846320"/>
            <a:ext cx="1353312" cy="256032"/>
          </a:xfrm>
          <a:prstGeom prst="rect">
            <a:avLst/>
          </a:prstGeom>
          <a:noFill/>
          <a:ln/>
        </p:spPr>
        <p:txBody>
          <a:bodyPr wrap="square"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Express  ·  API Server</a:t>
            </a:r>
            <a:endParaRPr lang="en-US" sz="850" dirty="0"/>
          </a:p>
        </p:txBody>
      </p:sp>
      <p:sp>
        <p:nvSpPr>
          <p:cNvPr id="35" name="Shape 29"/>
          <p:cNvSpPr/>
          <p:nvPr/>
        </p:nvSpPr>
        <p:spPr>
          <a:xfrm>
            <a:off x="3182112" y="4846320"/>
            <a:ext cx="1353312" cy="256032"/>
          </a:xfrm>
          <a:prstGeom prst="rect">
            <a:avLst/>
          </a:prstGeom>
          <a:solidFill>
            <a:srgbClr val="1F2937"/>
          </a:solidFill>
          <a:ln w="6350">
            <a:solidFill>
              <a:srgbClr val="6366F1"/>
            </a:solidFill>
            <a:prstDash val="solid"/>
          </a:ln>
        </p:spPr>
        <p:txBody>
          <a:bodyPr/>
          <a:lstStyle/>
          <a:p>
            <a:endParaRPr lang="en-US"/>
          </a:p>
        </p:txBody>
      </p:sp>
      <p:sp>
        <p:nvSpPr>
          <p:cNvPr id="36" name="Text 30"/>
          <p:cNvSpPr/>
          <p:nvPr/>
        </p:nvSpPr>
        <p:spPr>
          <a:xfrm>
            <a:off x="3182112" y="4846320"/>
            <a:ext cx="1353312" cy="256032"/>
          </a:xfrm>
          <a:prstGeom prst="rect">
            <a:avLst/>
          </a:prstGeom>
          <a:noFill/>
          <a:ln/>
        </p:spPr>
        <p:txBody>
          <a:bodyPr wrap="square"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PostgreSQL  ·  Database</a:t>
            </a:r>
            <a:endParaRPr lang="en-US" sz="850" dirty="0"/>
          </a:p>
        </p:txBody>
      </p:sp>
      <p:sp>
        <p:nvSpPr>
          <p:cNvPr id="37" name="Shape 31"/>
          <p:cNvSpPr/>
          <p:nvPr/>
        </p:nvSpPr>
        <p:spPr>
          <a:xfrm>
            <a:off x="4645152" y="4846320"/>
            <a:ext cx="1353312" cy="256032"/>
          </a:xfrm>
          <a:prstGeom prst="rect">
            <a:avLst/>
          </a:prstGeom>
          <a:solidFill>
            <a:srgbClr val="1F2937"/>
          </a:solidFill>
          <a:ln w="6350">
            <a:solidFill>
              <a:srgbClr val="6366F1"/>
            </a:solidFill>
            <a:prstDash val="solid"/>
          </a:ln>
        </p:spPr>
        <p:txBody>
          <a:bodyPr/>
          <a:lstStyle/>
          <a:p>
            <a:endParaRPr lang="en-US"/>
          </a:p>
        </p:txBody>
      </p:sp>
      <p:sp>
        <p:nvSpPr>
          <p:cNvPr id="38" name="Text 32"/>
          <p:cNvSpPr/>
          <p:nvPr/>
        </p:nvSpPr>
        <p:spPr>
          <a:xfrm>
            <a:off x="4645152" y="4846320"/>
            <a:ext cx="1353312" cy="256032"/>
          </a:xfrm>
          <a:prstGeom prst="rect">
            <a:avLst/>
          </a:prstGeom>
          <a:noFill/>
          <a:ln/>
        </p:spPr>
        <p:txBody>
          <a:bodyPr wrap="square"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Firebase  ·  Auth</a:t>
            </a:r>
            <a:endParaRPr lang="en-US" sz="850" dirty="0"/>
          </a:p>
        </p:txBody>
      </p:sp>
      <p:sp>
        <p:nvSpPr>
          <p:cNvPr id="39" name="Shape 33"/>
          <p:cNvSpPr/>
          <p:nvPr/>
        </p:nvSpPr>
        <p:spPr>
          <a:xfrm>
            <a:off x="6108192" y="4846320"/>
            <a:ext cx="1353312" cy="256032"/>
          </a:xfrm>
          <a:prstGeom prst="rect">
            <a:avLst/>
          </a:prstGeom>
          <a:solidFill>
            <a:srgbClr val="1F2937"/>
          </a:solidFill>
          <a:ln w="6350">
            <a:solidFill>
              <a:srgbClr val="6366F1"/>
            </a:solidFill>
            <a:prstDash val="solid"/>
          </a:ln>
        </p:spPr>
        <p:txBody>
          <a:bodyPr/>
          <a:lstStyle/>
          <a:p>
            <a:endParaRPr lang="en-US"/>
          </a:p>
        </p:txBody>
      </p:sp>
      <p:sp>
        <p:nvSpPr>
          <p:cNvPr id="40" name="Text 34"/>
          <p:cNvSpPr/>
          <p:nvPr/>
        </p:nvSpPr>
        <p:spPr>
          <a:xfrm>
            <a:off x="6108192" y="4846320"/>
            <a:ext cx="1353312" cy="256032"/>
          </a:xfrm>
          <a:prstGeom prst="rect">
            <a:avLst/>
          </a:prstGeom>
          <a:noFill/>
          <a:ln/>
        </p:spPr>
        <p:txBody>
          <a:bodyPr wrap="square"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WebRTC  ·  P2P Calls</a:t>
            </a:r>
            <a:endParaRPr lang="en-US" sz="850" dirty="0"/>
          </a:p>
        </p:txBody>
      </p:sp>
      <p:sp>
        <p:nvSpPr>
          <p:cNvPr id="41" name="Shape 35"/>
          <p:cNvSpPr/>
          <p:nvPr/>
        </p:nvSpPr>
        <p:spPr>
          <a:xfrm>
            <a:off x="7571232" y="4846320"/>
            <a:ext cx="1353312" cy="256032"/>
          </a:xfrm>
          <a:prstGeom prst="rect">
            <a:avLst/>
          </a:prstGeom>
          <a:solidFill>
            <a:srgbClr val="1F2937"/>
          </a:solidFill>
          <a:ln w="6350">
            <a:solidFill>
              <a:srgbClr val="6366F1"/>
            </a:solidFill>
            <a:prstDash val="solid"/>
          </a:ln>
        </p:spPr>
        <p:txBody>
          <a:bodyPr/>
          <a:lstStyle/>
          <a:p>
            <a:endParaRPr lang="en-US"/>
          </a:p>
        </p:txBody>
      </p:sp>
      <p:sp>
        <p:nvSpPr>
          <p:cNvPr id="42" name="Text 36"/>
          <p:cNvSpPr/>
          <p:nvPr/>
        </p:nvSpPr>
        <p:spPr>
          <a:xfrm>
            <a:off x="7571232" y="4846320"/>
            <a:ext cx="1353312" cy="256032"/>
          </a:xfrm>
          <a:prstGeom prst="rect">
            <a:avLst/>
          </a:prstGeom>
          <a:noFill/>
          <a:ln/>
        </p:spPr>
        <p:txBody>
          <a:bodyPr wrap="square"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GSAP  ·  Animations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Complete Technology Stack</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Every library, tool and service — what it does and why it was chosen</a:t>
            </a:r>
            <a:endParaRPr lang="en-US" sz="1300" dirty="0"/>
          </a:p>
        </p:txBody>
      </p:sp>
      <p:sp>
        <p:nvSpPr>
          <p:cNvPr id="5" name="Shape 3"/>
          <p:cNvSpPr/>
          <p:nvPr/>
        </p:nvSpPr>
        <p:spPr>
          <a:xfrm>
            <a:off x="256032" y="969264"/>
            <a:ext cx="8631936" cy="310896"/>
          </a:xfrm>
          <a:prstGeom prst="rect">
            <a:avLst/>
          </a:prstGeom>
          <a:solidFill>
            <a:srgbClr val="6366F1"/>
          </a:solidFill>
          <a:ln w="12700">
            <a:solidFill>
              <a:srgbClr val="6366F1"/>
            </a:solidFill>
            <a:prstDash val="solid"/>
          </a:ln>
        </p:spPr>
        <p:txBody>
          <a:bodyPr/>
          <a:lstStyle/>
          <a:p>
            <a:endParaRPr lang="en-US"/>
          </a:p>
        </p:txBody>
      </p:sp>
      <p:sp>
        <p:nvSpPr>
          <p:cNvPr id="6" name="Text 4"/>
          <p:cNvSpPr/>
          <p:nvPr/>
        </p:nvSpPr>
        <p:spPr>
          <a:xfrm>
            <a:off x="402336" y="987552"/>
            <a:ext cx="12801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p>
        </p:txBody>
      </p:sp>
      <p:sp>
        <p:nvSpPr>
          <p:cNvPr id="7" name="Text 5"/>
          <p:cNvSpPr/>
          <p:nvPr/>
        </p:nvSpPr>
        <p:spPr>
          <a:xfrm>
            <a:off x="1755648" y="987552"/>
            <a:ext cx="21031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Technology</a:t>
            </a:r>
            <a:endParaRPr lang="en-US" sz="1200" dirty="0"/>
          </a:p>
        </p:txBody>
      </p:sp>
      <p:sp>
        <p:nvSpPr>
          <p:cNvPr id="8" name="Text 6"/>
          <p:cNvSpPr/>
          <p:nvPr/>
        </p:nvSpPr>
        <p:spPr>
          <a:xfrm>
            <a:off x="3950208" y="987552"/>
            <a:ext cx="48463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Why this choice?</a:t>
            </a:r>
            <a:endParaRPr lang="en-US" sz="1200" dirty="0"/>
          </a:p>
        </p:txBody>
      </p:sp>
      <p:sp>
        <p:nvSpPr>
          <p:cNvPr id="9" name="Shape 7"/>
          <p:cNvSpPr/>
          <p:nvPr/>
        </p:nvSpPr>
        <p:spPr>
          <a:xfrm>
            <a:off x="256032" y="1298448"/>
            <a:ext cx="8631936" cy="324612"/>
          </a:xfrm>
          <a:prstGeom prst="rect">
            <a:avLst/>
          </a:prstGeom>
          <a:solidFill>
            <a:srgbClr val="161B22"/>
          </a:solidFill>
          <a:ln w="12700">
            <a:solidFill>
              <a:srgbClr val="161B22"/>
            </a:solidFill>
            <a:prstDash val="solid"/>
          </a:ln>
        </p:spPr>
        <p:txBody>
          <a:bodyPr/>
          <a:lstStyle/>
          <a:p>
            <a:endParaRPr lang="en-US"/>
          </a:p>
        </p:txBody>
      </p:sp>
      <p:sp>
        <p:nvSpPr>
          <p:cNvPr id="10" name="Shape 8"/>
          <p:cNvSpPr/>
          <p:nvPr/>
        </p:nvSpPr>
        <p:spPr>
          <a:xfrm>
            <a:off x="256032" y="1335024"/>
            <a:ext cx="54864" cy="256032"/>
          </a:xfrm>
          <a:prstGeom prst="rect">
            <a:avLst/>
          </a:prstGeom>
          <a:solidFill>
            <a:srgbClr val="22D3EE"/>
          </a:solidFill>
          <a:ln w="12700">
            <a:solidFill>
              <a:srgbClr val="22D3EE"/>
            </a:solidFill>
            <a:prstDash val="solid"/>
          </a:ln>
        </p:spPr>
        <p:txBody>
          <a:bodyPr/>
          <a:lstStyle/>
          <a:p>
            <a:endParaRPr lang="en-US"/>
          </a:p>
        </p:txBody>
      </p:sp>
      <p:sp>
        <p:nvSpPr>
          <p:cNvPr id="11" name="Text 9"/>
          <p:cNvSpPr/>
          <p:nvPr/>
        </p:nvSpPr>
        <p:spPr>
          <a:xfrm>
            <a:off x="384048" y="1298448"/>
            <a:ext cx="1207008" cy="324612"/>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UI Framework</a:t>
            </a:r>
            <a:endParaRPr lang="en-US" sz="1050" dirty="0"/>
          </a:p>
        </p:txBody>
      </p:sp>
      <p:sp>
        <p:nvSpPr>
          <p:cNvPr id="12" name="Text 10"/>
          <p:cNvSpPr/>
          <p:nvPr/>
        </p:nvSpPr>
        <p:spPr>
          <a:xfrm>
            <a:off x="1664208" y="1298448"/>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React 19 + Vite 8</a:t>
            </a:r>
            <a:endParaRPr lang="en-US" sz="1050" dirty="0"/>
          </a:p>
        </p:txBody>
      </p:sp>
      <p:sp>
        <p:nvSpPr>
          <p:cNvPr id="13" name="Text 11"/>
          <p:cNvSpPr/>
          <p:nvPr/>
        </p:nvSpPr>
        <p:spPr>
          <a:xfrm>
            <a:off x="3858768" y="1298448"/>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Component model, React Compiler readiness, lightning-fast HMR</a:t>
            </a:r>
            <a:endParaRPr lang="en-US" sz="1000" dirty="0"/>
          </a:p>
        </p:txBody>
      </p:sp>
      <p:sp>
        <p:nvSpPr>
          <p:cNvPr id="14" name="Shape 12"/>
          <p:cNvSpPr/>
          <p:nvPr/>
        </p:nvSpPr>
        <p:spPr>
          <a:xfrm>
            <a:off x="256032" y="1634947"/>
            <a:ext cx="8631936" cy="324612"/>
          </a:xfrm>
          <a:prstGeom prst="rect">
            <a:avLst/>
          </a:prstGeom>
          <a:solidFill>
            <a:srgbClr val="1A2233"/>
          </a:solidFill>
          <a:ln w="12700">
            <a:solidFill>
              <a:srgbClr val="1A2233"/>
            </a:solidFill>
            <a:prstDash val="solid"/>
          </a:ln>
        </p:spPr>
        <p:txBody>
          <a:bodyPr/>
          <a:lstStyle/>
          <a:p>
            <a:endParaRPr lang="en-US"/>
          </a:p>
        </p:txBody>
      </p:sp>
      <p:sp>
        <p:nvSpPr>
          <p:cNvPr id="15" name="Shape 13"/>
          <p:cNvSpPr/>
          <p:nvPr/>
        </p:nvSpPr>
        <p:spPr>
          <a:xfrm>
            <a:off x="256032" y="1671523"/>
            <a:ext cx="54864" cy="256032"/>
          </a:xfrm>
          <a:prstGeom prst="rect">
            <a:avLst/>
          </a:prstGeom>
          <a:solidFill>
            <a:srgbClr val="6366F1"/>
          </a:solidFill>
          <a:ln w="12700">
            <a:solidFill>
              <a:srgbClr val="6366F1"/>
            </a:solidFill>
            <a:prstDash val="solid"/>
          </a:ln>
        </p:spPr>
        <p:txBody>
          <a:bodyPr/>
          <a:lstStyle/>
          <a:p>
            <a:endParaRPr lang="en-US"/>
          </a:p>
        </p:txBody>
      </p:sp>
      <p:sp>
        <p:nvSpPr>
          <p:cNvPr id="16" name="Text 14"/>
          <p:cNvSpPr/>
          <p:nvPr/>
        </p:nvSpPr>
        <p:spPr>
          <a:xfrm>
            <a:off x="384048" y="1634947"/>
            <a:ext cx="1207008" cy="324612"/>
          </a:xfrm>
          <a:prstGeom prst="rect">
            <a:avLst/>
          </a:prstGeom>
          <a:noFill/>
          <a:ln/>
        </p:spPr>
        <p:txBody>
          <a:bodyPr wrap="square" lIns="0" tIns="0" rIns="0" bIns="0" rtlCol="0" anchor="ctr"/>
          <a:lstStyle/>
          <a:p>
            <a:pPr marL="0" indent="0">
              <a:buNone/>
            </a:pPr>
            <a:r>
              <a:rPr lang="en-US" sz="1050" b="1" dirty="0">
                <a:solidFill>
                  <a:srgbClr val="6366F1"/>
                </a:solidFill>
                <a:latin typeface="Calibri" pitchFamily="34" charset="0"/>
                <a:ea typeface="Calibri" pitchFamily="34" charset="-122"/>
                <a:cs typeface="Calibri" pitchFamily="34" charset="-120"/>
              </a:rPr>
              <a:t>Routing</a:t>
            </a:r>
            <a:endParaRPr lang="en-US" sz="1050" dirty="0"/>
          </a:p>
        </p:txBody>
      </p:sp>
      <p:sp>
        <p:nvSpPr>
          <p:cNvPr id="17" name="Text 15"/>
          <p:cNvSpPr/>
          <p:nvPr/>
        </p:nvSpPr>
        <p:spPr>
          <a:xfrm>
            <a:off x="1664208" y="1634947"/>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React Router v7</a:t>
            </a:r>
            <a:endParaRPr lang="en-US" sz="1050" dirty="0"/>
          </a:p>
        </p:txBody>
      </p:sp>
      <p:sp>
        <p:nvSpPr>
          <p:cNvPr id="18" name="Text 16"/>
          <p:cNvSpPr/>
          <p:nvPr/>
        </p:nvSpPr>
        <p:spPr>
          <a:xfrm>
            <a:off x="3858768" y="1634947"/>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Declarative SPA routes, ProtectedRoute &amp; AuthRoute guard pattern</a:t>
            </a:r>
            <a:endParaRPr lang="en-US" sz="1000" dirty="0"/>
          </a:p>
        </p:txBody>
      </p:sp>
      <p:sp>
        <p:nvSpPr>
          <p:cNvPr id="19" name="Shape 17"/>
          <p:cNvSpPr/>
          <p:nvPr/>
        </p:nvSpPr>
        <p:spPr>
          <a:xfrm>
            <a:off x="256032" y="1971446"/>
            <a:ext cx="8631936" cy="324612"/>
          </a:xfrm>
          <a:prstGeom prst="rect">
            <a:avLst/>
          </a:prstGeom>
          <a:solidFill>
            <a:srgbClr val="161B22"/>
          </a:solidFill>
          <a:ln w="12700">
            <a:solidFill>
              <a:srgbClr val="161B22"/>
            </a:solidFill>
            <a:prstDash val="solid"/>
          </a:ln>
        </p:spPr>
        <p:txBody>
          <a:bodyPr/>
          <a:lstStyle/>
          <a:p>
            <a:endParaRPr lang="en-US"/>
          </a:p>
        </p:txBody>
      </p:sp>
      <p:sp>
        <p:nvSpPr>
          <p:cNvPr id="20" name="Shape 18"/>
          <p:cNvSpPr/>
          <p:nvPr/>
        </p:nvSpPr>
        <p:spPr>
          <a:xfrm>
            <a:off x="256032" y="2008022"/>
            <a:ext cx="54864" cy="256032"/>
          </a:xfrm>
          <a:prstGeom prst="rect">
            <a:avLst/>
          </a:prstGeom>
          <a:solidFill>
            <a:srgbClr val="8B5CF6"/>
          </a:solidFill>
          <a:ln w="12700">
            <a:solidFill>
              <a:srgbClr val="8B5CF6"/>
            </a:solidFill>
            <a:prstDash val="solid"/>
          </a:ln>
        </p:spPr>
        <p:txBody>
          <a:bodyPr/>
          <a:lstStyle/>
          <a:p>
            <a:endParaRPr lang="en-US"/>
          </a:p>
        </p:txBody>
      </p:sp>
      <p:sp>
        <p:nvSpPr>
          <p:cNvPr id="21" name="Text 19"/>
          <p:cNvSpPr/>
          <p:nvPr/>
        </p:nvSpPr>
        <p:spPr>
          <a:xfrm>
            <a:off x="384048" y="1971446"/>
            <a:ext cx="1207008" cy="324612"/>
          </a:xfrm>
          <a:prstGeom prst="rect">
            <a:avLst/>
          </a:prstGeom>
          <a:noFill/>
          <a:ln/>
        </p:spPr>
        <p:txBody>
          <a:bodyPr wrap="square" lIns="0" tIns="0" rIns="0" bIns="0" rtlCol="0" anchor="ctr"/>
          <a:lstStyle/>
          <a:p>
            <a:pPr marL="0" indent="0">
              <a:buNone/>
            </a:pPr>
            <a:r>
              <a:rPr lang="en-US" sz="1050" b="1" dirty="0">
                <a:solidFill>
                  <a:srgbClr val="8B5CF6"/>
                </a:solidFill>
                <a:latin typeface="Calibri" pitchFamily="34" charset="0"/>
                <a:ea typeface="Calibri" pitchFamily="34" charset="-122"/>
                <a:cs typeface="Calibri" pitchFamily="34" charset="-120"/>
              </a:rPr>
              <a:t>Animations</a:t>
            </a:r>
            <a:endParaRPr lang="en-US" sz="1050" dirty="0"/>
          </a:p>
        </p:txBody>
      </p:sp>
      <p:sp>
        <p:nvSpPr>
          <p:cNvPr id="22" name="Text 20"/>
          <p:cNvSpPr/>
          <p:nvPr/>
        </p:nvSpPr>
        <p:spPr>
          <a:xfrm>
            <a:off x="1664208" y="1971446"/>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GSAP 3.15</a:t>
            </a:r>
            <a:endParaRPr lang="en-US" sz="1050" dirty="0"/>
          </a:p>
        </p:txBody>
      </p:sp>
      <p:sp>
        <p:nvSpPr>
          <p:cNvPr id="23" name="Text 21"/>
          <p:cNvSpPr/>
          <p:nvPr/>
        </p:nvSpPr>
        <p:spPr>
          <a:xfrm>
            <a:off x="3858768" y="1971446"/>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GPU-accelerated entrance animations — smoother than CSS keyframes</a:t>
            </a:r>
            <a:endParaRPr lang="en-US" sz="1000" dirty="0"/>
          </a:p>
        </p:txBody>
      </p:sp>
      <p:sp>
        <p:nvSpPr>
          <p:cNvPr id="24" name="Shape 22"/>
          <p:cNvSpPr/>
          <p:nvPr/>
        </p:nvSpPr>
        <p:spPr>
          <a:xfrm>
            <a:off x="256032" y="2307946"/>
            <a:ext cx="8631936" cy="324612"/>
          </a:xfrm>
          <a:prstGeom prst="rect">
            <a:avLst/>
          </a:prstGeom>
          <a:solidFill>
            <a:srgbClr val="1A2233"/>
          </a:solidFill>
          <a:ln w="12700">
            <a:solidFill>
              <a:srgbClr val="1A2233"/>
            </a:solidFill>
            <a:prstDash val="solid"/>
          </a:ln>
        </p:spPr>
        <p:txBody>
          <a:bodyPr/>
          <a:lstStyle/>
          <a:p>
            <a:endParaRPr lang="en-US"/>
          </a:p>
        </p:txBody>
      </p:sp>
      <p:sp>
        <p:nvSpPr>
          <p:cNvPr id="25" name="Shape 23"/>
          <p:cNvSpPr/>
          <p:nvPr/>
        </p:nvSpPr>
        <p:spPr>
          <a:xfrm>
            <a:off x="256032" y="2344522"/>
            <a:ext cx="54864" cy="256032"/>
          </a:xfrm>
          <a:prstGeom prst="rect">
            <a:avLst/>
          </a:prstGeom>
          <a:solidFill>
            <a:srgbClr val="F59E0B"/>
          </a:solidFill>
          <a:ln w="12700">
            <a:solidFill>
              <a:srgbClr val="F59E0B"/>
            </a:solidFill>
            <a:prstDash val="solid"/>
          </a:ln>
        </p:spPr>
        <p:txBody>
          <a:bodyPr/>
          <a:lstStyle/>
          <a:p>
            <a:endParaRPr lang="en-US"/>
          </a:p>
        </p:txBody>
      </p:sp>
      <p:sp>
        <p:nvSpPr>
          <p:cNvPr id="26" name="Text 24"/>
          <p:cNvSpPr/>
          <p:nvPr/>
        </p:nvSpPr>
        <p:spPr>
          <a:xfrm>
            <a:off x="384048" y="2307946"/>
            <a:ext cx="1207008" cy="324612"/>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HTTP Client</a:t>
            </a:r>
            <a:endParaRPr lang="en-US" sz="1050" dirty="0"/>
          </a:p>
        </p:txBody>
      </p:sp>
      <p:sp>
        <p:nvSpPr>
          <p:cNvPr id="27" name="Text 25"/>
          <p:cNvSpPr/>
          <p:nvPr/>
        </p:nvSpPr>
        <p:spPr>
          <a:xfrm>
            <a:off x="1664208" y="2307946"/>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Axios 1.x</a:t>
            </a:r>
            <a:endParaRPr lang="en-US" sz="1050" dirty="0"/>
          </a:p>
        </p:txBody>
      </p:sp>
      <p:sp>
        <p:nvSpPr>
          <p:cNvPr id="28" name="Text 26"/>
          <p:cNvSpPr/>
          <p:nvPr/>
        </p:nvSpPr>
        <p:spPr>
          <a:xfrm>
            <a:off x="3858768" y="2307946"/>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JWT auto-injected via interceptor; centralized error &amp; retry logic</a:t>
            </a:r>
            <a:endParaRPr lang="en-US" sz="1000" dirty="0"/>
          </a:p>
        </p:txBody>
      </p:sp>
      <p:sp>
        <p:nvSpPr>
          <p:cNvPr id="29" name="Shape 27"/>
          <p:cNvSpPr/>
          <p:nvPr/>
        </p:nvSpPr>
        <p:spPr>
          <a:xfrm>
            <a:off x="256032" y="2644445"/>
            <a:ext cx="8631936" cy="324612"/>
          </a:xfrm>
          <a:prstGeom prst="rect">
            <a:avLst/>
          </a:prstGeom>
          <a:solidFill>
            <a:srgbClr val="161B22"/>
          </a:solidFill>
          <a:ln w="12700">
            <a:solidFill>
              <a:srgbClr val="161B22"/>
            </a:solidFill>
            <a:prstDash val="solid"/>
          </a:ln>
        </p:spPr>
        <p:txBody>
          <a:bodyPr/>
          <a:lstStyle/>
          <a:p>
            <a:endParaRPr lang="en-US"/>
          </a:p>
        </p:txBody>
      </p:sp>
      <p:sp>
        <p:nvSpPr>
          <p:cNvPr id="30" name="Shape 28"/>
          <p:cNvSpPr/>
          <p:nvPr/>
        </p:nvSpPr>
        <p:spPr>
          <a:xfrm>
            <a:off x="256032" y="2681021"/>
            <a:ext cx="54864" cy="256032"/>
          </a:xfrm>
          <a:prstGeom prst="rect">
            <a:avLst/>
          </a:prstGeom>
          <a:solidFill>
            <a:srgbClr val="F43F5E"/>
          </a:solidFill>
          <a:ln w="12700">
            <a:solidFill>
              <a:srgbClr val="F43F5E"/>
            </a:solidFill>
            <a:prstDash val="solid"/>
          </a:ln>
        </p:spPr>
        <p:txBody>
          <a:bodyPr/>
          <a:lstStyle/>
          <a:p>
            <a:endParaRPr lang="en-US"/>
          </a:p>
        </p:txBody>
      </p:sp>
      <p:sp>
        <p:nvSpPr>
          <p:cNvPr id="31" name="Text 29"/>
          <p:cNvSpPr/>
          <p:nvPr/>
        </p:nvSpPr>
        <p:spPr>
          <a:xfrm>
            <a:off x="384048" y="2644445"/>
            <a:ext cx="1207008" cy="324612"/>
          </a:xfrm>
          <a:prstGeom prst="rect">
            <a:avLst/>
          </a:prstGeom>
          <a:noFill/>
          <a:ln/>
        </p:spPr>
        <p:txBody>
          <a:bodyPr wrap="square" lIns="0" tIns="0" rIns="0" bIns="0" rtlCol="0" anchor="ctr"/>
          <a:lstStyle/>
          <a:p>
            <a:pPr marL="0" indent="0">
              <a:buNone/>
            </a:pPr>
            <a:r>
              <a:rPr lang="en-US" sz="1050" b="1" dirty="0">
                <a:solidFill>
                  <a:srgbClr val="F43F5E"/>
                </a:solidFill>
                <a:latin typeface="Calibri" pitchFamily="34" charset="0"/>
                <a:ea typeface="Calibri" pitchFamily="34" charset="-122"/>
                <a:cs typeface="Calibri" pitchFamily="34" charset="-120"/>
              </a:rPr>
              <a:t>Authentication</a:t>
            </a:r>
            <a:endParaRPr lang="en-US" sz="1050" dirty="0"/>
          </a:p>
        </p:txBody>
      </p:sp>
      <p:sp>
        <p:nvSpPr>
          <p:cNvPr id="32" name="Text 30"/>
          <p:cNvSpPr/>
          <p:nvPr/>
        </p:nvSpPr>
        <p:spPr>
          <a:xfrm>
            <a:off x="1664208" y="2644445"/>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Firebase Auth 12</a:t>
            </a:r>
            <a:endParaRPr lang="en-US" sz="1050" dirty="0"/>
          </a:p>
        </p:txBody>
      </p:sp>
      <p:sp>
        <p:nvSpPr>
          <p:cNvPr id="33" name="Text 31"/>
          <p:cNvSpPr/>
          <p:nvPr/>
        </p:nvSpPr>
        <p:spPr>
          <a:xfrm>
            <a:off x="3858768" y="2644445"/>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Google OAuth 2.0; Firebase Admin SDK verifies tokens server-side</a:t>
            </a:r>
            <a:endParaRPr lang="en-US" sz="1000" dirty="0"/>
          </a:p>
        </p:txBody>
      </p:sp>
      <p:sp>
        <p:nvSpPr>
          <p:cNvPr id="34" name="Shape 32"/>
          <p:cNvSpPr/>
          <p:nvPr/>
        </p:nvSpPr>
        <p:spPr>
          <a:xfrm>
            <a:off x="256032" y="2980944"/>
            <a:ext cx="8631936" cy="324612"/>
          </a:xfrm>
          <a:prstGeom prst="rect">
            <a:avLst/>
          </a:prstGeom>
          <a:solidFill>
            <a:srgbClr val="1A2233"/>
          </a:solidFill>
          <a:ln w="12700">
            <a:solidFill>
              <a:srgbClr val="1A2233"/>
            </a:solidFill>
            <a:prstDash val="solid"/>
          </a:ln>
        </p:spPr>
        <p:txBody>
          <a:bodyPr/>
          <a:lstStyle/>
          <a:p>
            <a:endParaRPr lang="en-US"/>
          </a:p>
        </p:txBody>
      </p:sp>
      <p:sp>
        <p:nvSpPr>
          <p:cNvPr id="35" name="Shape 33"/>
          <p:cNvSpPr/>
          <p:nvPr/>
        </p:nvSpPr>
        <p:spPr>
          <a:xfrm>
            <a:off x="256032" y="3017520"/>
            <a:ext cx="54864" cy="256032"/>
          </a:xfrm>
          <a:prstGeom prst="rect">
            <a:avLst/>
          </a:prstGeom>
          <a:solidFill>
            <a:srgbClr val="10B981"/>
          </a:solidFill>
          <a:ln w="12700">
            <a:solidFill>
              <a:srgbClr val="10B981"/>
            </a:solidFill>
            <a:prstDash val="solid"/>
          </a:ln>
        </p:spPr>
        <p:txBody>
          <a:bodyPr/>
          <a:lstStyle/>
          <a:p>
            <a:endParaRPr lang="en-US"/>
          </a:p>
        </p:txBody>
      </p:sp>
      <p:sp>
        <p:nvSpPr>
          <p:cNvPr id="36" name="Text 34"/>
          <p:cNvSpPr/>
          <p:nvPr/>
        </p:nvSpPr>
        <p:spPr>
          <a:xfrm>
            <a:off x="384048" y="2980944"/>
            <a:ext cx="1207008" cy="324612"/>
          </a:xfrm>
          <a:prstGeom prst="rect">
            <a:avLst/>
          </a:prstGeom>
          <a:noFill/>
          <a:ln/>
        </p:spPr>
        <p:txBody>
          <a:bodyPr wrap="square" lIns="0" tIns="0" rIns="0" bIns="0"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Backend</a:t>
            </a:r>
            <a:endParaRPr lang="en-US" sz="1050" dirty="0"/>
          </a:p>
        </p:txBody>
      </p:sp>
      <p:sp>
        <p:nvSpPr>
          <p:cNvPr id="37" name="Text 35"/>
          <p:cNvSpPr/>
          <p:nvPr/>
        </p:nvSpPr>
        <p:spPr>
          <a:xfrm>
            <a:off x="1664208" y="2980944"/>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Node.js 18 + Express 4</a:t>
            </a:r>
            <a:endParaRPr lang="en-US" sz="1050" dirty="0"/>
          </a:p>
        </p:txBody>
      </p:sp>
      <p:sp>
        <p:nvSpPr>
          <p:cNvPr id="38" name="Text 36"/>
          <p:cNvSpPr/>
          <p:nvPr/>
        </p:nvSpPr>
        <p:spPr>
          <a:xfrm>
            <a:off x="3858768" y="2980944"/>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Non-blocking I/O; ideal for high-concurrency REST API servers</a:t>
            </a:r>
            <a:endParaRPr lang="en-US" sz="1000" dirty="0"/>
          </a:p>
        </p:txBody>
      </p:sp>
      <p:sp>
        <p:nvSpPr>
          <p:cNvPr id="39" name="Shape 37"/>
          <p:cNvSpPr/>
          <p:nvPr/>
        </p:nvSpPr>
        <p:spPr>
          <a:xfrm>
            <a:off x="256032" y="3317443"/>
            <a:ext cx="8631936" cy="324612"/>
          </a:xfrm>
          <a:prstGeom prst="rect">
            <a:avLst/>
          </a:prstGeom>
          <a:solidFill>
            <a:srgbClr val="161B22"/>
          </a:solidFill>
          <a:ln w="12700">
            <a:solidFill>
              <a:srgbClr val="161B22"/>
            </a:solidFill>
            <a:prstDash val="solid"/>
          </a:ln>
        </p:spPr>
        <p:txBody>
          <a:bodyPr/>
          <a:lstStyle/>
          <a:p>
            <a:endParaRPr lang="en-US"/>
          </a:p>
        </p:txBody>
      </p:sp>
      <p:sp>
        <p:nvSpPr>
          <p:cNvPr id="40" name="Shape 38"/>
          <p:cNvSpPr/>
          <p:nvPr/>
        </p:nvSpPr>
        <p:spPr>
          <a:xfrm>
            <a:off x="256032" y="3354019"/>
            <a:ext cx="54864" cy="256032"/>
          </a:xfrm>
          <a:prstGeom prst="rect">
            <a:avLst/>
          </a:prstGeom>
          <a:solidFill>
            <a:srgbClr val="10B981"/>
          </a:solidFill>
          <a:ln w="12700">
            <a:solidFill>
              <a:srgbClr val="10B981"/>
            </a:solidFill>
            <a:prstDash val="solid"/>
          </a:ln>
        </p:spPr>
        <p:txBody>
          <a:bodyPr/>
          <a:lstStyle/>
          <a:p>
            <a:endParaRPr lang="en-US"/>
          </a:p>
        </p:txBody>
      </p:sp>
      <p:sp>
        <p:nvSpPr>
          <p:cNvPr id="41" name="Text 39"/>
          <p:cNvSpPr/>
          <p:nvPr/>
        </p:nvSpPr>
        <p:spPr>
          <a:xfrm>
            <a:off x="384048" y="3317443"/>
            <a:ext cx="1207008" cy="324612"/>
          </a:xfrm>
          <a:prstGeom prst="rect">
            <a:avLst/>
          </a:prstGeom>
          <a:noFill/>
          <a:ln/>
        </p:spPr>
        <p:txBody>
          <a:bodyPr wrap="square" lIns="0" tIns="0" rIns="0" bIns="0" rtlCol="0" anchor="ctr"/>
          <a:lstStyle/>
          <a:p>
            <a:pPr marL="0" indent="0">
              <a:buNone/>
            </a:pPr>
            <a:r>
              <a:rPr lang="en-US" sz="1050" b="1" dirty="0">
                <a:solidFill>
                  <a:srgbClr val="10B981"/>
                </a:solidFill>
                <a:latin typeface="Calibri" pitchFamily="34" charset="0"/>
                <a:ea typeface="Calibri" pitchFamily="34" charset="-122"/>
                <a:cs typeface="Calibri" pitchFamily="34" charset="-120"/>
              </a:rPr>
              <a:t>Database</a:t>
            </a:r>
            <a:endParaRPr lang="en-US" sz="1050" dirty="0"/>
          </a:p>
        </p:txBody>
      </p:sp>
      <p:sp>
        <p:nvSpPr>
          <p:cNvPr id="42" name="Text 40"/>
          <p:cNvSpPr/>
          <p:nvPr/>
        </p:nvSpPr>
        <p:spPr>
          <a:xfrm>
            <a:off x="1664208" y="3317443"/>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Supabase (PostgreSQL)</a:t>
            </a:r>
            <a:endParaRPr lang="en-US" sz="1050" dirty="0"/>
          </a:p>
        </p:txBody>
      </p:sp>
      <p:sp>
        <p:nvSpPr>
          <p:cNvPr id="43" name="Text 41"/>
          <p:cNvSpPr/>
          <p:nvPr/>
        </p:nvSpPr>
        <p:spPr>
          <a:xfrm>
            <a:off x="3858768" y="3317443"/>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Managed Postgres + built-in Realtime pub/sub + Row-Level Security</a:t>
            </a:r>
            <a:endParaRPr lang="en-US" sz="1000" dirty="0"/>
          </a:p>
        </p:txBody>
      </p:sp>
      <p:sp>
        <p:nvSpPr>
          <p:cNvPr id="44" name="Shape 42"/>
          <p:cNvSpPr/>
          <p:nvPr/>
        </p:nvSpPr>
        <p:spPr>
          <a:xfrm>
            <a:off x="256032" y="3653942"/>
            <a:ext cx="8631936" cy="324612"/>
          </a:xfrm>
          <a:prstGeom prst="rect">
            <a:avLst/>
          </a:prstGeom>
          <a:solidFill>
            <a:srgbClr val="1A2233"/>
          </a:solidFill>
          <a:ln w="12700">
            <a:solidFill>
              <a:srgbClr val="1A2233"/>
            </a:solidFill>
            <a:prstDash val="solid"/>
          </a:ln>
        </p:spPr>
        <p:txBody>
          <a:bodyPr/>
          <a:lstStyle/>
          <a:p>
            <a:endParaRPr lang="en-US"/>
          </a:p>
        </p:txBody>
      </p:sp>
      <p:sp>
        <p:nvSpPr>
          <p:cNvPr id="45" name="Shape 43"/>
          <p:cNvSpPr/>
          <p:nvPr/>
        </p:nvSpPr>
        <p:spPr>
          <a:xfrm>
            <a:off x="256032" y="3690518"/>
            <a:ext cx="54864" cy="256032"/>
          </a:xfrm>
          <a:prstGeom prst="rect">
            <a:avLst/>
          </a:prstGeom>
          <a:solidFill>
            <a:srgbClr val="38BDF8"/>
          </a:solidFill>
          <a:ln w="12700">
            <a:solidFill>
              <a:srgbClr val="38BDF8"/>
            </a:solidFill>
            <a:prstDash val="solid"/>
          </a:ln>
        </p:spPr>
        <p:txBody>
          <a:bodyPr/>
          <a:lstStyle/>
          <a:p>
            <a:endParaRPr lang="en-US"/>
          </a:p>
        </p:txBody>
      </p:sp>
      <p:sp>
        <p:nvSpPr>
          <p:cNvPr id="46" name="Text 44"/>
          <p:cNvSpPr/>
          <p:nvPr/>
        </p:nvSpPr>
        <p:spPr>
          <a:xfrm>
            <a:off x="384048" y="3653942"/>
            <a:ext cx="1207008" cy="324612"/>
          </a:xfrm>
          <a:prstGeom prst="rect">
            <a:avLst/>
          </a:prstGeom>
          <a:noFill/>
          <a:ln/>
        </p:spPr>
        <p:txBody>
          <a:bodyPr wrap="square" lIns="0" tIns="0" rIns="0" bIns="0" rtlCol="0" anchor="ctr"/>
          <a:lstStyle/>
          <a:p>
            <a:pPr marL="0" indent="0">
              <a:buNone/>
            </a:pPr>
            <a:r>
              <a:rPr lang="en-US" sz="1050" b="1" dirty="0">
                <a:solidFill>
                  <a:srgbClr val="38BDF8"/>
                </a:solidFill>
                <a:latin typeface="Calibri" pitchFamily="34" charset="0"/>
                <a:ea typeface="Calibri" pitchFamily="34" charset="-122"/>
                <a:cs typeface="Calibri" pitchFamily="34" charset="-120"/>
              </a:rPr>
              <a:t>Real-time</a:t>
            </a:r>
            <a:endParaRPr lang="en-US" sz="1050" dirty="0"/>
          </a:p>
        </p:txBody>
      </p:sp>
      <p:sp>
        <p:nvSpPr>
          <p:cNvPr id="47" name="Text 45"/>
          <p:cNvSpPr/>
          <p:nvPr/>
        </p:nvSpPr>
        <p:spPr>
          <a:xfrm>
            <a:off x="1664208" y="3653942"/>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Supabase JS Client 2</a:t>
            </a:r>
            <a:endParaRPr lang="en-US" sz="1050" dirty="0"/>
          </a:p>
        </p:txBody>
      </p:sp>
      <p:sp>
        <p:nvSpPr>
          <p:cNvPr id="48" name="Text 46"/>
          <p:cNvSpPr/>
          <p:nvPr/>
        </p:nvSpPr>
        <p:spPr>
          <a:xfrm>
            <a:off x="3858768" y="3653942"/>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Channel-filtered INSERT/UPDATE/DELETE events pushed to subscribers</a:t>
            </a:r>
            <a:endParaRPr lang="en-US" sz="1000" dirty="0"/>
          </a:p>
        </p:txBody>
      </p:sp>
      <p:sp>
        <p:nvSpPr>
          <p:cNvPr id="49" name="Shape 47"/>
          <p:cNvSpPr/>
          <p:nvPr/>
        </p:nvSpPr>
        <p:spPr>
          <a:xfrm>
            <a:off x="256032" y="3990442"/>
            <a:ext cx="8631936" cy="324612"/>
          </a:xfrm>
          <a:prstGeom prst="rect">
            <a:avLst/>
          </a:prstGeom>
          <a:solidFill>
            <a:srgbClr val="161B22"/>
          </a:solidFill>
          <a:ln w="12700">
            <a:solidFill>
              <a:srgbClr val="161B22"/>
            </a:solidFill>
            <a:prstDash val="solid"/>
          </a:ln>
        </p:spPr>
        <p:txBody>
          <a:bodyPr/>
          <a:lstStyle/>
          <a:p>
            <a:endParaRPr lang="en-US"/>
          </a:p>
        </p:txBody>
      </p:sp>
      <p:sp>
        <p:nvSpPr>
          <p:cNvPr id="50" name="Shape 48"/>
          <p:cNvSpPr/>
          <p:nvPr/>
        </p:nvSpPr>
        <p:spPr>
          <a:xfrm>
            <a:off x="256032" y="4027018"/>
            <a:ext cx="54864" cy="256032"/>
          </a:xfrm>
          <a:prstGeom prst="rect">
            <a:avLst/>
          </a:prstGeom>
          <a:solidFill>
            <a:srgbClr val="F59E0B"/>
          </a:solidFill>
          <a:ln w="12700">
            <a:solidFill>
              <a:srgbClr val="F59E0B"/>
            </a:solidFill>
            <a:prstDash val="solid"/>
          </a:ln>
        </p:spPr>
        <p:txBody>
          <a:bodyPr/>
          <a:lstStyle/>
          <a:p>
            <a:endParaRPr lang="en-US"/>
          </a:p>
        </p:txBody>
      </p:sp>
      <p:sp>
        <p:nvSpPr>
          <p:cNvPr id="51" name="Text 49"/>
          <p:cNvSpPr/>
          <p:nvPr/>
        </p:nvSpPr>
        <p:spPr>
          <a:xfrm>
            <a:off x="384048" y="3990442"/>
            <a:ext cx="1207008" cy="324612"/>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File Upload</a:t>
            </a:r>
            <a:endParaRPr lang="en-US" sz="1050" dirty="0"/>
          </a:p>
        </p:txBody>
      </p:sp>
      <p:sp>
        <p:nvSpPr>
          <p:cNvPr id="52" name="Text 50"/>
          <p:cNvSpPr/>
          <p:nvPr/>
        </p:nvSpPr>
        <p:spPr>
          <a:xfrm>
            <a:off x="1664208" y="3990442"/>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Multer 2.x</a:t>
            </a:r>
            <a:endParaRPr lang="en-US" sz="1050" dirty="0"/>
          </a:p>
        </p:txBody>
      </p:sp>
      <p:sp>
        <p:nvSpPr>
          <p:cNvPr id="53" name="Text 51"/>
          <p:cNvSpPr/>
          <p:nvPr/>
        </p:nvSpPr>
        <p:spPr>
          <a:xfrm>
            <a:off x="3858768" y="3990442"/>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Parses multipart/form-data; streams directly to Supabase Storage</a:t>
            </a:r>
            <a:endParaRPr lang="en-US" sz="1000" dirty="0"/>
          </a:p>
        </p:txBody>
      </p:sp>
      <p:sp>
        <p:nvSpPr>
          <p:cNvPr id="54" name="Shape 52"/>
          <p:cNvSpPr/>
          <p:nvPr/>
        </p:nvSpPr>
        <p:spPr>
          <a:xfrm>
            <a:off x="256032" y="4326941"/>
            <a:ext cx="8631936" cy="324612"/>
          </a:xfrm>
          <a:prstGeom prst="rect">
            <a:avLst/>
          </a:prstGeom>
          <a:solidFill>
            <a:srgbClr val="1A2233"/>
          </a:solidFill>
          <a:ln w="12700">
            <a:solidFill>
              <a:srgbClr val="1A2233"/>
            </a:solidFill>
            <a:prstDash val="solid"/>
          </a:ln>
        </p:spPr>
        <p:txBody>
          <a:bodyPr/>
          <a:lstStyle/>
          <a:p>
            <a:endParaRPr lang="en-US"/>
          </a:p>
        </p:txBody>
      </p:sp>
      <p:sp>
        <p:nvSpPr>
          <p:cNvPr id="55" name="Shape 53"/>
          <p:cNvSpPr/>
          <p:nvPr/>
        </p:nvSpPr>
        <p:spPr>
          <a:xfrm>
            <a:off x="256032" y="4363517"/>
            <a:ext cx="54864" cy="256032"/>
          </a:xfrm>
          <a:prstGeom prst="rect">
            <a:avLst/>
          </a:prstGeom>
          <a:solidFill>
            <a:srgbClr val="F43F5E"/>
          </a:solidFill>
          <a:ln w="12700">
            <a:solidFill>
              <a:srgbClr val="F43F5E"/>
            </a:solidFill>
            <a:prstDash val="solid"/>
          </a:ln>
        </p:spPr>
        <p:txBody>
          <a:bodyPr/>
          <a:lstStyle/>
          <a:p>
            <a:endParaRPr lang="en-US"/>
          </a:p>
        </p:txBody>
      </p:sp>
      <p:sp>
        <p:nvSpPr>
          <p:cNvPr id="56" name="Text 54"/>
          <p:cNvSpPr/>
          <p:nvPr/>
        </p:nvSpPr>
        <p:spPr>
          <a:xfrm>
            <a:off x="384048" y="4326941"/>
            <a:ext cx="1207008" cy="324612"/>
          </a:xfrm>
          <a:prstGeom prst="rect">
            <a:avLst/>
          </a:prstGeom>
          <a:noFill/>
          <a:ln/>
        </p:spPr>
        <p:txBody>
          <a:bodyPr wrap="square" lIns="0" tIns="0" rIns="0" bIns="0" rtlCol="0" anchor="ctr"/>
          <a:lstStyle/>
          <a:p>
            <a:pPr marL="0" indent="0">
              <a:buNone/>
            </a:pPr>
            <a:r>
              <a:rPr lang="en-US" sz="1050" b="1" dirty="0">
                <a:solidFill>
                  <a:srgbClr val="F43F5E"/>
                </a:solidFill>
                <a:latin typeface="Calibri" pitchFamily="34" charset="0"/>
                <a:ea typeface="Calibri" pitchFamily="34" charset="-122"/>
                <a:cs typeface="Calibri" pitchFamily="34" charset="-120"/>
              </a:rPr>
              <a:t>Calling</a:t>
            </a:r>
            <a:endParaRPr lang="en-US" sz="1050" dirty="0"/>
          </a:p>
        </p:txBody>
      </p:sp>
      <p:sp>
        <p:nvSpPr>
          <p:cNvPr id="57" name="Text 55"/>
          <p:cNvSpPr/>
          <p:nvPr/>
        </p:nvSpPr>
        <p:spPr>
          <a:xfrm>
            <a:off x="1664208" y="4326941"/>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WebRTC (Native Browser)</a:t>
            </a:r>
            <a:endParaRPr lang="en-US" sz="1050" dirty="0"/>
          </a:p>
        </p:txBody>
      </p:sp>
      <p:sp>
        <p:nvSpPr>
          <p:cNvPr id="58" name="Text 56"/>
          <p:cNvSpPr/>
          <p:nvPr/>
        </p:nvSpPr>
        <p:spPr>
          <a:xfrm>
            <a:off x="3858768" y="4326941"/>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No media relay server cost; SDP signaling via Supabase table</a:t>
            </a:r>
            <a:endParaRPr lang="en-US" sz="1000" dirty="0"/>
          </a:p>
        </p:txBody>
      </p:sp>
      <p:sp>
        <p:nvSpPr>
          <p:cNvPr id="59" name="Shape 57"/>
          <p:cNvSpPr/>
          <p:nvPr/>
        </p:nvSpPr>
        <p:spPr>
          <a:xfrm>
            <a:off x="256032" y="4663440"/>
            <a:ext cx="8631936" cy="324612"/>
          </a:xfrm>
          <a:prstGeom prst="rect">
            <a:avLst/>
          </a:prstGeom>
          <a:solidFill>
            <a:srgbClr val="161B22"/>
          </a:solidFill>
          <a:ln w="12700">
            <a:solidFill>
              <a:srgbClr val="161B22"/>
            </a:solidFill>
            <a:prstDash val="solid"/>
          </a:ln>
        </p:spPr>
        <p:txBody>
          <a:bodyPr/>
          <a:lstStyle/>
          <a:p>
            <a:endParaRPr lang="en-US"/>
          </a:p>
        </p:txBody>
      </p:sp>
      <p:sp>
        <p:nvSpPr>
          <p:cNvPr id="60" name="Shape 58"/>
          <p:cNvSpPr/>
          <p:nvPr/>
        </p:nvSpPr>
        <p:spPr>
          <a:xfrm>
            <a:off x="256032" y="4700016"/>
            <a:ext cx="54864" cy="256032"/>
          </a:xfrm>
          <a:prstGeom prst="rect">
            <a:avLst/>
          </a:prstGeom>
          <a:solidFill>
            <a:srgbClr val="8B5CF6"/>
          </a:solidFill>
          <a:ln w="12700">
            <a:solidFill>
              <a:srgbClr val="8B5CF6"/>
            </a:solidFill>
            <a:prstDash val="solid"/>
          </a:ln>
        </p:spPr>
        <p:txBody>
          <a:bodyPr/>
          <a:lstStyle/>
          <a:p>
            <a:endParaRPr lang="en-US"/>
          </a:p>
        </p:txBody>
      </p:sp>
      <p:sp>
        <p:nvSpPr>
          <p:cNvPr id="61" name="Text 59"/>
          <p:cNvSpPr/>
          <p:nvPr/>
        </p:nvSpPr>
        <p:spPr>
          <a:xfrm>
            <a:off x="384048" y="4663440"/>
            <a:ext cx="1207008" cy="324612"/>
          </a:xfrm>
          <a:prstGeom prst="rect">
            <a:avLst/>
          </a:prstGeom>
          <a:noFill/>
          <a:ln/>
        </p:spPr>
        <p:txBody>
          <a:bodyPr wrap="square" lIns="0" tIns="0" rIns="0" bIns="0" rtlCol="0" anchor="ctr"/>
          <a:lstStyle/>
          <a:p>
            <a:pPr marL="0" indent="0">
              <a:buNone/>
            </a:pPr>
            <a:r>
              <a:rPr lang="en-US" sz="1050" b="1" dirty="0">
                <a:solidFill>
                  <a:srgbClr val="8B5CF6"/>
                </a:solidFill>
                <a:latin typeface="Calibri" pitchFamily="34" charset="0"/>
                <a:ea typeface="Calibri" pitchFamily="34" charset="-122"/>
                <a:cs typeface="Calibri" pitchFamily="34" charset="-120"/>
              </a:rPr>
              <a:t>Styling</a:t>
            </a:r>
            <a:endParaRPr lang="en-US" sz="1050" dirty="0"/>
          </a:p>
        </p:txBody>
      </p:sp>
      <p:sp>
        <p:nvSpPr>
          <p:cNvPr id="62" name="Text 60"/>
          <p:cNvSpPr/>
          <p:nvPr/>
        </p:nvSpPr>
        <p:spPr>
          <a:xfrm>
            <a:off x="1664208" y="4663440"/>
            <a:ext cx="2103120" cy="324612"/>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CSS3 Glassmorphism</a:t>
            </a:r>
            <a:endParaRPr lang="en-US" sz="1050" dirty="0"/>
          </a:p>
        </p:txBody>
      </p:sp>
      <p:sp>
        <p:nvSpPr>
          <p:cNvPr id="63" name="Text 61"/>
          <p:cNvSpPr/>
          <p:nvPr/>
        </p:nvSpPr>
        <p:spPr>
          <a:xfrm>
            <a:off x="3858768" y="4663440"/>
            <a:ext cx="4937760" cy="324612"/>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backdrop-filter + dark variables for premium immersive dark theme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System Architecture Diagram</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How all layers communicate — request flows, realtime events, P2P media</a:t>
            </a:r>
            <a:endParaRPr lang="en-US" sz="1300" dirty="0"/>
          </a:p>
        </p:txBody>
      </p:sp>
      <p:sp>
        <p:nvSpPr>
          <p:cNvPr id="5" name="Shape 3"/>
          <p:cNvSpPr/>
          <p:nvPr/>
        </p:nvSpPr>
        <p:spPr>
          <a:xfrm>
            <a:off x="182880" y="1024128"/>
            <a:ext cx="1920240" cy="658368"/>
          </a:xfrm>
          <a:prstGeom prst="rect">
            <a:avLst/>
          </a:prstGeom>
          <a:solidFill>
            <a:srgbClr val="161B22"/>
          </a:solidFill>
          <a:ln w="1016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292608" y="1115568"/>
            <a:ext cx="347472" cy="347472"/>
          </a:xfrm>
          <a:prstGeom prst="rect">
            <a:avLst/>
          </a:prstGeom>
        </p:spPr>
      </p:pic>
      <p:sp>
        <p:nvSpPr>
          <p:cNvPr id="7" name="Text 4"/>
          <p:cNvSpPr/>
          <p:nvPr/>
        </p:nvSpPr>
        <p:spPr>
          <a:xfrm>
            <a:off x="685800" y="1097280"/>
            <a:ext cx="1371600" cy="274320"/>
          </a:xfrm>
          <a:prstGeom prst="rect">
            <a:avLst/>
          </a:prstGeom>
          <a:noFill/>
          <a:ln/>
        </p:spPr>
        <p:txBody>
          <a:bodyPr wrap="square" lIns="0" tIns="0" rIns="0" bIns="0" rtlCol="0" anchor="ctr"/>
          <a:lstStyle/>
          <a:p>
            <a:pPr marL="0" indent="0">
              <a:buNone/>
            </a:pPr>
            <a:r>
              <a:rPr lang="en-US" sz="1100" b="1" dirty="0">
                <a:solidFill>
                  <a:srgbClr val="22D3EE"/>
                </a:solidFill>
                <a:latin typeface="Calibri" pitchFamily="34" charset="0"/>
                <a:ea typeface="Calibri" pitchFamily="34" charset="-122"/>
                <a:cs typeface="Calibri" pitchFamily="34" charset="-120"/>
              </a:rPr>
              <a:t>Browser / SPA</a:t>
            </a:r>
            <a:endParaRPr lang="en-US" sz="1100" dirty="0"/>
          </a:p>
        </p:txBody>
      </p:sp>
      <p:sp>
        <p:nvSpPr>
          <p:cNvPr id="8" name="Text 5"/>
          <p:cNvSpPr/>
          <p:nvPr/>
        </p:nvSpPr>
        <p:spPr>
          <a:xfrm>
            <a:off x="274320" y="1389888"/>
            <a:ext cx="1783080" cy="23774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React 19 + Vite :5173</a:t>
            </a:r>
            <a:endParaRPr lang="en-US" sz="900" dirty="0"/>
          </a:p>
        </p:txBody>
      </p:sp>
      <p:sp>
        <p:nvSpPr>
          <p:cNvPr id="9" name="Shape 6"/>
          <p:cNvSpPr/>
          <p:nvPr/>
        </p:nvSpPr>
        <p:spPr>
          <a:xfrm>
            <a:off x="182880" y="2029968"/>
            <a:ext cx="1920240" cy="658368"/>
          </a:xfrm>
          <a:prstGeom prst="rect">
            <a:avLst/>
          </a:prstGeom>
          <a:solidFill>
            <a:srgbClr val="161B22"/>
          </a:solidFill>
          <a:ln w="10160">
            <a:solidFill>
              <a:srgbClr val="F43F5E"/>
            </a:solidFill>
            <a:prstDash val="solid"/>
          </a:ln>
          <a:effectLst>
            <a:outerShdw blurRad="101600" dist="25400" dir="8100000" algn="bl" rotWithShape="0">
              <a:srgbClr val="000000">
                <a:alpha val="28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292608" y="2121408"/>
            <a:ext cx="347472" cy="347472"/>
          </a:xfrm>
          <a:prstGeom prst="rect">
            <a:avLst/>
          </a:prstGeom>
        </p:spPr>
      </p:pic>
      <p:sp>
        <p:nvSpPr>
          <p:cNvPr id="11" name="Text 7"/>
          <p:cNvSpPr/>
          <p:nvPr/>
        </p:nvSpPr>
        <p:spPr>
          <a:xfrm>
            <a:off x="685800" y="2103120"/>
            <a:ext cx="1371600" cy="274320"/>
          </a:xfrm>
          <a:prstGeom prst="rect">
            <a:avLst/>
          </a:prstGeom>
          <a:noFill/>
          <a:ln/>
        </p:spPr>
        <p:txBody>
          <a:bodyPr wrap="square" lIns="0" tIns="0" rIns="0" bIns="0" rtlCol="0" anchor="ctr"/>
          <a:lstStyle/>
          <a:p>
            <a:pPr marL="0" indent="0">
              <a:buNone/>
            </a:pPr>
            <a:r>
              <a:rPr lang="en-US" sz="1100" b="1" dirty="0">
                <a:solidFill>
                  <a:srgbClr val="F43F5E"/>
                </a:solidFill>
                <a:latin typeface="Calibri" pitchFamily="34" charset="0"/>
                <a:ea typeface="Calibri" pitchFamily="34" charset="-122"/>
                <a:cs typeface="Calibri" pitchFamily="34" charset="-120"/>
              </a:rPr>
              <a:t>Firebase Auth</a:t>
            </a:r>
            <a:endParaRPr lang="en-US" sz="1100" dirty="0"/>
          </a:p>
        </p:txBody>
      </p:sp>
      <p:sp>
        <p:nvSpPr>
          <p:cNvPr id="12" name="Text 8"/>
          <p:cNvSpPr/>
          <p:nvPr/>
        </p:nvSpPr>
        <p:spPr>
          <a:xfrm>
            <a:off x="274320" y="2395728"/>
            <a:ext cx="1783080" cy="23774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Google OAuth 2.0</a:t>
            </a:r>
            <a:endParaRPr lang="en-US" sz="900" dirty="0"/>
          </a:p>
        </p:txBody>
      </p:sp>
      <p:sp>
        <p:nvSpPr>
          <p:cNvPr id="13" name="Shape 9"/>
          <p:cNvSpPr/>
          <p:nvPr/>
        </p:nvSpPr>
        <p:spPr>
          <a:xfrm>
            <a:off x="3566160" y="1024128"/>
            <a:ext cx="2011680" cy="658368"/>
          </a:xfrm>
          <a:prstGeom prst="rect">
            <a:avLst/>
          </a:prstGeom>
          <a:solidFill>
            <a:srgbClr val="161B22"/>
          </a:solidFill>
          <a:ln w="10160">
            <a:solidFill>
              <a:srgbClr val="6366F1"/>
            </a:solidFill>
            <a:prstDash val="solid"/>
          </a:ln>
          <a:effectLst>
            <a:outerShdw blurRad="101600" dist="25400" dir="8100000" algn="bl" rotWithShape="0">
              <a:srgbClr val="000000">
                <a:alpha val="28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3675888" y="1115568"/>
            <a:ext cx="347472" cy="347472"/>
          </a:xfrm>
          <a:prstGeom prst="rect">
            <a:avLst/>
          </a:prstGeom>
        </p:spPr>
      </p:pic>
      <p:sp>
        <p:nvSpPr>
          <p:cNvPr id="15" name="Text 10"/>
          <p:cNvSpPr/>
          <p:nvPr/>
        </p:nvSpPr>
        <p:spPr>
          <a:xfrm>
            <a:off x="4069080" y="1097280"/>
            <a:ext cx="1463040" cy="274320"/>
          </a:xfrm>
          <a:prstGeom prst="rect">
            <a:avLst/>
          </a:prstGeom>
          <a:noFill/>
          <a:ln/>
        </p:spPr>
        <p:txBody>
          <a:bodyPr wrap="square" lIns="0" tIns="0" rIns="0" bIns="0" rtlCol="0" anchor="ctr"/>
          <a:lstStyle/>
          <a:p>
            <a:pPr marL="0" indent="0">
              <a:buNone/>
            </a:pPr>
            <a:r>
              <a:rPr lang="en-US" sz="1100" b="1" dirty="0">
                <a:solidFill>
                  <a:srgbClr val="6366F1"/>
                </a:solidFill>
                <a:latin typeface="Calibri" pitchFamily="34" charset="0"/>
                <a:ea typeface="Calibri" pitchFamily="34" charset="-122"/>
                <a:cs typeface="Calibri" pitchFamily="34" charset="-120"/>
              </a:rPr>
              <a:t>Express.js API</a:t>
            </a:r>
            <a:endParaRPr lang="en-US" sz="1100" dirty="0"/>
          </a:p>
        </p:txBody>
      </p:sp>
      <p:sp>
        <p:nvSpPr>
          <p:cNvPr id="16" name="Text 11"/>
          <p:cNvSpPr/>
          <p:nvPr/>
        </p:nvSpPr>
        <p:spPr>
          <a:xfrm>
            <a:off x="3657600" y="1389888"/>
            <a:ext cx="1874520" cy="23774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Node.js :5000</a:t>
            </a:r>
            <a:endParaRPr lang="en-US" sz="900" dirty="0"/>
          </a:p>
        </p:txBody>
      </p:sp>
      <p:sp>
        <p:nvSpPr>
          <p:cNvPr id="17" name="Shape 12"/>
          <p:cNvSpPr/>
          <p:nvPr/>
        </p:nvSpPr>
        <p:spPr>
          <a:xfrm>
            <a:off x="3566160" y="2029968"/>
            <a:ext cx="2011680" cy="658368"/>
          </a:xfrm>
          <a:prstGeom prst="rect">
            <a:avLst/>
          </a:prstGeom>
          <a:solidFill>
            <a:srgbClr val="161B22"/>
          </a:solidFill>
          <a:ln w="10160">
            <a:solidFill>
              <a:srgbClr val="F43F5E"/>
            </a:solidFill>
            <a:prstDash val="solid"/>
          </a:ln>
          <a:effectLst>
            <a:outerShdw blurRad="101600" dist="25400" dir="8100000" algn="bl" rotWithShape="0">
              <a:srgbClr val="000000">
                <a:alpha val="28000"/>
              </a:srgbClr>
            </a:outerShdw>
          </a:effectLst>
        </p:spPr>
        <p:txBody>
          <a:bodyPr/>
          <a:lstStyle/>
          <a:p>
            <a:endParaRPr lang="en-US"/>
          </a:p>
        </p:txBody>
      </p:sp>
      <p:pic>
        <p:nvPicPr>
          <p:cNvPr id="18" name="Image 3" descr="preencoded.png"/>
          <p:cNvPicPr>
            <a:picLocks noChangeAspect="1"/>
          </p:cNvPicPr>
          <p:nvPr/>
        </p:nvPicPr>
        <p:blipFill>
          <a:blip r:embed="rId4"/>
          <a:stretch>
            <a:fillRect/>
          </a:stretch>
        </p:blipFill>
        <p:spPr>
          <a:xfrm>
            <a:off x="3675888" y="2121408"/>
            <a:ext cx="347472" cy="347472"/>
          </a:xfrm>
          <a:prstGeom prst="rect">
            <a:avLst/>
          </a:prstGeom>
        </p:spPr>
      </p:pic>
      <p:sp>
        <p:nvSpPr>
          <p:cNvPr id="19" name="Text 13"/>
          <p:cNvSpPr/>
          <p:nvPr/>
        </p:nvSpPr>
        <p:spPr>
          <a:xfrm>
            <a:off x="4069080" y="2103120"/>
            <a:ext cx="1463040" cy="274320"/>
          </a:xfrm>
          <a:prstGeom prst="rect">
            <a:avLst/>
          </a:prstGeom>
          <a:noFill/>
          <a:ln/>
        </p:spPr>
        <p:txBody>
          <a:bodyPr wrap="square" lIns="0" tIns="0" rIns="0" bIns="0" rtlCol="0" anchor="ctr"/>
          <a:lstStyle/>
          <a:p>
            <a:pPr marL="0" indent="0">
              <a:buNone/>
            </a:pPr>
            <a:r>
              <a:rPr lang="en-US" sz="1100" b="1" dirty="0">
                <a:solidFill>
                  <a:srgbClr val="F43F5E"/>
                </a:solidFill>
                <a:latin typeface="Calibri" pitchFamily="34" charset="0"/>
                <a:ea typeface="Calibri" pitchFamily="34" charset="-122"/>
                <a:cs typeface="Calibri" pitchFamily="34" charset="-120"/>
              </a:rPr>
              <a:t>Firebase Admin</a:t>
            </a:r>
            <a:endParaRPr lang="en-US" sz="1100" dirty="0"/>
          </a:p>
        </p:txBody>
      </p:sp>
      <p:sp>
        <p:nvSpPr>
          <p:cNvPr id="20" name="Text 14"/>
          <p:cNvSpPr/>
          <p:nvPr/>
        </p:nvSpPr>
        <p:spPr>
          <a:xfrm>
            <a:off x="3657600" y="2395728"/>
            <a:ext cx="1874520" cy="23774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JWT Verify Middleware</a:t>
            </a:r>
            <a:endParaRPr lang="en-US" sz="900" dirty="0"/>
          </a:p>
        </p:txBody>
      </p:sp>
      <p:sp>
        <p:nvSpPr>
          <p:cNvPr id="21" name="Shape 15"/>
          <p:cNvSpPr/>
          <p:nvPr/>
        </p:nvSpPr>
        <p:spPr>
          <a:xfrm>
            <a:off x="6949440" y="1024128"/>
            <a:ext cx="1965960" cy="658368"/>
          </a:xfrm>
          <a:prstGeom prst="rect">
            <a:avLst/>
          </a:prstGeom>
          <a:solidFill>
            <a:srgbClr val="161B22"/>
          </a:solidFill>
          <a:ln w="1016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pic>
        <p:nvPicPr>
          <p:cNvPr id="22" name="Image 4" descr="preencoded.png"/>
          <p:cNvPicPr>
            <a:picLocks noChangeAspect="1"/>
          </p:cNvPicPr>
          <p:nvPr/>
        </p:nvPicPr>
        <p:blipFill>
          <a:blip r:embed="rId6"/>
          <a:stretch>
            <a:fillRect/>
          </a:stretch>
        </p:blipFill>
        <p:spPr>
          <a:xfrm>
            <a:off x="7059168" y="1115568"/>
            <a:ext cx="347472" cy="347472"/>
          </a:xfrm>
          <a:prstGeom prst="rect">
            <a:avLst/>
          </a:prstGeom>
        </p:spPr>
      </p:pic>
      <p:sp>
        <p:nvSpPr>
          <p:cNvPr id="23" name="Text 16"/>
          <p:cNvSpPr/>
          <p:nvPr/>
        </p:nvSpPr>
        <p:spPr>
          <a:xfrm>
            <a:off x="7452360" y="1097280"/>
            <a:ext cx="1417320" cy="274320"/>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Supabase DB</a:t>
            </a:r>
            <a:endParaRPr lang="en-US" sz="1100" dirty="0"/>
          </a:p>
        </p:txBody>
      </p:sp>
      <p:sp>
        <p:nvSpPr>
          <p:cNvPr id="24" name="Text 17"/>
          <p:cNvSpPr/>
          <p:nvPr/>
        </p:nvSpPr>
        <p:spPr>
          <a:xfrm>
            <a:off x="7040880" y="1389888"/>
            <a:ext cx="1828800" cy="23774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PostgreSQL + RLS</a:t>
            </a:r>
            <a:endParaRPr lang="en-US" sz="900" dirty="0"/>
          </a:p>
        </p:txBody>
      </p:sp>
      <p:sp>
        <p:nvSpPr>
          <p:cNvPr id="25" name="Shape 18"/>
          <p:cNvSpPr/>
          <p:nvPr/>
        </p:nvSpPr>
        <p:spPr>
          <a:xfrm>
            <a:off x="6949440" y="2029968"/>
            <a:ext cx="1965960" cy="658368"/>
          </a:xfrm>
          <a:prstGeom prst="rect">
            <a:avLst/>
          </a:prstGeom>
          <a:solidFill>
            <a:srgbClr val="161B22"/>
          </a:solidFill>
          <a:ln w="1016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pic>
        <p:nvPicPr>
          <p:cNvPr id="26" name="Image 5" descr="preencoded.png"/>
          <p:cNvPicPr>
            <a:picLocks noChangeAspect="1"/>
          </p:cNvPicPr>
          <p:nvPr/>
        </p:nvPicPr>
        <p:blipFill>
          <a:blip r:embed="rId7"/>
          <a:stretch>
            <a:fillRect/>
          </a:stretch>
        </p:blipFill>
        <p:spPr>
          <a:xfrm>
            <a:off x="7059168" y="2121408"/>
            <a:ext cx="347472" cy="347472"/>
          </a:xfrm>
          <a:prstGeom prst="rect">
            <a:avLst/>
          </a:prstGeom>
        </p:spPr>
      </p:pic>
      <p:sp>
        <p:nvSpPr>
          <p:cNvPr id="27" name="Text 19"/>
          <p:cNvSpPr/>
          <p:nvPr/>
        </p:nvSpPr>
        <p:spPr>
          <a:xfrm>
            <a:off x="7452360" y="2103120"/>
            <a:ext cx="1417320" cy="274320"/>
          </a:xfrm>
          <a:prstGeom prst="rect">
            <a:avLst/>
          </a:prstGeom>
          <a:noFill/>
          <a:ln/>
        </p:spPr>
        <p:txBody>
          <a:bodyPr wrap="square" lIns="0" tIns="0" rIns="0" bIns="0" rtlCol="0" anchor="ctr"/>
          <a:lstStyle/>
          <a:p>
            <a:pPr marL="0" indent="0">
              <a:buNone/>
            </a:pPr>
            <a:r>
              <a:rPr lang="en-US" sz="1100" b="1" dirty="0">
                <a:solidFill>
                  <a:srgbClr val="8B5CF6"/>
                </a:solidFill>
                <a:latin typeface="Calibri" pitchFamily="34" charset="0"/>
                <a:ea typeface="Calibri" pitchFamily="34" charset="-122"/>
                <a:cs typeface="Calibri" pitchFamily="34" charset="-120"/>
              </a:rPr>
              <a:t>Supabase RT</a:t>
            </a:r>
            <a:endParaRPr lang="en-US" sz="1100" dirty="0"/>
          </a:p>
        </p:txBody>
      </p:sp>
      <p:sp>
        <p:nvSpPr>
          <p:cNvPr id="28" name="Text 20"/>
          <p:cNvSpPr/>
          <p:nvPr/>
        </p:nvSpPr>
        <p:spPr>
          <a:xfrm>
            <a:off x="7040880" y="2395728"/>
            <a:ext cx="1828800" cy="23774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Realtime PubSub</a:t>
            </a:r>
            <a:endParaRPr lang="en-US" sz="900" dirty="0"/>
          </a:p>
        </p:txBody>
      </p:sp>
      <p:sp>
        <p:nvSpPr>
          <p:cNvPr id="29" name="Shape 21"/>
          <p:cNvSpPr/>
          <p:nvPr/>
        </p:nvSpPr>
        <p:spPr>
          <a:xfrm>
            <a:off x="6949440" y="3035808"/>
            <a:ext cx="1965960" cy="658368"/>
          </a:xfrm>
          <a:prstGeom prst="rect">
            <a:avLst/>
          </a:prstGeom>
          <a:solidFill>
            <a:srgbClr val="161B22"/>
          </a:solidFill>
          <a:ln w="10160">
            <a:solidFill>
              <a:srgbClr val="F59E0B"/>
            </a:solidFill>
            <a:prstDash val="solid"/>
          </a:ln>
          <a:effectLst>
            <a:outerShdw blurRad="101600" dist="25400" dir="8100000" algn="bl" rotWithShape="0">
              <a:srgbClr val="000000">
                <a:alpha val="28000"/>
              </a:srgbClr>
            </a:outerShdw>
          </a:effectLst>
        </p:spPr>
        <p:txBody>
          <a:bodyPr/>
          <a:lstStyle/>
          <a:p>
            <a:endParaRPr lang="en-US"/>
          </a:p>
        </p:txBody>
      </p:sp>
      <p:pic>
        <p:nvPicPr>
          <p:cNvPr id="30" name="Image 6" descr="preencoded.png"/>
          <p:cNvPicPr>
            <a:picLocks noChangeAspect="1"/>
          </p:cNvPicPr>
          <p:nvPr/>
        </p:nvPicPr>
        <p:blipFill>
          <a:blip r:embed="rId8"/>
          <a:stretch>
            <a:fillRect/>
          </a:stretch>
        </p:blipFill>
        <p:spPr>
          <a:xfrm>
            <a:off x="7059168" y="3127248"/>
            <a:ext cx="347472" cy="347472"/>
          </a:xfrm>
          <a:prstGeom prst="rect">
            <a:avLst/>
          </a:prstGeom>
        </p:spPr>
      </p:pic>
      <p:sp>
        <p:nvSpPr>
          <p:cNvPr id="31" name="Text 22"/>
          <p:cNvSpPr/>
          <p:nvPr/>
        </p:nvSpPr>
        <p:spPr>
          <a:xfrm>
            <a:off x="7452360" y="3108960"/>
            <a:ext cx="1417320" cy="27432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Supabase Storage</a:t>
            </a:r>
            <a:endParaRPr lang="en-US" sz="1100" dirty="0"/>
          </a:p>
        </p:txBody>
      </p:sp>
      <p:sp>
        <p:nvSpPr>
          <p:cNvPr id="32" name="Text 23"/>
          <p:cNvSpPr/>
          <p:nvPr/>
        </p:nvSpPr>
        <p:spPr>
          <a:xfrm>
            <a:off x="7040880" y="3401568"/>
            <a:ext cx="1828800" cy="23774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avatars / media / status</a:t>
            </a:r>
            <a:endParaRPr lang="en-US" sz="900" dirty="0"/>
          </a:p>
        </p:txBody>
      </p:sp>
      <p:sp>
        <p:nvSpPr>
          <p:cNvPr id="33" name="Shape 24"/>
          <p:cNvSpPr/>
          <p:nvPr/>
        </p:nvSpPr>
        <p:spPr>
          <a:xfrm>
            <a:off x="3566160" y="3035808"/>
            <a:ext cx="2011680" cy="658368"/>
          </a:xfrm>
          <a:prstGeom prst="rect">
            <a:avLst/>
          </a:prstGeom>
          <a:solidFill>
            <a:srgbClr val="161B22"/>
          </a:solidFill>
          <a:ln w="10160">
            <a:solidFill>
              <a:srgbClr val="F59E0B"/>
            </a:solidFill>
            <a:prstDash val="solid"/>
          </a:ln>
          <a:effectLst>
            <a:outerShdw blurRad="101600" dist="25400" dir="8100000" algn="bl" rotWithShape="0">
              <a:srgbClr val="000000">
                <a:alpha val="28000"/>
              </a:srgbClr>
            </a:outerShdw>
          </a:effectLst>
        </p:spPr>
        <p:txBody>
          <a:bodyPr/>
          <a:lstStyle/>
          <a:p>
            <a:endParaRPr lang="en-US"/>
          </a:p>
        </p:txBody>
      </p:sp>
      <p:pic>
        <p:nvPicPr>
          <p:cNvPr id="34" name="Image 7" descr="preencoded.png"/>
          <p:cNvPicPr>
            <a:picLocks noChangeAspect="1"/>
          </p:cNvPicPr>
          <p:nvPr/>
        </p:nvPicPr>
        <p:blipFill>
          <a:blip r:embed="rId9"/>
          <a:stretch>
            <a:fillRect/>
          </a:stretch>
        </p:blipFill>
        <p:spPr>
          <a:xfrm>
            <a:off x="3675888" y="3127248"/>
            <a:ext cx="347472" cy="347472"/>
          </a:xfrm>
          <a:prstGeom prst="rect">
            <a:avLst/>
          </a:prstGeom>
        </p:spPr>
      </p:pic>
      <p:sp>
        <p:nvSpPr>
          <p:cNvPr id="35" name="Text 25"/>
          <p:cNvSpPr/>
          <p:nvPr/>
        </p:nvSpPr>
        <p:spPr>
          <a:xfrm>
            <a:off x="4069080" y="3108960"/>
            <a:ext cx="1463040" cy="27432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WebRTC P2P</a:t>
            </a:r>
            <a:endParaRPr lang="en-US" sz="1100" dirty="0"/>
          </a:p>
        </p:txBody>
      </p:sp>
      <p:sp>
        <p:nvSpPr>
          <p:cNvPr id="36" name="Text 26"/>
          <p:cNvSpPr/>
          <p:nvPr/>
        </p:nvSpPr>
        <p:spPr>
          <a:xfrm>
            <a:off x="3657600" y="3401568"/>
            <a:ext cx="1874520" cy="23774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STUN ICE Negotiation</a:t>
            </a:r>
            <a:endParaRPr lang="en-US" sz="900" dirty="0"/>
          </a:p>
        </p:txBody>
      </p:sp>
      <p:sp>
        <p:nvSpPr>
          <p:cNvPr id="37" name="Shape 27"/>
          <p:cNvSpPr/>
          <p:nvPr/>
        </p:nvSpPr>
        <p:spPr>
          <a:xfrm>
            <a:off x="182880" y="3035808"/>
            <a:ext cx="1920240" cy="658368"/>
          </a:xfrm>
          <a:prstGeom prst="rect">
            <a:avLst/>
          </a:prstGeom>
          <a:solidFill>
            <a:srgbClr val="161B22"/>
          </a:solidFill>
          <a:ln w="1016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pic>
        <p:nvPicPr>
          <p:cNvPr id="38" name="Image 8" descr="preencoded.png"/>
          <p:cNvPicPr>
            <a:picLocks noChangeAspect="1"/>
          </p:cNvPicPr>
          <p:nvPr/>
        </p:nvPicPr>
        <p:blipFill>
          <a:blip r:embed="rId10"/>
          <a:stretch>
            <a:fillRect/>
          </a:stretch>
        </p:blipFill>
        <p:spPr>
          <a:xfrm>
            <a:off x="292608" y="3127248"/>
            <a:ext cx="347472" cy="347472"/>
          </a:xfrm>
          <a:prstGeom prst="rect">
            <a:avLst/>
          </a:prstGeom>
        </p:spPr>
      </p:pic>
      <p:sp>
        <p:nvSpPr>
          <p:cNvPr id="39" name="Text 28"/>
          <p:cNvSpPr/>
          <p:nvPr/>
        </p:nvSpPr>
        <p:spPr>
          <a:xfrm>
            <a:off x="685800" y="3108960"/>
            <a:ext cx="1371600" cy="274320"/>
          </a:xfrm>
          <a:prstGeom prst="rect">
            <a:avLst/>
          </a:prstGeom>
          <a:noFill/>
          <a:ln/>
        </p:spPr>
        <p:txBody>
          <a:bodyPr wrap="square" lIns="0" tIns="0" rIns="0" bIns="0" rtlCol="0" anchor="ctr"/>
          <a:lstStyle/>
          <a:p>
            <a:pPr marL="0" indent="0">
              <a:buNone/>
            </a:pPr>
            <a:r>
              <a:rPr lang="en-US" sz="1100" b="1" dirty="0">
                <a:solidFill>
                  <a:srgbClr val="8B5CF6"/>
                </a:solidFill>
                <a:latin typeface="Calibri" pitchFamily="34" charset="0"/>
                <a:ea typeface="Calibri" pitchFamily="34" charset="-122"/>
                <a:cs typeface="Calibri" pitchFamily="34" charset="-120"/>
              </a:rPr>
              <a:t>call_signals</a:t>
            </a:r>
            <a:endParaRPr lang="en-US" sz="1100" dirty="0"/>
          </a:p>
        </p:txBody>
      </p:sp>
      <p:sp>
        <p:nvSpPr>
          <p:cNvPr id="40" name="Text 29"/>
          <p:cNvSpPr/>
          <p:nvPr/>
        </p:nvSpPr>
        <p:spPr>
          <a:xfrm>
            <a:off x="274320" y="3401568"/>
            <a:ext cx="1783080" cy="23774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SDP Offer/Answer table</a:t>
            </a:r>
            <a:endParaRPr lang="en-US" sz="900" dirty="0"/>
          </a:p>
        </p:txBody>
      </p:sp>
      <p:sp>
        <p:nvSpPr>
          <p:cNvPr id="41" name="Shape 30"/>
          <p:cNvSpPr/>
          <p:nvPr/>
        </p:nvSpPr>
        <p:spPr>
          <a:xfrm>
            <a:off x="2103120" y="1353312"/>
            <a:ext cx="1463040" cy="0"/>
          </a:xfrm>
          <a:prstGeom prst="line">
            <a:avLst/>
          </a:prstGeom>
          <a:noFill/>
          <a:ln w="17780">
            <a:solidFill>
              <a:srgbClr val="6366F1"/>
            </a:solidFill>
            <a:prstDash val="dash"/>
            <a:tailEnd type="arrow"/>
          </a:ln>
        </p:spPr>
        <p:txBody>
          <a:bodyPr/>
          <a:lstStyle/>
          <a:p>
            <a:endParaRPr lang="en-US"/>
          </a:p>
        </p:txBody>
      </p:sp>
      <p:sp>
        <p:nvSpPr>
          <p:cNvPr id="42" name="Text 31"/>
          <p:cNvSpPr/>
          <p:nvPr/>
        </p:nvSpPr>
        <p:spPr>
          <a:xfrm>
            <a:off x="2286000" y="1152144"/>
            <a:ext cx="1097280" cy="182880"/>
          </a:xfrm>
          <a:prstGeom prst="rect">
            <a:avLst/>
          </a:prstGeom>
          <a:noFill/>
          <a:ln/>
        </p:spPr>
        <p:txBody>
          <a:bodyPr wrap="square" rtlCol="0" anchor="ctr"/>
          <a:lstStyle/>
          <a:p>
            <a:pPr marL="0" indent="0" algn="ctr">
              <a:buNone/>
            </a:pPr>
            <a:r>
              <a:rPr lang="en-US" sz="800" dirty="0">
                <a:solidFill>
                  <a:srgbClr val="6366F1"/>
                </a:solidFill>
                <a:latin typeface="Calibri" pitchFamily="34" charset="0"/>
                <a:ea typeface="Calibri" pitchFamily="34" charset="-122"/>
                <a:cs typeface="Calibri" pitchFamily="34" charset="-120"/>
              </a:rPr>
              <a:t>REST+JWT</a:t>
            </a:r>
            <a:endParaRPr lang="en-US" sz="800" dirty="0"/>
          </a:p>
        </p:txBody>
      </p:sp>
      <p:sp>
        <p:nvSpPr>
          <p:cNvPr id="43" name="Shape 32"/>
          <p:cNvSpPr/>
          <p:nvPr/>
        </p:nvSpPr>
        <p:spPr>
          <a:xfrm>
            <a:off x="3566160" y="1499616"/>
            <a:ext cx="0" cy="0"/>
          </a:xfrm>
          <a:prstGeom prst="line">
            <a:avLst/>
          </a:prstGeom>
          <a:noFill/>
          <a:ln w="17780">
            <a:solidFill>
              <a:srgbClr val="6366F1"/>
            </a:solidFill>
            <a:prstDash val="dash"/>
            <a:tailEnd type="arrow"/>
          </a:ln>
        </p:spPr>
        <p:txBody>
          <a:bodyPr/>
          <a:lstStyle/>
          <a:p>
            <a:endParaRPr lang="en-US"/>
          </a:p>
        </p:txBody>
      </p:sp>
      <p:sp>
        <p:nvSpPr>
          <p:cNvPr id="44" name="Text 33"/>
          <p:cNvSpPr/>
          <p:nvPr/>
        </p:nvSpPr>
        <p:spPr>
          <a:xfrm>
            <a:off x="2286000" y="1298448"/>
            <a:ext cx="1097280" cy="182880"/>
          </a:xfrm>
          <a:prstGeom prst="rect">
            <a:avLst/>
          </a:prstGeom>
          <a:noFill/>
          <a:ln/>
        </p:spPr>
        <p:txBody>
          <a:bodyPr wrap="square" rtlCol="0" anchor="ctr"/>
          <a:lstStyle/>
          <a:p>
            <a:pPr marL="0" indent="0" algn="ctr">
              <a:buNone/>
            </a:pPr>
            <a:r>
              <a:rPr lang="en-US" sz="800" dirty="0">
                <a:solidFill>
                  <a:srgbClr val="6366F1"/>
                </a:solidFill>
                <a:latin typeface="Calibri" pitchFamily="34" charset="0"/>
                <a:ea typeface="Calibri" pitchFamily="34" charset="-122"/>
                <a:cs typeface="Calibri" pitchFamily="34" charset="-120"/>
              </a:rPr>
              <a:t>Response</a:t>
            </a:r>
            <a:endParaRPr lang="en-US" sz="800" dirty="0"/>
          </a:p>
        </p:txBody>
      </p:sp>
      <p:sp>
        <p:nvSpPr>
          <p:cNvPr id="45" name="Shape 34"/>
          <p:cNvSpPr/>
          <p:nvPr/>
        </p:nvSpPr>
        <p:spPr>
          <a:xfrm>
            <a:off x="2103120" y="2359152"/>
            <a:ext cx="1463040" cy="0"/>
          </a:xfrm>
          <a:prstGeom prst="line">
            <a:avLst/>
          </a:prstGeom>
          <a:noFill/>
          <a:ln w="17780">
            <a:solidFill>
              <a:srgbClr val="F43F5E"/>
            </a:solidFill>
            <a:prstDash val="dash"/>
            <a:tailEnd type="arrow"/>
          </a:ln>
        </p:spPr>
        <p:txBody>
          <a:bodyPr/>
          <a:lstStyle/>
          <a:p>
            <a:endParaRPr lang="en-US"/>
          </a:p>
        </p:txBody>
      </p:sp>
      <p:sp>
        <p:nvSpPr>
          <p:cNvPr id="46" name="Text 35"/>
          <p:cNvSpPr/>
          <p:nvPr/>
        </p:nvSpPr>
        <p:spPr>
          <a:xfrm>
            <a:off x="2286000" y="2157984"/>
            <a:ext cx="1097280" cy="182880"/>
          </a:xfrm>
          <a:prstGeom prst="rect">
            <a:avLst/>
          </a:prstGeom>
          <a:noFill/>
          <a:ln/>
        </p:spPr>
        <p:txBody>
          <a:bodyPr wrap="square" rtlCol="0" anchor="ctr"/>
          <a:lstStyle/>
          <a:p>
            <a:pPr marL="0" indent="0" algn="ctr">
              <a:buNone/>
            </a:pPr>
            <a:r>
              <a:rPr lang="en-US" sz="800" dirty="0">
                <a:solidFill>
                  <a:srgbClr val="F43F5E"/>
                </a:solidFill>
                <a:latin typeface="Calibri" pitchFamily="34" charset="0"/>
                <a:ea typeface="Calibri" pitchFamily="34" charset="-122"/>
                <a:cs typeface="Calibri" pitchFamily="34" charset="-120"/>
              </a:rPr>
              <a:t>Token</a:t>
            </a:r>
            <a:endParaRPr lang="en-US" sz="800" dirty="0"/>
          </a:p>
        </p:txBody>
      </p:sp>
      <p:sp>
        <p:nvSpPr>
          <p:cNvPr id="47" name="Shape 36"/>
          <p:cNvSpPr/>
          <p:nvPr/>
        </p:nvSpPr>
        <p:spPr>
          <a:xfrm>
            <a:off x="3566160" y="2505456"/>
            <a:ext cx="0" cy="0"/>
          </a:xfrm>
          <a:prstGeom prst="line">
            <a:avLst/>
          </a:prstGeom>
          <a:noFill/>
          <a:ln w="17780">
            <a:solidFill>
              <a:srgbClr val="F43F5E"/>
            </a:solidFill>
            <a:prstDash val="dash"/>
            <a:tailEnd type="arrow"/>
          </a:ln>
        </p:spPr>
        <p:txBody>
          <a:bodyPr/>
          <a:lstStyle/>
          <a:p>
            <a:endParaRPr lang="en-US"/>
          </a:p>
        </p:txBody>
      </p:sp>
      <p:sp>
        <p:nvSpPr>
          <p:cNvPr id="48" name="Text 37"/>
          <p:cNvSpPr/>
          <p:nvPr/>
        </p:nvSpPr>
        <p:spPr>
          <a:xfrm>
            <a:off x="2286000" y="2304288"/>
            <a:ext cx="1097280" cy="182880"/>
          </a:xfrm>
          <a:prstGeom prst="rect">
            <a:avLst/>
          </a:prstGeom>
          <a:noFill/>
          <a:ln/>
        </p:spPr>
        <p:txBody>
          <a:bodyPr wrap="square" rtlCol="0" anchor="ctr"/>
          <a:lstStyle/>
          <a:p>
            <a:pPr marL="0" indent="0" algn="ctr">
              <a:buNone/>
            </a:pPr>
            <a:r>
              <a:rPr lang="en-US" sz="800" dirty="0">
                <a:solidFill>
                  <a:srgbClr val="F43F5E"/>
                </a:solidFill>
                <a:latin typeface="Calibri" pitchFamily="34" charset="0"/>
                <a:ea typeface="Calibri" pitchFamily="34" charset="-122"/>
                <a:cs typeface="Calibri" pitchFamily="34" charset="-120"/>
              </a:rPr>
              <a:t>Verified</a:t>
            </a:r>
            <a:endParaRPr lang="en-US" sz="800" dirty="0"/>
          </a:p>
        </p:txBody>
      </p:sp>
      <p:sp>
        <p:nvSpPr>
          <p:cNvPr id="49" name="Shape 38"/>
          <p:cNvSpPr/>
          <p:nvPr/>
        </p:nvSpPr>
        <p:spPr>
          <a:xfrm>
            <a:off x="5577840" y="1353312"/>
            <a:ext cx="1371600" cy="0"/>
          </a:xfrm>
          <a:prstGeom prst="line">
            <a:avLst/>
          </a:prstGeom>
          <a:noFill/>
          <a:ln w="17780">
            <a:solidFill>
              <a:srgbClr val="10B981"/>
            </a:solidFill>
            <a:prstDash val="dash"/>
            <a:tailEnd type="arrow"/>
          </a:ln>
        </p:spPr>
        <p:txBody>
          <a:bodyPr/>
          <a:lstStyle/>
          <a:p>
            <a:endParaRPr lang="en-US"/>
          </a:p>
        </p:txBody>
      </p:sp>
      <p:sp>
        <p:nvSpPr>
          <p:cNvPr id="50" name="Text 39"/>
          <p:cNvSpPr/>
          <p:nvPr/>
        </p:nvSpPr>
        <p:spPr>
          <a:xfrm>
            <a:off x="5715000" y="1152144"/>
            <a:ext cx="1097280" cy="182880"/>
          </a:xfrm>
          <a:prstGeom prst="rect">
            <a:avLst/>
          </a:prstGeom>
          <a:noFill/>
          <a:ln/>
        </p:spPr>
        <p:txBody>
          <a:bodyPr wrap="square" rtlCol="0" anchor="ctr"/>
          <a:lstStyle/>
          <a:p>
            <a:pPr marL="0" indent="0" algn="ctr">
              <a:buNone/>
            </a:pPr>
            <a:r>
              <a:rPr lang="en-US" sz="800" dirty="0">
                <a:solidFill>
                  <a:srgbClr val="10B981"/>
                </a:solidFill>
                <a:latin typeface="Calibri" pitchFamily="34" charset="0"/>
                <a:ea typeface="Calibri" pitchFamily="34" charset="-122"/>
                <a:cs typeface="Calibri" pitchFamily="34" charset="-120"/>
              </a:rPr>
              <a:t>SQL Query</a:t>
            </a:r>
            <a:endParaRPr lang="en-US" sz="800" dirty="0"/>
          </a:p>
        </p:txBody>
      </p:sp>
      <p:sp>
        <p:nvSpPr>
          <p:cNvPr id="51" name="Shape 40"/>
          <p:cNvSpPr/>
          <p:nvPr/>
        </p:nvSpPr>
        <p:spPr>
          <a:xfrm>
            <a:off x="6949440" y="1499616"/>
            <a:ext cx="0" cy="0"/>
          </a:xfrm>
          <a:prstGeom prst="line">
            <a:avLst/>
          </a:prstGeom>
          <a:noFill/>
          <a:ln w="17780">
            <a:solidFill>
              <a:srgbClr val="10B981"/>
            </a:solidFill>
            <a:prstDash val="dash"/>
            <a:tailEnd type="arrow"/>
          </a:ln>
        </p:spPr>
        <p:txBody>
          <a:bodyPr/>
          <a:lstStyle/>
          <a:p>
            <a:endParaRPr lang="en-US"/>
          </a:p>
        </p:txBody>
      </p:sp>
      <p:sp>
        <p:nvSpPr>
          <p:cNvPr id="52" name="Text 41"/>
          <p:cNvSpPr/>
          <p:nvPr/>
        </p:nvSpPr>
        <p:spPr>
          <a:xfrm>
            <a:off x="5715000" y="1298448"/>
            <a:ext cx="1097280" cy="182880"/>
          </a:xfrm>
          <a:prstGeom prst="rect">
            <a:avLst/>
          </a:prstGeom>
          <a:noFill/>
          <a:ln/>
        </p:spPr>
        <p:txBody>
          <a:bodyPr wrap="square" rtlCol="0" anchor="ctr"/>
          <a:lstStyle/>
          <a:p>
            <a:pPr marL="0" indent="0" algn="ctr">
              <a:buNone/>
            </a:pPr>
            <a:r>
              <a:rPr lang="en-US" sz="800" dirty="0">
                <a:solidFill>
                  <a:srgbClr val="10B981"/>
                </a:solidFill>
                <a:latin typeface="Calibri" pitchFamily="34" charset="0"/>
                <a:ea typeface="Calibri" pitchFamily="34" charset="-122"/>
                <a:cs typeface="Calibri" pitchFamily="34" charset="-120"/>
              </a:rPr>
              <a:t>Results</a:t>
            </a:r>
            <a:endParaRPr lang="en-US" sz="800" dirty="0"/>
          </a:p>
        </p:txBody>
      </p:sp>
      <p:sp>
        <p:nvSpPr>
          <p:cNvPr id="53" name="Shape 42"/>
          <p:cNvSpPr/>
          <p:nvPr/>
        </p:nvSpPr>
        <p:spPr>
          <a:xfrm>
            <a:off x="6949440" y="2331720"/>
            <a:ext cx="0" cy="0"/>
          </a:xfrm>
          <a:prstGeom prst="line">
            <a:avLst/>
          </a:prstGeom>
          <a:noFill/>
          <a:ln w="17780">
            <a:solidFill>
              <a:srgbClr val="8B5CF6"/>
            </a:solidFill>
            <a:prstDash val="dash"/>
            <a:tailEnd type="arrow"/>
          </a:ln>
        </p:spPr>
        <p:txBody>
          <a:bodyPr/>
          <a:lstStyle/>
          <a:p>
            <a:endParaRPr lang="en-US"/>
          </a:p>
        </p:txBody>
      </p:sp>
      <p:sp>
        <p:nvSpPr>
          <p:cNvPr id="54" name="Shape 43"/>
          <p:cNvSpPr/>
          <p:nvPr/>
        </p:nvSpPr>
        <p:spPr>
          <a:xfrm>
            <a:off x="5577840" y="3364992"/>
            <a:ext cx="1371600" cy="0"/>
          </a:xfrm>
          <a:prstGeom prst="line">
            <a:avLst/>
          </a:prstGeom>
          <a:noFill/>
          <a:ln w="17780">
            <a:solidFill>
              <a:srgbClr val="F59E0B"/>
            </a:solidFill>
            <a:prstDash val="dash"/>
            <a:tailEnd type="arrow"/>
          </a:ln>
        </p:spPr>
        <p:txBody>
          <a:bodyPr/>
          <a:lstStyle/>
          <a:p>
            <a:endParaRPr lang="en-US"/>
          </a:p>
        </p:txBody>
      </p:sp>
      <p:sp>
        <p:nvSpPr>
          <p:cNvPr id="55" name="Text 44"/>
          <p:cNvSpPr/>
          <p:nvPr/>
        </p:nvSpPr>
        <p:spPr>
          <a:xfrm>
            <a:off x="5715000" y="3163824"/>
            <a:ext cx="1097280" cy="182880"/>
          </a:xfrm>
          <a:prstGeom prst="rect">
            <a:avLst/>
          </a:prstGeom>
          <a:noFill/>
          <a:ln/>
        </p:spPr>
        <p:txBody>
          <a:bodyPr wrap="square" rtlCol="0" anchor="ctr"/>
          <a:lstStyle/>
          <a:p>
            <a:pPr marL="0" indent="0" algn="ctr">
              <a:buNone/>
            </a:pPr>
            <a:r>
              <a:rPr lang="en-US" sz="800" dirty="0">
                <a:solidFill>
                  <a:srgbClr val="F59E0B"/>
                </a:solidFill>
                <a:latin typeface="Calibri" pitchFamily="34" charset="0"/>
                <a:ea typeface="Calibri" pitchFamily="34" charset="-122"/>
                <a:cs typeface="Calibri" pitchFamily="34" charset="-120"/>
              </a:rPr>
              <a:t>Upload</a:t>
            </a:r>
            <a:endParaRPr lang="en-US" sz="800" dirty="0"/>
          </a:p>
        </p:txBody>
      </p:sp>
      <p:sp>
        <p:nvSpPr>
          <p:cNvPr id="56" name="Shape 45"/>
          <p:cNvSpPr/>
          <p:nvPr/>
        </p:nvSpPr>
        <p:spPr>
          <a:xfrm>
            <a:off x="2103120" y="3364992"/>
            <a:ext cx="1463040" cy="0"/>
          </a:xfrm>
          <a:prstGeom prst="line">
            <a:avLst/>
          </a:prstGeom>
          <a:noFill/>
          <a:ln w="17780">
            <a:solidFill>
              <a:srgbClr val="F59E0B"/>
            </a:solidFill>
            <a:prstDash val="dash"/>
            <a:tailEnd type="arrow"/>
          </a:ln>
        </p:spPr>
        <p:txBody>
          <a:bodyPr/>
          <a:lstStyle/>
          <a:p>
            <a:endParaRPr lang="en-US"/>
          </a:p>
        </p:txBody>
      </p:sp>
      <p:sp>
        <p:nvSpPr>
          <p:cNvPr id="57" name="Text 46"/>
          <p:cNvSpPr/>
          <p:nvPr/>
        </p:nvSpPr>
        <p:spPr>
          <a:xfrm>
            <a:off x="2286000" y="3163824"/>
            <a:ext cx="1097280" cy="182880"/>
          </a:xfrm>
          <a:prstGeom prst="rect">
            <a:avLst/>
          </a:prstGeom>
          <a:noFill/>
          <a:ln/>
        </p:spPr>
        <p:txBody>
          <a:bodyPr wrap="square" rtlCol="0" anchor="ctr"/>
          <a:lstStyle/>
          <a:p>
            <a:pPr marL="0" indent="0" algn="ctr">
              <a:buNone/>
            </a:pPr>
            <a:r>
              <a:rPr lang="en-US" sz="800" dirty="0">
                <a:solidFill>
                  <a:srgbClr val="F59E0B"/>
                </a:solidFill>
                <a:latin typeface="Calibri" pitchFamily="34" charset="0"/>
                <a:ea typeface="Calibri" pitchFamily="34" charset="-122"/>
                <a:cs typeface="Calibri" pitchFamily="34" charset="-120"/>
              </a:rPr>
              <a:t>SDP</a:t>
            </a:r>
            <a:endParaRPr lang="en-US" sz="800" dirty="0"/>
          </a:p>
        </p:txBody>
      </p:sp>
      <p:sp>
        <p:nvSpPr>
          <p:cNvPr id="58" name="Text 47"/>
          <p:cNvSpPr/>
          <p:nvPr/>
        </p:nvSpPr>
        <p:spPr>
          <a:xfrm>
            <a:off x="3657600" y="1814730"/>
            <a:ext cx="3200400" cy="201168"/>
          </a:xfrm>
          <a:prstGeom prst="rect">
            <a:avLst/>
          </a:prstGeom>
          <a:noFill/>
          <a:ln/>
        </p:spPr>
        <p:txBody>
          <a:bodyPr wrap="square" rtlCol="0" anchor="ctr"/>
          <a:lstStyle/>
          <a:p>
            <a:pPr marL="0" indent="0">
              <a:buNone/>
            </a:pPr>
            <a:r>
              <a:rPr lang="en-US" sz="800" i="1" dirty="0">
                <a:solidFill>
                  <a:srgbClr val="8B5CF6"/>
                </a:solidFill>
                <a:latin typeface="Calibri" pitchFamily="34" charset="0"/>
                <a:ea typeface="Calibri" pitchFamily="34" charset="-122"/>
                <a:cs typeface="Calibri" pitchFamily="34" charset="-120"/>
              </a:rPr>
              <a:t>⟵  Realtime Events broadcasted directly to frontend clients</a:t>
            </a:r>
            <a:endParaRPr lang="en-US" sz="800" dirty="0"/>
          </a:p>
        </p:txBody>
      </p:sp>
      <p:sp>
        <p:nvSpPr>
          <p:cNvPr id="59" name="Text 48"/>
          <p:cNvSpPr/>
          <p:nvPr/>
        </p:nvSpPr>
        <p:spPr>
          <a:xfrm>
            <a:off x="182880" y="4773168"/>
            <a:ext cx="8778240" cy="201168"/>
          </a:xfrm>
          <a:prstGeom prst="rect">
            <a:avLst/>
          </a:prstGeom>
          <a:noFill/>
          <a:ln/>
        </p:spPr>
        <p:txBody>
          <a:bodyPr wrap="square" rtlCol="0" anchor="ctr"/>
          <a:lstStyle/>
          <a:p>
            <a:pPr marL="0" indent="0" algn="ctr">
              <a:buNone/>
            </a:pPr>
            <a:r>
              <a:rPr lang="en-US" sz="950" i="1" dirty="0">
                <a:solidFill>
                  <a:srgbClr val="F59E0B"/>
                </a:solidFill>
                <a:latin typeface="Calibri" pitchFamily="34" charset="0"/>
                <a:ea typeface="Calibri" pitchFamily="34" charset="-122"/>
                <a:cs typeface="Calibri" pitchFamily="34" charset="-120"/>
              </a:rPr>
              <a:t>WebRTC P2P media flows directly between browsers (no relay)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Authentication Flow</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How Google Sign-In becomes a secure server session — step by step</a:t>
            </a:r>
            <a:endParaRPr lang="en-US" sz="1300" dirty="0"/>
          </a:p>
        </p:txBody>
      </p:sp>
      <p:pic>
        <p:nvPicPr>
          <p:cNvPr id="5" name="Image 0" descr="preencoded.png"/>
          <p:cNvPicPr>
            <a:picLocks noChangeAspect="1"/>
          </p:cNvPicPr>
          <p:nvPr/>
        </p:nvPicPr>
        <p:blipFill>
          <a:blip r:embed="rId3"/>
          <a:stretch>
            <a:fillRect/>
          </a:stretch>
        </p:blipFill>
        <p:spPr>
          <a:xfrm>
            <a:off x="274320" y="1024128"/>
            <a:ext cx="4160520" cy="2615184"/>
          </a:xfrm>
          <a:prstGeom prst="rect">
            <a:avLst/>
          </a:prstGeom>
        </p:spPr>
      </p:pic>
      <p:pic>
        <p:nvPicPr>
          <p:cNvPr id="6" name="Image 1" descr="preencoded.png"/>
          <p:cNvPicPr>
            <a:picLocks noChangeAspect="1"/>
          </p:cNvPicPr>
          <p:nvPr/>
        </p:nvPicPr>
        <p:blipFill>
          <a:blip r:embed="rId4"/>
          <a:stretch>
            <a:fillRect/>
          </a:stretch>
        </p:blipFill>
        <p:spPr>
          <a:xfrm>
            <a:off x="320040" y="3749040"/>
            <a:ext cx="502920" cy="502920"/>
          </a:xfrm>
          <a:prstGeom prst="rect">
            <a:avLst/>
          </a:prstGeom>
        </p:spPr>
      </p:pic>
      <p:sp>
        <p:nvSpPr>
          <p:cNvPr id="7" name="Shape 3"/>
          <p:cNvSpPr/>
          <p:nvPr/>
        </p:nvSpPr>
        <p:spPr>
          <a:xfrm>
            <a:off x="4663440" y="1115568"/>
            <a:ext cx="402336" cy="402336"/>
          </a:xfrm>
          <a:prstGeom prst="ellipse">
            <a:avLst/>
          </a:prstGeom>
          <a:solidFill>
            <a:srgbClr val="F43F5E"/>
          </a:solidFill>
          <a:ln w="12700">
            <a:solidFill>
              <a:srgbClr val="F43F5E"/>
            </a:solidFill>
            <a:prstDash val="solid"/>
          </a:ln>
        </p:spPr>
        <p:txBody>
          <a:bodyPr/>
          <a:lstStyle/>
          <a:p>
            <a:endParaRPr lang="en-US"/>
          </a:p>
        </p:txBody>
      </p:sp>
      <p:sp>
        <p:nvSpPr>
          <p:cNvPr id="8" name="Text 4"/>
          <p:cNvSpPr/>
          <p:nvPr/>
        </p:nvSpPr>
        <p:spPr>
          <a:xfrm>
            <a:off x="4663440" y="1115568"/>
            <a:ext cx="402336" cy="402336"/>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5166360" y="1060704"/>
            <a:ext cx="3657600" cy="256032"/>
          </a:xfrm>
          <a:prstGeom prst="rect">
            <a:avLst/>
          </a:prstGeom>
          <a:noFill/>
          <a:ln/>
        </p:spPr>
        <p:txBody>
          <a:bodyPr wrap="square" lIns="0" tIns="0" rIns="0" bIns="0" rtlCol="0" anchor="ctr"/>
          <a:lstStyle/>
          <a:p>
            <a:pPr marL="0" indent="0">
              <a:buNone/>
            </a:pPr>
            <a:r>
              <a:rPr lang="en-US" sz="1150" b="1" dirty="0">
                <a:solidFill>
                  <a:srgbClr val="F43F5E"/>
                </a:solidFill>
                <a:latin typeface="Calibri" pitchFamily="34" charset="0"/>
                <a:ea typeface="Calibri" pitchFamily="34" charset="-122"/>
                <a:cs typeface="Calibri" pitchFamily="34" charset="-120"/>
              </a:rPr>
              <a:t>User clicks Google Sign-In</a:t>
            </a:r>
            <a:endParaRPr lang="en-US" sz="1150" dirty="0"/>
          </a:p>
        </p:txBody>
      </p:sp>
      <p:sp>
        <p:nvSpPr>
          <p:cNvPr id="10" name="Text 6"/>
          <p:cNvSpPr/>
          <p:nvPr/>
        </p:nvSpPr>
        <p:spPr>
          <a:xfrm>
            <a:off x="5166360" y="1316736"/>
            <a:ext cx="3657600" cy="43891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Firebase SDK opens Google OAuth popup/redirect. User authenticates with their Google account.</a:t>
            </a:r>
            <a:endParaRPr lang="en-US" sz="950" dirty="0"/>
          </a:p>
        </p:txBody>
      </p:sp>
      <p:sp>
        <p:nvSpPr>
          <p:cNvPr id="11" name="Shape 7"/>
          <p:cNvSpPr/>
          <p:nvPr/>
        </p:nvSpPr>
        <p:spPr>
          <a:xfrm>
            <a:off x="4663440" y="1920240"/>
            <a:ext cx="402336" cy="402336"/>
          </a:xfrm>
          <a:prstGeom prst="ellipse">
            <a:avLst/>
          </a:prstGeom>
          <a:solidFill>
            <a:srgbClr val="F59E0B"/>
          </a:solidFill>
          <a:ln w="12700">
            <a:solidFill>
              <a:srgbClr val="F59E0B"/>
            </a:solidFill>
            <a:prstDash val="solid"/>
          </a:ln>
        </p:spPr>
        <p:txBody>
          <a:bodyPr/>
          <a:lstStyle/>
          <a:p>
            <a:endParaRPr lang="en-US"/>
          </a:p>
        </p:txBody>
      </p:sp>
      <p:sp>
        <p:nvSpPr>
          <p:cNvPr id="12" name="Text 8"/>
          <p:cNvSpPr/>
          <p:nvPr/>
        </p:nvSpPr>
        <p:spPr>
          <a:xfrm>
            <a:off x="4663440" y="1920240"/>
            <a:ext cx="402336" cy="402336"/>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2</a:t>
            </a:r>
            <a:endParaRPr lang="en-US" sz="1300" dirty="0"/>
          </a:p>
        </p:txBody>
      </p:sp>
      <p:sp>
        <p:nvSpPr>
          <p:cNvPr id="13" name="Text 9"/>
          <p:cNvSpPr/>
          <p:nvPr/>
        </p:nvSpPr>
        <p:spPr>
          <a:xfrm>
            <a:off x="5166360" y="1865376"/>
            <a:ext cx="3657600" cy="256032"/>
          </a:xfrm>
          <a:prstGeom prst="rect">
            <a:avLst/>
          </a:prstGeom>
          <a:noFill/>
          <a:ln/>
        </p:spPr>
        <p:txBody>
          <a:bodyPr wrap="square" lIns="0" tIns="0" rIns="0" bIns="0"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Firebase issues ID Token (JWT)</a:t>
            </a:r>
            <a:endParaRPr lang="en-US" sz="1150" dirty="0"/>
          </a:p>
        </p:txBody>
      </p:sp>
      <p:sp>
        <p:nvSpPr>
          <p:cNvPr id="14" name="Text 10"/>
          <p:cNvSpPr/>
          <p:nvPr/>
        </p:nvSpPr>
        <p:spPr>
          <a:xfrm>
            <a:off x="5166360" y="2121408"/>
            <a:ext cx="3657600" cy="43891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On success, Firebase returns a signed JWT containing uid, email, expiry (1 hour). The token is cryptographically signed with Firebase's private key.</a:t>
            </a:r>
            <a:endParaRPr lang="en-US" sz="950" dirty="0"/>
          </a:p>
        </p:txBody>
      </p:sp>
      <p:sp>
        <p:nvSpPr>
          <p:cNvPr id="15" name="Shape 11"/>
          <p:cNvSpPr/>
          <p:nvPr/>
        </p:nvSpPr>
        <p:spPr>
          <a:xfrm>
            <a:off x="4663440" y="2724912"/>
            <a:ext cx="402336" cy="402336"/>
          </a:xfrm>
          <a:prstGeom prst="ellipse">
            <a:avLst/>
          </a:prstGeom>
          <a:solidFill>
            <a:srgbClr val="6366F1"/>
          </a:solidFill>
          <a:ln w="12700">
            <a:solidFill>
              <a:srgbClr val="6366F1"/>
            </a:solidFill>
            <a:prstDash val="solid"/>
          </a:ln>
        </p:spPr>
        <p:txBody>
          <a:bodyPr/>
          <a:lstStyle/>
          <a:p>
            <a:endParaRPr lang="en-US"/>
          </a:p>
        </p:txBody>
      </p:sp>
      <p:sp>
        <p:nvSpPr>
          <p:cNvPr id="16" name="Text 12"/>
          <p:cNvSpPr/>
          <p:nvPr/>
        </p:nvSpPr>
        <p:spPr>
          <a:xfrm>
            <a:off x="4663440" y="2724912"/>
            <a:ext cx="402336" cy="402336"/>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3</a:t>
            </a:r>
            <a:endParaRPr lang="en-US" sz="1300" dirty="0"/>
          </a:p>
        </p:txBody>
      </p:sp>
      <p:sp>
        <p:nvSpPr>
          <p:cNvPr id="17" name="Text 13"/>
          <p:cNvSpPr/>
          <p:nvPr/>
        </p:nvSpPr>
        <p:spPr>
          <a:xfrm>
            <a:off x="5166360" y="2670048"/>
            <a:ext cx="3657600" cy="256032"/>
          </a:xfrm>
          <a:prstGeom prst="rect">
            <a:avLst/>
          </a:prstGeom>
          <a:noFill/>
          <a:ln/>
        </p:spPr>
        <p:txBody>
          <a:bodyPr wrap="square" lIns="0" tIns="0" rIns="0" bIns="0" rtlCol="0" anchor="ctr"/>
          <a:lstStyle/>
          <a:p>
            <a:pPr marL="0" indent="0">
              <a:buNone/>
            </a:pPr>
            <a:r>
              <a:rPr lang="en-US" sz="1150" b="1" dirty="0">
                <a:solidFill>
                  <a:srgbClr val="6366F1"/>
                </a:solidFill>
                <a:latin typeface="Calibri" pitchFamily="34" charset="0"/>
                <a:ea typeface="Calibri" pitchFamily="34" charset="-122"/>
                <a:cs typeface="Calibri" pitchFamily="34" charset="-120"/>
              </a:rPr>
              <a:t>Frontend sends token to backend</a:t>
            </a:r>
            <a:endParaRPr lang="en-US" sz="1150" dirty="0"/>
          </a:p>
        </p:txBody>
      </p:sp>
      <p:sp>
        <p:nvSpPr>
          <p:cNvPr id="18" name="Text 14"/>
          <p:cNvSpPr/>
          <p:nvPr/>
        </p:nvSpPr>
        <p:spPr>
          <a:xfrm>
            <a:off x="5166360" y="2926080"/>
            <a:ext cx="3657600" cy="43891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POST /api/auth/verify with Authorization: Bearer &lt;jwt&gt;. The Axios interceptor auto-attaches this header on every subsequent request.</a:t>
            </a:r>
            <a:endParaRPr lang="en-US" sz="950" dirty="0"/>
          </a:p>
        </p:txBody>
      </p:sp>
      <p:sp>
        <p:nvSpPr>
          <p:cNvPr id="19" name="Shape 15"/>
          <p:cNvSpPr/>
          <p:nvPr/>
        </p:nvSpPr>
        <p:spPr>
          <a:xfrm>
            <a:off x="4663440" y="3529584"/>
            <a:ext cx="402336" cy="402336"/>
          </a:xfrm>
          <a:prstGeom prst="ellipse">
            <a:avLst/>
          </a:prstGeom>
          <a:solidFill>
            <a:srgbClr val="8B5CF6"/>
          </a:solidFill>
          <a:ln w="12700">
            <a:solidFill>
              <a:srgbClr val="8B5CF6"/>
            </a:solidFill>
            <a:prstDash val="solid"/>
          </a:ln>
        </p:spPr>
        <p:txBody>
          <a:bodyPr/>
          <a:lstStyle/>
          <a:p>
            <a:endParaRPr lang="en-US"/>
          </a:p>
        </p:txBody>
      </p:sp>
      <p:sp>
        <p:nvSpPr>
          <p:cNvPr id="20" name="Text 16"/>
          <p:cNvSpPr/>
          <p:nvPr/>
        </p:nvSpPr>
        <p:spPr>
          <a:xfrm>
            <a:off x="4663440" y="3529584"/>
            <a:ext cx="402336" cy="402336"/>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4</a:t>
            </a:r>
            <a:endParaRPr lang="en-US" sz="1300" dirty="0"/>
          </a:p>
        </p:txBody>
      </p:sp>
      <p:sp>
        <p:nvSpPr>
          <p:cNvPr id="21" name="Text 17"/>
          <p:cNvSpPr/>
          <p:nvPr/>
        </p:nvSpPr>
        <p:spPr>
          <a:xfrm>
            <a:off x="5166360" y="3474720"/>
            <a:ext cx="3657600" cy="256032"/>
          </a:xfrm>
          <a:prstGeom prst="rect">
            <a:avLst/>
          </a:prstGeom>
          <a:noFill/>
          <a:ln/>
        </p:spPr>
        <p:txBody>
          <a:bodyPr wrap="square" lIns="0" tIns="0" rIns="0" bIns="0" rtlCol="0" anchor="ctr"/>
          <a:lstStyle/>
          <a:p>
            <a:pPr marL="0" indent="0">
              <a:buNone/>
            </a:pPr>
            <a:r>
              <a:rPr lang="en-US" sz="1150" b="1" dirty="0">
                <a:solidFill>
                  <a:srgbClr val="8B5CF6"/>
                </a:solidFill>
                <a:latin typeface="Calibri" pitchFamily="34" charset="0"/>
                <a:ea typeface="Calibri" pitchFamily="34" charset="-122"/>
                <a:cs typeface="Calibri" pitchFamily="34" charset="-120"/>
              </a:rPr>
              <a:t>Backend verifies with Admin SDK</a:t>
            </a:r>
            <a:endParaRPr lang="en-US" sz="1150" dirty="0"/>
          </a:p>
        </p:txBody>
      </p:sp>
      <p:sp>
        <p:nvSpPr>
          <p:cNvPr id="22" name="Text 18"/>
          <p:cNvSpPr/>
          <p:nvPr/>
        </p:nvSpPr>
        <p:spPr>
          <a:xfrm>
            <a:off x="5166360" y="3730752"/>
            <a:ext cx="3657600" cy="43891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admin.auth().verifyIdToken() checks signature, expiry, and issuer without any network call (uses cached public key). Returns decoded uid.</a:t>
            </a:r>
            <a:endParaRPr lang="en-US" sz="950" dirty="0"/>
          </a:p>
        </p:txBody>
      </p:sp>
      <p:sp>
        <p:nvSpPr>
          <p:cNvPr id="23" name="Shape 19"/>
          <p:cNvSpPr/>
          <p:nvPr/>
        </p:nvSpPr>
        <p:spPr>
          <a:xfrm>
            <a:off x="4663440" y="4334256"/>
            <a:ext cx="402336" cy="402336"/>
          </a:xfrm>
          <a:prstGeom prst="ellipse">
            <a:avLst/>
          </a:prstGeom>
          <a:solidFill>
            <a:srgbClr val="10B981"/>
          </a:solidFill>
          <a:ln w="12700">
            <a:solidFill>
              <a:srgbClr val="10B981"/>
            </a:solidFill>
            <a:prstDash val="solid"/>
          </a:ln>
        </p:spPr>
        <p:txBody>
          <a:bodyPr/>
          <a:lstStyle/>
          <a:p>
            <a:endParaRPr lang="en-US"/>
          </a:p>
        </p:txBody>
      </p:sp>
      <p:sp>
        <p:nvSpPr>
          <p:cNvPr id="24" name="Text 20"/>
          <p:cNvSpPr/>
          <p:nvPr/>
        </p:nvSpPr>
        <p:spPr>
          <a:xfrm>
            <a:off x="4663440" y="4334256"/>
            <a:ext cx="402336" cy="402336"/>
          </a:xfrm>
          <a:prstGeom prst="rect">
            <a:avLst/>
          </a:prstGeom>
          <a:noFill/>
          <a:ln/>
        </p:spPr>
        <p:txBody>
          <a:bodyPr wrap="square"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5</a:t>
            </a:r>
            <a:endParaRPr lang="en-US" sz="1300" dirty="0"/>
          </a:p>
        </p:txBody>
      </p:sp>
      <p:sp>
        <p:nvSpPr>
          <p:cNvPr id="25" name="Text 21"/>
          <p:cNvSpPr/>
          <p:nvPr/>
        </p:nvSpPr>
        <p:spPr>
          <a:xfrm>
            <a:off x="5166360" y="4279392"/>
            <a:ext cx="3657600" cy="256032"/>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User profile created / fetched</a:t>
            </a:r>
            <a:endParaRPr lang="en-US" sz="1150" dirty="0"/>
          </a:p>
        </p:txBody>
      </p:sp>
      <p:sp>
        <p:nvSpPr>
          <p:cNvPr id="26" name="Text 22"/>
          <p:cNvSpPr/>
          <p:nvPr/>
        </p:nvSpPr>
        <p:spPr>
          <a:xfrm>
            <a:off x="5166360" y="4535424"/>
            <a:ext cx="3657600" cy="43891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Backend queries Supabase profiles table by uid. If new user → INSERT row. Returns profile data to frontend for storage in AuthContext.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Frontend Architecture</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React 19 SPA — folder structure, contexts, custom hooks, services &amp; routing</a:t>
            </a:r>
            <a:endParaRPr lang="en-US" sz="1300" dirty="0"/>
          </a:p>
        </p:txBody>
      </p:sp>
      <p:sp>
        <p:nvSpPr>
          <p:cNvPr id="5" name="Shape 3"/>
          <p:cNvSpPr/>
          <p:nvPr/>
        </p:nvSpPr>
        <p:spPr>
          <a:xfrm>
            <a:off x="256032" y="969264"/>
            <a:ext cx="3017520" cy="4041648"/>
          </a:xfrm>
          <a:prstGeom prst="rect">
            <a:avLst/>
          </a:prstGeom>
          <a:solidFill>
            <a:srgbClr val="161B22"/>
          </a:solidFill>
          <a:ln w="1016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347472" y="1005840"/>
            <a:ext cx="347472" cy="347472"/>
          </a:xfrm>
          <a:prstGeom prst="rect">
            <a:avLst/>
          </a:prstGeom>
        </p:spPr>
      </p:pic>
      <p:sp>
        <p:nvSpPr>
          <p:cNvPr id="7" name="Text 4"/>
          <p:cNvSpPr/>
          <p:nvPr/>
        </p:nvSpPr>
        <p:spPr>
          <a:xfrm>
            <a:off x="749808" y="1024128"/>
            <a:ext cx="2377440" cy="292608"/>
          </a:xfrm>
          <a:prstGeom prst="rect">
            <a:avLst/>
          </a:prstGeom>
          <a:noFill/>
          <a:ln/>
        </p:spPr>
        <p:txBody>
          <a:bodyPr wrap="square" lIns="0" tIns="0" rIns="0" bIns="0"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Project Structure</a:t>
            </a:r>
            <a:endParaRPr lang="en-US" sz="1300" dirty="0"/>
          </a:p>
        </p:txBody>
      </p:sp>
      <p:sp>
        <p:nvSpPr>
          <p:cNvPr id="8" name="Text 5"/>
          <p:cNvSpPr/>
          <p:nvPr/>
        </p:nvSpPr>
        <p:spPr>
          <a:xfrm>
            <a:off x="347472" y="1417320"/>
            <a:ext cx="2743200" cy="173736"/>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src/</a:t>
            </a:r>
            <a:endParaRPr lang="en-US" sz="900" dirty="0"/>
          </a:p>
        </p:txBody>
      </p:sp>
      <p:sp>
        <p:nvSpPr>
          <p:cNvPr id="9" name="Text 6"/>
          <p:cNvSpPr/>
          <p:nvPr/>
        </p:nvSpPr>
        <p:spPr>
          <a:xfrm>
            <a:off x="457200" y="1581912"/>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App.jsx</a:t>
            </a:r>
            <a:endParaRPr lang="en-US" sz="900" dirty="0"/>
          </a:p>
        </p:txBody>
      </p:sp>
      <p:sp>
        <p:nvSpPr>
          <p:cNvPr id="10" name="Text 7"/>
          <p:cNvSpPr/>
          <p:nvPr/>
        </p:nvSpPr>
        <p:spPr>
          <a:xfrm>
            <a:off x="457200" y="1746504"/>
            <a:ext cx="2743200" cy="173736"/>
          </a:xfrm>
          <a:prstGeom prst="rect">
            <a:avLst/>
          </a:prstGeom>
          <a:noFill/>
          <a:ln/>
        </p:spPr>
        <p:txBody>
          <a:bodyPr wrap="square" lIns="0" tIns="0" rIns="0" bIns="0" rtlCol="0" anchor="ctr"/>
          <a:lstStyle/>
          <a:p>
            <a:pPr marL="0" indent="0">
              <a:buNone/>
            </a:pPr>
            <a:r>
              <a:rPr lang="en-US" sz="900" dirty="0">
                <a:solidFill>
                  <a:srgbClr val="F59E0B"/>
                </a:solidFill>
                <a:latin typeface="Consolas" pitchFamily="34" charset="0"/>
                <a:ea typeface="Consolas" pitchFamily="34" charset="-122"/>
                <a:cs typeface="Consolas" pitchFamily="34" charset="-120"/>
              </a:rPr>
              <a:t>├── context/</a:t>
            </a:r>
            <a:endParaRPr lang="en-US" sz="900" dirty="0"/>
          </a:p>
        </p:txBody>
      </p:sp>
      <p:sp>
        <p:nvSpPr>
          <p:cNvPr id="11" name="Text 8"/>
          <p:cNvSpPr/>
          <p:nvPr/>
        </p:nvSpPr>
        <p:spPr>
          <a:xfrm>
            <a:off x="566928" y="1911096"/>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 AuthContext.jsx</a:t>
            </a:r>
            <a:endParaRPr lang="en-US" sz="900" dirty="0"/>
          </a:p>
        </p:txBody>
      </p:sp>
      <p:sp>
        <p:nvSpPr>
          <p:cNvPr id="12" name="Text 9"/>
          <p:cNvSpPr/>
          <p:nvPr/>
        </p:nvSpPr>
        <p:spPr>
          <a:xfrm>
            <a:off x="566928" y="2075688"/>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 CallContext.jsx</a:t>
            </a:r>
            <a:endParaRPr lang="en-US" sz="900" dirty="0"/>
          </a:p>
        </p:txBody>
      </p:sp>
      <p:sp>
        <p:nvSpPr>
          <p:cNvPr id="13" name="Text 10"/>
          <p:cNvSpPr/>
          <p:nvPr/>
        </p:nvSpPr>
        <p:spPr>
          <a:xfrm>
            <a:off x="457200" y="2240280"/>
            <a:ext cx="2743200" cy="173736"/>
          </a:xfrm>
          <a:prstGeom prst="rect">
            <a:avLst/>
          </a:prstGeom>
          <a:noFill/>
          <a:ln/>
        </p:spPr>
        <p:txBody>
          <a:bodyPr wrap="square" lIns="0" tIns="0" rIns="0" bIns="0" rtlCol="0" anchor="ctr"/>
          <a:lstStyle/>
          <a:p>
            <a:pPr marL="0" indent="0">
              <a:buNone/>
            </a:pPr>
            <a:r>
              <a:rPr lang="en-US" sz="900" dirty="0">
                <a:solidFill>
                  <a:srgbClr val="6366F1"/>
                </a:solidFill>
                <a:latin typeface="Consolas" pitchFamily="34" charset="0"/>
                <a:ea typeface="Consolas" pitchFamily="34" charset="-122"/>
                <a:cs typeface="Consolas" pitchFamily="34" charset="-120"/>
              </a:rPr>
              <a:t>├── features/</a:t>
            </a:r>
            <a:endParaRPr lang="en-US" sz="900" dirty="0"/>
          </a:p>
        </p:txBody>
      </p:sp>
      <p:sp>
        <p:nvSpPr>
          <p:cNvPr id="14" name="Text 11"/>
          <p:cNvSpPr/>
          <p:nvPr/>
        </p:nvSpPr>
        <p:spPr>
          <a:xfrm>
            <a:off x="566928" y="2404872"/>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 auth/</a:t>
            </a:r>
            <a:endParaRPr lang="en-US" sz="900" dirty="0"/>
          </a:p>
        </p:txBody>
      </p:sp>
      <p:sp>
        <p:nvSpPr>
          <p:cNvPr id="15" name="Text 12"/>
          <p:cNvSpPr/>
          <p:nvPr/>
        </p:nvSpPr>
        <p:spPr>
          <a:xfrm>
            <a:off x="676656" y="2569464"/>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   ├── LoginPage</a:t>
            </a:r>
            <a:endParaRPr lang="en-US" sz="900" dirty="0"/>
          </a:p>
        </p:txBody>
      </p:sp>
      <p:sp>
        <p:nvSpPr>
          <p:cNvPr id="16" name="Text 13"/>
          <p:cNvSpPr/>
          <p:nvPr/>
        </p:nvSpPr>
        <p:spPr>
          <a:xfrm>
            <a:off x="676656" y="2734056"/>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   └── ProfileSetup</a:t>
            </a:r>
            <a:endParaRPr lang="en-US" sz="900" dirty="0"/>
          </a:p>
        </p:txBody>
      </p:sp>
      <p:sp>
        <p:nvSpPr>
          <p:cNvPr id="17" name="Text 14"/>
          <p:cNvSpPr/>
          <p:nvPr/>
        </p:nvSpPr>
        <p:spPr>
          <a:xfrm>
            <a:off x="566928" y="2898648"/>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 chat/</a:t>
            </a:r>
            <a:endParaRPr lang="en-US" sz="900" dirty="0"/>
          </a:p>
        </p:txBody>
      </p:sp>
      <p:sp>
        <p:nvSpPr>
          <p:cNvPr id="18" name="Text 15"/>
          <p:cNvSpPr/>
          <p:nvPr/>
        </p:nvSpPr>
        <p:spPr>
          <a:xfrm>
            <a:off x="676656" y="3063240"/>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   ├── ChatLayout</a:t>
            </a:r>
            <a:endParaRPr lang="en-US" sz="900" dirty="0"/>
          </a:p>
        </p:txBody>
      </p:sp>
      <p:sp>
        <p:nvSpPr>
          <p:cNvPr id="19" name="Text 16"/>
          <p:cNvSpPr/>
          <p:nvPr/>
        </p:nvSpPr>
        <p:spPr>
          <a:xfrm>
            <a:off x="676656" y="3227832"/>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   ├── ChatWindow</a:t>
            </a:r>
            <a:endParaRPr lang="en-US" sz="900" dirty="0"/>
          </a:p>
        </p:txBody>
      </p:sp>
      <p:sp>
        <p:nvSpPr>
          <p:cNvPr id="20" name="Text 17"/>
          <p:cNvSpPr/>
          <p:nvPr/>
        </p:nvSpPr>
        <p:spPr>
          <a:xfrm>
            <a:off x="676656" y="3392424"/>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   └── Sidebar</a:t>
            </a:r>
            <a:endParaRPr lang="en-US" sz="900" dirty="0"/>
          </a:p>
        </p:txBody>
      </p:sp>
      <p:sp>
        <p:nvSpPr>
          <p:cNvPr id="21" name="Text 18"/>
          <p:cNvSpPr/>
          <p:nvPr/>
        </p:nvSpPr>
        <p:spPr>
          <a:xfrm>
            <a:off x="566928" y="3557016"/>
            <a:ext cx="2743200" cy="173736"/>
          </a:xfrm>
          <a:prstGeom prst="rect">
            <a:avLst/>
          </a:prstGeom>
          <a:noFill/>
          <a:ln/>
        </p:spPr>
        <p:txBody>
          <a:bodyPr wrap="square" lIns="0" tIns="0" rIns="0" bIns="0" rtlCol="0" anchor="ctr"/>
          <a:lstStyle/>
          <a:p>
            <a:pPr marL="0" indent="0">
              <a:buNone/>
            </a:pPr>
            <a:r>
              <a:rPr lang="en-US" sz="900" dirty="0">
                <a:solidFill>
                  <a:srgbClr val="8B949E"/>
                </a:solidFill>
                <a:latin typeface="Consolas" pitchFamily="34" charset="0"/>
                <a:ea typeface="Consolas" pitchFamily="34" charset="-122"/>
                <a:cs typeface="Consolas" pitchFamily="34" charset="-120"/>
              </a:rPr>
              <a:t>│   └── call/</a:t>
            </a:r>
            <a:endParaRPr lang="en-US" sz="900" dirty="0"/>
          </a:p>
        </p:txBody>
      </p:sp>
      <p:sp>
        <p:nvSpPr>
          <p:cNvPr id="22" name="Text 19"/>
          <p:cNvSpPr/>
          <p:nvPr/>
        </p:nvSpPr>
        <p:spPr>
          <a:xfrm>
            <a:off x="457200" y="3721608"/>
            <a:ext cx="2743200" cy="173736"/>
          </a:xfrm>
          <a:prstGeom prst="rect">
            <a:avLst/>
          </a:prstGeom>
          <a:noFill/>
          <a:ln/>
        </p:spPr>
        <p:txBody>
          <a:bodyPr wrap="square" lIns="0" tIns="0" rIns="0" bIns="0" rtlCol="0" anchor="ctr"/>
          <a:lstStyle/>
          <a:p>
            <a:pPr marL="0" indent="0">
              <a:buNone/>
            </a:pPr>
            <a:r>
              <a:rPr lang="en-US" sz="900" dirty="0">
                <a:solidFill>
                  <a:srgbClr val="8B5CF6"/>
                </a:solidFill>
                <a:latin typeface="Consolas" pitchFamily="34" charset="0"/>
                <a:ea typeface="Consolas" pitchFamily="34" charset="-122"/>
                <a:cs typeface="Consolas" pitchFamily="34" charset="-120"/>
              </a:rPr>
              <a:t>├── hooks/ (3 hooks)</a:t>
            </a:r>
            <a:endParaRPr lang="en-US" sz="900" dirty="0"/>
          </a:p>
        </p:txBody>
      </p:sp>
      <p:sp>
        <p:nvSpPr>
          <p:cNvPr id="23" name="Text 20"/>
          <p:cNvSpPr/>
          <p:nvPr/>
        </p:nvSpPr>
        <p:spPr>
          <a:xfrm>
            <a:off x="457200" y="3886200"/>
            <a:ext cx="2743200" cy="173736"/>
          </a:xfrm>
          <a:prstGeom prst="rect">
            <a:avLst/>
          </a:prstGeom>
          <a:noFill/>
          <a:ln/>
        </p:spPr>
        <p:txBody>
          <a:bodyPr wrap="square" lIns="0" tIns="0" rIns="0" bIns="0" rtlCol="0" anchor="ctr"/>
          <a:lstStyle/>
          <a:p>
            <a:pPr marL="0" indent="0">
              <a:buNone/>
            </a:pPr>
            <a:r>
              <a:rPr lang="en-US" sz="900" dirty="0">
                <a:solidFill>
                  <a:srgbClr val="10B981"/>
                </a:solidFill>
                <a:latin typeface="Consolas" pitchFamily="34" charset="0"/>
                <a:ea typeface="Consolas" pitchFamily="34" charset="-122"/>
                <a:cs typeface="Consolas" pitchFamily="34" charset="-120"/>
              </a:rPr>
              <a:t>├── services/ (3 files)</a:t>
            </a:r>
            <a:endParaRPr lang="en-US" sz="900" dirty="0"/>
          </a:p>
        </p:txBody>
      </p:sp>
      <p:sp>
        <p:nvSpPr>
          <p:cNvPr id="24" name="Text 21"/>
          <p:cNvSpPr/>
          <p:nvPr/>
        </p:nvSpPr>
        <p:spPr>
          <a:xfrm>
            <a:off x="457200" y="4050792"/>
            <a:ext cx="2743200" cy="173736"/>
          </a:xfrm>
          <a:prstGeom prst="rect">
            <a:avLst/>
          </a:prstGeom>
          <a:noFill/>
          <a:ln/>
        </p:spPr>
        <p:txBody>
          <a:bodyPr wrap="square" lIns="0" tIns="0" rIns="0" bIns="0" rtlCol="0" anchor="ctr"/>
          <a:lstStyle/>
          <a:p>
            <a:pPr marL="0" indent="0">
              <a:buNone/>
            </a:pPr>
            <a:r>
              <a:rPr lang="en-US" sz="900" dirty="0">
                <a:solidFill>
                  <a:srgbClr val="F43F5E"/>
                </a:solidFill>
                <a:latin typeface="Consolas" pitchFamily="34" charset="0"/>
                <a:ea typeface="Consolas" pitchFamily="34" charset="-122"/>
                <a:cs typeface="Consolas" pitchFamily="34" charset="-120"/>
              </a:rPr>
              <a:t>└── styles/ (4 CSS)</a:t>
            </a:r>
            <a:endParaRPr lang="en-US" sz="900" dirty="0"/>
          </a:p>
        </p:txBody>
      </p:sp>
      <p:sp>
        <p:nvSpPr>
          <p:cNvPr id="25" name="Shape 22"/>
          <p:cNvSpPr/>
          <p:nvPr/>
        </p:nvSpPr>
        <p:spPr>
          <a:xfrm>
            <a:off x="3456432" y="969264"/>
            <a:ext cx="5413248" cy="749808"/>
          </a:xfrm>
          <a:prstGeom prst="rect">
            <a:avLst/>
          </a:prstGeom>
          <a:solidFill>
            <a:srgbClr val="161B22"/>
          </a:solidFill>
          <a:ln w="8890">
            <a:solidFill>
              <a:srgbClr val="F59E0B"/>
            </a:solidFill>
            <a:prstDash val="solid"/>
          </a:ln>
          <a:effectLst>
            <a:outerShdw blurRad="101600" dist="25400" dir="8100000" algn="bl" rotWithShape="0">
              <a:srgbClr val="000000">
                <a:alpha val="28000"/>
              </a:srgbClr>
            </a:outerShdw>
          </a:effectLst>
        </p:spPr>
        <p:txBody>
          <a:bodyPr/>
          <a:lstStyle/>
          <a:p>
            <a:endParaRPr lang="en-US"/>
          </a:p>
        </p:txBody>
      </p:sp>
      <p:sp>
        <p:nvSpPr>
          <p:cNvPr id="26" name="Shape 23"/>
          <p:cNvSpPr/>
          <p:nvPr/>
        </p:nvSpPr>
        <p:spPr>
          <a:xfrm>
            <a:off x="3456432" y="969264"/>
            <a:ext cx="50292" cy="749808"/>
          </a:xfrm>
          <a:prstGeom prst="rect">
            <a:avLst/>
          </a:prstGeom>
          <a:solidFill>
            <a:srgbClr val="F59E0B"/>
          </a:solidFill>
          <a:ln w="12700">
            <a:solidFill>
              <a:srgbClr val="F59E0B"/>
            </a:solidFill>
            <a:prstDash val="solid"/>
          </a:ln>
        </p:spPr>
        <p:txBody>
          <a:bodyPr/>
          <a:lstStyle/>
          <a:p>
            <a:endParaRPr lang="en-US"/>
          </a:p>
        </p:txBody>
      </p:sp>
      <p:pic>
        <p:nvPicPr>
          <p:cNvPr id="27" name="Image 1" descr="preencoded.png"/>
          <p:cNvPicPr>
            <a:picLocks noChangeAspect="1"/>
          </p:cNvPicPr>
          <p:nvPr/>
        </p:nvPicPr>
        <p:blipFill>
          <a:blip r:embed="rId4"/>
          <a:stretch>
            <a:fillRect/>
          </a:stretch>
        </p:blipFill>
        <p:spPr>
          <a:xfrm>
            <a:off x="3547872" y="1042416"/>
            <a:ext cx="347472" cy="347472"/>
          </a:xfrm>
          <a:prstGeom prst="rect">
            <a:avLst/>
          </a:prstGeom>
        </p:spPr>
      </p:pic>
      <p:sp>
        <p:nvSpPr>
          <p:cNvPr id="28" name="Text 24"/>
          <p:cNvSpPr/>
          <p:nvPr/>
        </p:nvSpPr>
        <p:spPr>
          <a:xfrm>
            <a:off x="3977640" y="1024128"/>
            <a:ext cx="4846320" cy="25603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AuthContext.jsx</a:t>
            </a:r>
            <a:endParaRPr lang="en-US" sz="1200" dirty="0"/>
          </a:p>
        </p:txBody>
      </p:sp>
      <p:sp>
        <p:nvSpPr>
          <p:cNvPr id="29" name="Text 25"/>
          <p:cNvSpPr/>
          <p:nvPr/>
        </p:nvSpPr>
        <p:spPr>
          <a:xfrm>
            <a:off x="3977640" y="1280160"/>
            <a:ext cx="484632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Holds user, profile, JWT token, isNewUser flag. Wraps entire app. On mount, listens to Firebase onAuthStateChanged. Redirects to /profile-setup for new users.</a:t>
            </a:r>
            <a:endParaRPr lang="en-US" sz="950" dirty="0"/>
          </a:p>
        </p:txBody>
      </p:sp>
      <p:sp>
        <p:nvSpPr>
          <p:cNvPr id="30" name="Shape 26"/>
          <p:cNvSpPr/>
          <p:nvPr/>
        </p:nvSpPr>
        <p:spPr>
          <a:xfrm>
            <a:off x="3456432" y="1792224"/>
            <a:ext cx="5413248" cy="749808"/>
          </a:xfrm>
          <a:prstGeom prst="rect">
            <a:avLst/>
          </a:prstGeom>
          <a:solidFill>
            <a:srgbClr val="161B22"/>
          </a:solidFill>
          <a:ln w="8890">
            <a:solidFill>
              <a:srgbClr val="F43F5E"/>
            </a:solidFill>
            <a:prstDash val="solid"/>
          </a:ln>
          <a:effectLst>
            <a:outerShdw blurRad="101600" dist="25400" dir="8100000" algn="bl" rotWithShape="0">
              <a:srgbClr val="000000">
                <a:alpha val="28000"/>
              </a:srgbClr>
            </a:outerShdw>
          </a:effectLst>
        </p:spPr>
        <p:txBody>
          <a:bodyPr/>
          <a:lstStyle/>
          <a:p>
            <a:endParaRPr lang="en-US"/>
          </a:p>
        </p:txBody>
      </p:sp>
      <p:sp>
        <p:nvSpPr>
          <p:cNvPr id="31" name="Shape 27"/>
          <p:cNvSpPr/>
          <p:nvPr/>
        </p:nvSpPr>
        <p:spPr>
          <a:xfrm>
            <a:off x="3456432" y="1792224"/>
            <a:ext cx="50292" cy="749808"/>
          </a:xfrm>
          <a:prstGeom prst="rect">
            <a:avLst/>
          </a:prstGeom>
          <a:solidFill>
            <a:srgbClr val="F43F5E"/>
          </a:solidFill>
          <a:ln w="12700">
            <a:solidFill>
              <a:srgbClr val="F43F5E"/>
            </a:solidFill>
            <a:prstDash val="solid"/>
          </a:ln>
        </p:spPr>
        <p:txBody>
          <a:bodyPr/>
          <a:lstStyle/>
          <a:p>
            <a:endParaRPr lang="en-US"/>
          </a:p>
        </p:txBody>
      </p:sp>
      <p:pic>
        <p:nvPicPr>
          <p:cNvPr id="32" name="Image 2" descr="preencoded.png"/>
          <p:cNvPicPr>
            <a:picLocks noChangeAspect="1"/>
          </p:cNvPicPr>
          <p:nvPr/>
        </p:nvPicPr>
        <p:blipFill>
          <a:blip r:embed="rId5"/>
          <a:stretch>
            <a:fillRect/>
          </a:stretch>
        </p:blipFill>
        <p:spPr>
          <a:xfrm>
            <a:off x="3547872" y="1865376"/>
            <a:ext cx="347472" cy="347472"/>
          </a:xfrm>
          <a:prstGeom prst="rect">
            <a:avLst/>
          </a:prstGeom>
        </p:spPr>
      </p:pic>
      <p:sp>
        <p:nvSpPr>
          <p:cNvPr id="33" name="Text 28"/>
          <p:cNvSpPr/>
          <p:nvPr/>
        </p:nvSpPr>
        <p:spPr>
          <a:xfrm>
            <a:off x="3977640" y="1847088"/>
            <a:ext cx="4846320" cy="256032"/>
          </a:xfrm>
          <a:prstGeom prst="rect">
            <a:avLst/>
          </a:prstGeom>
          <a:noFill/>
          <a:ln/>
        </p:spPr>
        <p:txBody>
          <a:bodyPr wrap="square" lIns="0" tIns="0" rIns="0" bIns="0" rtlCol="0" anchor="ctr"/>
          <a:lstStyle/>
          <a:p>
            <a:pPr marL="0" indent="0">
              <a:buNone/>
            </a:pPr>
            <a:r>
              <a:rPr lang="en-US" sz="1200" b="1" dirty="0">
                <a:solidFill>
                  <a:srgbClr val="F43F5E"/>
                </a:solidFill>
                <a:latin typeface="Calibri" pitchFamily="34" charset="0"/>
                <a:ea typeface="Calibri" pitchFamily="34" charset="-122"/>
                <a:cs typeface="Calibri" pitchFamily="34" charset="-120"/>
              </a:rPr>
              <a:t>CallContext.jsx</a:t>
            </a:r>
            <a:endParaRPr lang="en-US" sz="1200" dirty="0"/>
          </a:p>
        </p:txBody>
      </p:sp>
      <p:sp>
        <p:nvSpPr>
          <p:cNvPr id="34" name="Text 29"/>
          <p:cNvSpPr/>
          <p:nvPr/>
        </p:nvSpPr>
        <p:spPr>
          <a:xfrm>
            <a:off x="3977640" y="2103120"/>
            <a:ext cx="484632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Full WebRTC state machine: idle→calling→ringing→connected→ended. Manages RTCPeerConnection, local/remote streams, ICE candidates, and mute/camera toggles via useRef.</a:t>
            </a:r>
            <a:endParaRPr lang="en-US" sz="950" dirty="0"/>
          </a:p>
        </p:txBody>
      </p:sp>
      <p:sp>
        <p:nvSpPr>
          <p:cNvPr id="35" name="Shape 30"/>
          <p:cNvSpPr/>
          <p:nvPr/>
        </p:nvSpPr>
        <p:spPr>
          <a:xfrm>
            <a:off x="3456432" y="2615184"/>
            <a:ext cx="5413248" cy="749808"/>
          </a:xfrm>
          <a:prstGeom prst="rect">
            <a:avLst/>
          </a:prstGeom>
          <a:solidFill>
            <a:srgbClr val="161B22"/>
          </a:solidFill>
          <a:ln w="889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sp>
        <p:nvSpPr>
          <p:cNvPr id="36" name="Shape 31"/>
          <p:cNvSpPr/>
          <p:nvPr/>
        </p:nvSpPr>
        <p:spPr>
          <a:xfrm>
            <a:off x="3456432" y="2615184"/>
            <a:ext cx="50292" cy="749808"/>
          </a:xfrm>
          <a:prstGeom prst="rect">
            <a:avLst/>
          </a:prstGeom>
          <a:solidFill>
            <a:srgbClr val="8B5CF6"/>
          </a:solidFill>
          <a:ln w="12700">
            <a:solidFill>
              <a:srgbClr val="8B5CF6"/>
            </a:solidFill>
            <a:prstDash val="solid"/>
          </a:ln>
        </p:spPr>
        <p:txBody>
          <a:bodyPr/>
          <a:lstStyle/>
          <a:p>
            <a:endParaRPr lang="en-US"/>
          </a:p>
        </p:txBody>
      </p:sp>
      <p:pic>
        <p:nvPicPr>
          <p:cNvPr id="37" name="Image 3" descr="preencoded.png"/>
          <p:cNvPicPr>
            <a:picLocks noChangeAspect="1"/>
          </p:cNvPicPr>
          <p:nvPr/>
        </p:nvPicPr>
        <p:blipFill>
          <a:blip r:embed="rId6"/>
          <a:stretch>
            <a:fillRect/>
          </a:stretch>
        </p:blipFill>
        <p:spPr>
          <a:xfrm>
            <a:off x="3547872" y="2688336"/>
            <a:ext cx="347472" cy="347472"/>
          </a:xfrm>
          <a:prstGeom prst="rect">
            <a:avLst/>
          </a:prstGeom>
        </p:spPr>
      </p:pic>
      <p:sp>
        <p:nvSpPr>
          <p:cNvPr id="38" name="Text 32"/>
          <p:cNvSpPr/>
          <p:nvPr/>
        </p:nvSpPr>
        <p:spPr>
          <a:xfrm>
            <a:off x="3977640" y="2670048"/>
            <a:ext cx="4846320" cy="256032"/>
          </a:xfrm>
          <a:prstGeom prst="rect">
            <a:avLst/>
          </a:prstGeom>
          <a:noFill/>
          <a:ln/>
        </p:spPr>
        <p:txBody>
          <a:bodyPr wrap="square" lIns="0" tIns="0" rIns="0" bIns="0"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useMessages Hook</a:t>
            </a:r>
            <a:endParaRPr lang="en-US" sz="1200" dirty="0"/>
          </a:p>
        </p:txBody>
      </p:sp>
      <p:sp>
        <p:nvSpPr>
          <p:cNvPr id="39" name="Text 33"/>
          <p:cNvSpPr/>
          <p:nvPr/>
        </p:nvSpPr>
        <p:spPr>
          <a:xfrm>
            <a:off x="3977640" y="2926080"/>
            <a:ext cx="484632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Subscribes to Supabase channel for message INSERT/UPDATE events in a conversation. Fetches history on mount. Keeps component (ChatWindow) free of subscription logic.</a:t>
            </a:r>
            <a:endParaRPr lang="en-US" sz="950" dirty="0"/>
          </a:p>
        </p:txBody>
      </p:sp>
      <p:sp>
        <p:nvSpPr>
          <p:cNvPr id="40" name="Shape 34"/>
          <p:cNvSpPr/>
          <p:nvPr/>
        </p:nvSpPr>
        <p:spPr>
          <a:xfrm>
            <a:off x="3456432" y="3438144"/>
            <a:ext cx="5413248" cy="749808"/>
          </a:xfrm>
          <a:prstGeom prst="rect">
            <a:avLst/>
          </a:prstGeom>
          <a:solidFill>
            <a:srgbClr val="161B22"/>
          </a:solidFill>
          <a:ln w="8890">
            <a:solidFill>
              <a:srgbClr val="6366F1"/>
            </a:solidFill>
            <a:prstDash val="solid"/>
          </a:ln>
          <a:effectLst>
            <a:outerShdw blurRad="101600" dist="25400" dir="8100000" algn="bl" rotWithShape="0">
              <a:srgbClr val="000000">
                <a:alpha val="28000"/>
              </a:srgbClr>
            </a:outerShdw>
          </a:effectLst>
        </p:spPr>
        <p:txBody>
          <a:bodyPr/>
          <a:lstStyle/>
          <a:p>
            <a:endParaRPr lang="en-US"/>
          </a:p>
        </p:txBody>
      </p:sp>
      <p:sp>
        <p:nvSpPr>
          <p:cNvPr id="41" name="Shape 35"/>
          <p:cNvSpPr/>
          <p:nvPr/>
        </p:nvSpPr>
        <p:spPr>
          <a:xfrm>
            <a:off x="3456432" y="3438144"/>
            <a:ext cx="50292" cy="749808"/>
          </a:xfrm>
          <a:prstGeom prst="rect">
            <a:avLst/>
          </a:prstGeom>
          <a:solidFill>
            <a:srgbClr val="6366F1"/>
          </a:solidFill>
          <a:ln w="12700">
            <a:solidFill>
              <a:srgbClr val="6366F1"/>
            </a:solidFill>
            <a:prstDash val="solid"/>
          </a:ln>
        </p:spPr>
        <p:txBody>
          <a:bodyPr/>
          <a:lstStyle/>
          <a:p>
            <a:endParaRPr lang="en-US"/>
          </a:p>
        </p:txBody>
      </p:sp>
      <p:pic>
        <p:nvPicPr>
          <p:cNvPr id="42" name="Image 4" descr="preencoded.png"/>
          <p:cNvPicPr>
            <a:picLocks noChangeAspect="1"/>
          </p:cNvPicPr>
          <p:nvPr/>
        </p:nvPicPr>
        <p:blipFill>
          <a:blip r:embed="rId3"/>
          <a:stretch>
            <a:fillRect/>
          </a:stretch>
        </p:blipFill>
        <p:spPr>
          <a:xfrm>
            <a:off x="3547872" y="3511296"/>
            <a:ext cx="347472" cy="347472"/>
          </a:xfrm>
          <a:prstGeom prst="rect">
            <a:avLst/>
          </a:prstGeom>
        </p:spPr>
      </p:pic>
      <p:sp>
        <p:nvSpPr>
          <p:cNvPr id="43" name="Text 36"/>
          <p:cNvSpPr/>
          <p:nvPr/>
        </p:nvSpPr>
        <p:spPr>
          <a:xfrm>
            <a:off x="3977640" y="3493008"/>
            <a:ext cx="4846320" cy="256032"/>
          </a:xfrm>
          <a:prstGeom prst="rect">
            <a:avLst/>
          </a:prstGeom>
          <a:noFill/>
          <a:ln/>
        </p:spPr>
        <p:txBody>
          <a:bodyPr wrap="square" lIns="0" tIns="0" rIns="0" bIns="0" rtlCol="0" anchor="ctr"/>
          <a:lstStyle/>
          <a:p>
            <a:pPr marL="0" indent="0">
              <a:buNone/>
            </a:pPr>
            <a:r>
              <a:rPr lang="en-US" sz="1200" b="1" dirty="0">
                <a:solidFill>
                  <a:srgbClr val="6366F1"/>
                </a:solidFill>
                <a:latin typeface="Calibri" pitchFamily="34" charset="0"/>
                <a:ea typeface="Calibri" pitchFamily="34" charset="-122"/>
                <a:cs typeface="Calibri" pitchFamily="34" charset="-120"/>
              </a:rPr>
              <a:t>api.js (Axios)</a:t>
            </a:r>
            <a:endParaRPr lang="en-US" sz="1200" dirty="0"/>
          </a:p>
        </p:txBody>
      </p:sp>
      <p:sp>
        <p:nvSpPr>
          <p:cNvPr id="44" name="Text 37"/>
          <p:cNvSpPr/>
          <p:nvPr/>
        </p:nvSpPr>
        <p:spPr>
          <a:xfrm>
            <a:off x="3977640" y="3749040"/>
            <a:ext cx="484632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Single Axios instance. Request interceptor reads JWT from AuthContext and injects Authorization: Bearer header. All 18+ API calls go through this.</a:t>
            </a:r>
            <a:endParaRPr lang="en-US" sz="950" dirty="0"/>
          </a:p>
        </p:txBody>
      </p:sp>
      <p:sp>
        <p:nvSpPr>
          <p:cNvPr id="45" name="Shape 38"/>
          <p:cNvSpPr/>
          <p:nvPr/>
        </p:nvSpPr>
        <p:spPr>
          <a:xfrm>
            <a:off x="3456432" y="4261104"/>
            <a:ext cx="5413248" cy="749808"/>
          </a:xfrm>
          <a:prstGeom prst="rect">
            <a:avLst/>
          </a:prstGeom>
          <a:solidFill>
            <a:srgbClr val="161B22"/>
          </a:solidFill>
          <a:ln w="889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sp>
        <p:nvSpPr>
          <p:cNvPr id="46" name="Shape 39"/>
          <p:cNvSpPr/>
          <p:nvPr/>
        </p:nvSpPr>
        <p:spPr>
          <a:xfrm>
            <a:off x="3456432" y="4261104"/>
            <a:ext cx="50292" cy="749808"/>
          </a:xfrm>
          <a:prstGeom prst="rect">
            <a:avLst/>
          </a:prstGeom>
          <a:solidFill>
            <a:srgbClr val="22D3EE"/>
          </a:solidFill>
          <a:ln w="12700">
            <a:solidFill>
              <a:srgbClr val="22D3EE"/>
            </a:solidFill>
            <a:prstDash val="solid"/>
          </a:ln>
        </p:spPr>
        <p:txBody>
          <a:bodyPr/>
          <a:lstStyle/>
          <a:p>
            <a:endParaRPr lang="en-US"/>
          </a:p>
        </p:txBody>
      </p:sp>
      <p:pic>
        <p:nvPicPr>
          <p:cNvPr id="47" name="Image 5" descr="preencoded.png"/>
          <p:cNvPicPr>
            <a:picLocks noChangeAspect="1"/>
          </p:cNvPicPr>
          <p:nvPr/>
        </p:nvPicPr>
        <p:blipFill>
          <a:blip r:embed="rId7"/>
          <a:stretch>
            <a:fillRect/>
          </a:stretch>
        </p:blipFill>
        <p:spPr>
          <a:xfrm>
            <a:off x="3547872" y="4334256"/>
            <a:ext cx="347472" cy="347472"/>
          </a:xfrm>
          <a:prstGeom prst="rect">
            <a:avLst/>
          </a:prstGeom>
        </p:spPr>
      </p:pic>
      <p:sp>
        <p:nvSpPr>
          <p:cNvPr id="48" name="Text 40"/>
          <p:cNvSpPr/>
          <p:nvPr/>
        </p:nvSpPr>
        <p:spPr>
          <a:xfrm>
            <a:off x="3977640" y="4315968"/>
            <a:ext cx="4846320" cy="256032"/>
          </a:xfrm>
          <a:prstGeom prst="rect">
            <a:avLst/>
          </a:prstGeom>
          <a:noFill/>
          <a:ln/>
        </p:spPr>
        <p:txBody>
          <a:bodyPr wrap="square" lIns="0" tIns="0" rIns="0" bIns="0"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GSAP + CSS3</a:t>
            </a:r>
            <a:endParaRPr lang="en-US" sz="1200" dirty="0"/>
          </a:p>
        </p:txBody>
      </p:sp>
      <p:sp>
        <p:nvSpPr>
          <p:cNvPr id="49" name="Text 41"/>
          <p:cNvSpPr/>
          <p:nvPr/>
        </p:nvSpPr>
        <p:spPr>
          <a:xfrm>
            <a:off x="3977640" y="4572000"/>
            <a:ext cx="484632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Entrance animations triggered on component mount using gsap.from(). CSS uses backdrop-filter: blur() + rgba backgrounds for the glassmorphism dark-mode aesthetic.</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Backend Architecture</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Node.js + Express REST API — middleware chain, controllers, route structure</a:t>
            </a:r>
            <a:endParaRPr lang="en-US" sz="1300" dirty="0"/>
          </a:p>
        </p:txBody>
      </p:sp>
      <p:sp>
        <p:nvSpPr>
          <p:cNvPr id="5" name="Shape 3"/>
          <p:cNvSpPr/>
          <p:nvPr/>
        </p:nvSpPr>
        <p:spPr>
          <a:xfrm>
            <a:off x="256032" y="987552"/>
            <a:ext cx="8631936" cy="841248"/>
          </a:xfrm>
          <a:prstGeom prst="rect">
            <a:avLst/>
          </a:prstGeom>
          <a:solidFill>
            <a:srgbClr val="161B22"/>
          </a:solidFill>
          <a:ln w="10160">
            <a:solidFill>
              <a:srgbClr val="6366F1"/>
            </a:solidFill>
            <a:prstDash val="solid"/>
          </a:ln>
          <a:effectLst>
            <a:outerShdw blurRad="101600" dist="25400" dir="8100000" algn="bl" rotWithShape="0">
              <a:srgbClr val="000000">
                <a:alpha val="28000"/>
              </a:srgbClr>
            </a:outerShdw>
          </a:effectLst>
        </p:spPr>
        <p:txBody>
          <a:bodyPr/>
          <a:lstStyle/>
          <a:p>
            <a:endParaRPr lang="en-US"/>
          </a:p>
        </p:txBody>
      </p:sp>
      <p:sp>
        <p:nvSpPr>
          <p:cNvPr id="6" name="Text 4"/>
          <p:cNvSpPr/>
          <p:nvPr/>
        </p:nvSpPr>
        <p:spPr>
          <a:xfrm>
            <a:off x="402336" y="1005840"/>
            <a:ext cx="3657600" cy="256032"/>
          </a:xfrm>
          <a:prstGeom prst="rect">
            <a:avLst/>
          </a:prstGeom>
          <a:noFill/>
          <a:ln/>
        </p:spPr>
        <p:txBody>
          <a:bodyPr wrap="square" lIns="0" tIns="0" rIns="0" bIns="0" rtlCol="0" anchor="ctr"/>
          <a:lstStyle/>
          <a:p>
            <a:pPr marL="0" indent="0">
              <a:buNone/>
            </a:pPr>
            <a:r>
              <a:rPr lang="en-US" sz="1200" b="1" dirty="0">
                <a:solidFill>
                  <a:srgbClr val="6366F1"/>
                </a:solidFill>
                <a:latin typeface="Calibri" pitchFamily="34" charset="0"/>
                <a:ea typeface="Calibri" pitchFamily="34" charset="-122"/>
                <a:cs typeface="Calibri" pitchFamily="34" charset="-120"/>
              </a:rPr>
              <a:t>Request Middleware Pipeline</a:t>
            </a:r>
            <a:endParaRPr lang="en-US" sz="1200" dirty="0"/>
          </a:p>
        </p:txBody>
      </p:sp>
      <p:sp>
        <p:nvSpPr>
          <p:cNvPr id="7" name="Shape 5"/>
          <p:cNvSpPr/>
          <p:nvPr/>
        </p:nvSpPr>
        <p:spPr>
          <a:xfrm>
            <a:off x="347472" y="1298448"/>
            <a:ext cx="1508760" cy="438912"/>
          </a:xfrm>
          <a:prstGeom prst="rect">
            <a:avLst/>
          </a:prstGeom>
          <a:solidFill>
            <a:srgbClr val="F43F5E"/>
          </a:solidFill>
          <a:ln w="12700">
            <a:solidFill>
              <a:srgbClr val="F43F5E"/>
            </a:solidFill>
            <a:prstDash val="solid"/>
          </a:ln>
        </p:spPr>
        <p:txBody>
          <a:bodyPr/>
          <a:lstStyle/>
          <a:p>
            <a:endParaRPr lang="en-US"/>
          </a:p>
        </p:txBody>
      </p:sp>
      <p:sp>
        <p:nvSpPr>
          <p:cNvPr id="8" name="Text 6"/>
          <p:cNvSpPr/>
          <p:nvPr/>
        </p:nvSpPr>
        <p:spPr>
          <a:xfrm>
            <a:off x="347472" y="1307592"/>
            <a:ext cx="1508760" cy="237744"/>
          </a:xfrm>
          <a:prstGeom prst="rect">
            <a:avLst/>
          </a:prstGeom>
          <a:noFill/>
          <a:ln/>
        </p:spPr>
        <p:txBody>
          <a:bodyPr wrap="square" rtlCol="0" anchor="ctr"/>
          <a:lstStyle/>
          <a:p>
            <a:pPr marL="0" indent="0" algn="ctr">
              <a:buNone/>
            </a:pPr>
            <a:r>
              <a:rPr lang="en-US" sz="1200" b="1" dirty="0">
                <a:solidFill>
                  <a:srgbClr val="0D1117"/>
                </a:solidFill>
                <a:latin typeface="Calibri" pitchFamily="34" charset="0"/>
                <a:ea typeface="Calibri" pitchFamily="34" charset="-122"/>
                <a:cs typeface="Calibri" pitchFamily="34" charset="-120"/>
              </a:rPr>
              <a:t>CORS</a:t>
            </a:r>
            <a:endParaRPr lang="en-US" sz="1200" dirty="0"/>
          </a:p>
        </p:txBody>
      </p:sp>
      <p:sp>
        <p:nvSpPr>
          <p:cNvPr id="9" name="Text 7"/>
          <p:cNvSpPr/>
          <p:nvPr/>
        </p:nvSpPr>
        <p:spPr>
          <a:xfrm>
            <a:off x="347472" y="1536192"/>
            <a:ext cx="1508760" cy="182880"/>
          </a:xfrm>
          <a:prstGeom prst="rect">
            <a:avLst/>
          </a:prstGeom>
          <a:noFill/>
          <a:ln/>
        </p:spPr>
        <p:txBody>
          <a:bodyPr wrap="square" rtlCol="0" anchor="ctr"/>
          <a:lstStyle/>
          <a:p>
            <a:pPr marL="0" indent="0" algn="ctr">
              <a:buNone/>
            </a:pPr>
            <a:r>
              <a:rPr lang="en-US" sz="850" dirty="0">
                <a:solidFill>
                  <a:srgbClr val="0D1117"/>
                </a:solidFill>
                <a:latin typeface="Calibri" pitchFamily="34" charset="0"/>
                <a:ea typeface="Calibri" pitchFamily="34" charset="-122"/>
                <a:cs typeface="Calibri" pitchFamily="34" charset="-120"/>
              </a:rPr>
              <a:t>Origin whitelist</a:t>
            </a:r>
            <a:endParaRPr lang="en-US" sz="850" dirty="0"/>
          </a:p>
        </p:txBody>
      </p:sp>
      <p:sp>
        <p:nvSpPr>
          <p:cNvPr id="10" name="Shape 8"/>
          <p:cNvSpPr/>
          <p:nvPr/>
        </p:nvSpPr>
        <p:spPr>
          <a:xfrm>
            <a:off x="1856232" y="1517904"/>
            <a:ext cx="173736" cy="0"/>
          </a:xfrm>
          <a:prstGeom prst="line">
            <a:avLst/>
          </a:prstGeom>
          <a:noFill/>
          <a:ln w="25400">
            <a:solidFill>
              <a:srgbClr val="FFFFFF"/>
            </a:solidFill>
            <a:prstDash val="solid"/>
            <a:tailEnd type="arrow"/>
          </a:ln>
        </p:spPr>
        <p:txBody>
          <a:bodyPr/>
          <a:lstStyle/>
          <a:p>
            <a:endParaRPr lang="en-US"/>
          </a:p>
        </p:txBody>
      </p:sp>
      <p:sp>
        <p:nvSpPr>
          <p:cNvPr id="11" name="Shape 9"/>
          <p:cNvSpPr/>
          <p:nvPr/>
        </p:nvSpPr>
        <p:spPr>
          <a:xfrm>
            <a:off x="2029968" y="1298448"/>
            <a:ext cx="1508760" cy="438912"/>
          </a:xfrm>
          <a:prstGeom prst="rect">
            <a:avLst/>
          </a:prstGeom>
          <a:solidFill>
            <a:srgbClr val="F59E0B"/>
          </a:solidFill>
          <a:ln w="12700">
            <a:solidFill>
              <a:srgbClr val="F59E0B"/>
            </a:solidFill>
            <a:prstDash val="solid"/>
          </a:ln>
        </p:spPr>
        <p:txBody>
          <a:bodyPr/>
          <a:lstStyle/>
          <a:p>
            <a:endParaRPr lang="en-US"/>
          </a:p>
        </p:txBody>
      </p:sp>
      <p:sp>
        <p:nvSpPr>
          <p:cNvPr id="12" name="Text 10"/>
          <p:cNvSpPr/>
          <p:nvPr/>
        </p:nvSpPr>
        <p:spPr>
          <a:xfrm>
            <a:off x="2029968" y="1307592"/>
            <a:ext cx="1508760" cy="237744"/>
          </a:xfrm>
          <a:prstGeom prst="rect">
            <a:avLst/>
          </a:prstGeom>
          <a:noFill/>
          <a:ln/>
        </p:spPr>
        <p:txBody>
          <a:bodyPr wrap="square" rtlCol="0" anchor="ctr"/>
          <a:lstStyle/>
          <a:p>
            <a:pPr marL="0" indent="0" algn="ctr">
              <a:buNone/>
            </a:pPr>
            <a:r>
              <a:rPr lang="en-US" sz="1200" b="1" dirty="0">
                <a:solidFill>
                  <a:srgbClr val="0D1117"/>
                </a:solidFill>
                <a:latin typeface="Calibri" pitchFamily="34" charset="0"/>
                <a:ea typeface="Calibri" pitchFamily="34" charset="-122"/>
                <a:cs typeface="Calibri" pitchFamily="34" charset="-120"/>
              </a:rPr>
              <a:t>JSON</a:t>
            </a:r>
            <a:endParaRPr lang="en-US" sz="1200" dirty="0"/>
          </a:p>
        </p:txBody>
      </p:sp>
      <p:sp>
        <p:nvSpPr>
          <p:cNvPr id="13" name="Text 11"/>
          <p:cNvSpPr/>
          <p:nvPr/>
        </p:nvSpPr>
        <p:spPr>
          <a:xfrm>
            <a:off x="2029968" y="1536192"/>
            <a:ext cx="1508760" cy="182880"/>
          </a:xfrm>
          <a:prstGeom prst="rect">
            <a:avLst/>
          </a:prstGeom>
          <a:noFill/>
          <a:ln/>
        </p:spPr>
        <p:txBody>
          <a:bodyPr wrap="square" rtlCol="0" anchor="ctr"/>
          <a:lstStyle/>
          <a:p>
            <a:pPr marL="0" indent="0" algn="ctr">
              <a:buNone/>
            </a:pPr>
            <a:r>
              <a:rPr lang="en-US" sz="850" dirty="0">
                <a:solidFill>
                  <a:srgbClr val="0D1117"/>
                </a:solidFill>
                <a:latin typeface="Calibri" pitchFamily="34" charset="0"/>
                <a:ea typeface="Calibri" pitchFamily="34" charset="-122"/>
                <a:cs typeface="Calibri" pitchFamily="34" charset="-120"/>
              </a:rPr>
              <a:t>express.json()</a:t>
            </a:r>
            <a:endParaRPr lang="en-US" sz="850" dirty="0"/>
          </a:p>
        </p:txBody>
      </p:sp>
      <p:sp>
        <p:nvSpPr>
          <p:cNvPr id="14" name="Shape 12"/>
          <p:cNvSpPr/>
          <p:nvPr/>
        </p:nvSpPr>
        <p:spPr>
          <a:xfrm>
            <a:off x="3538728" y="1517904"/>
            <a:ext cx="173736" cy="0"/>
          </a:xfrm>
          <a:prstGeom prst="line">
            <a:avLst/>
          </a:prstGeom>
          <a:noFill/>
          <a:ln w="25400">
            <a:solidFill>
              <a:srgbClr val="FFFFFF"/>
            </a:solidFill>
            <a:prstDash val="solid"/>
            <a:tailEnd type="arrow"/>
          </a:ln>
        </p:spPr>
        <p:txBody>
          <a:bodyPr/>
          <a:lstStyle/>
          <a:p>
            <a:endParaRPr lang="en-US"/>
          </a:p>
        </p:txBody>
      </p:sp>
      <p:sp>
        <p:nvSpPr>
          <p:cNvPr id="15" name="Shape 13"/>
          <p:cNvSpPr/>
          <p:nvPr/>
        </p:nvSpPr>
        <p:spPr>
          <a:xfrm>
            <a:off x="3712464" y="1298448"/>
            <a:ext cx="1508760" cy="438912"/>
          </a:xfrm>
          <a:prstGeom prst="rect">
            <a:avLst/>
          </a:prstGeom>
          <a:solidFill>
            <a:srgbClr val="8B5CF6"/>
          </a:solidFill>
          <a:ln w="12700">
            <a:solidFill>
              <a:srgbClr val="8B5CF6"/>
            </a:solidFill>
            <a:prstDash val="solid"/>
          </a:ln>
        </p:spPr>
        <p:txBody>
          <a:bodyPr/>
          <a:lstStyle/>
          <a:p>
            <a:endParaRPr lang="en-US"/>
          </a:p>
        </p:txBody>
      </p:sp>
      <p:sp>
        <p:nvSpPr>
          <p:cNvPr id="16" name="Text 14"/>
          <p:cNvSpPr/>
          <p:nvPr/>
        </p:nvSpPr>
        <p:spPr>
          <a:xfrm>
            <a:off x="3712464" y="1307592"/>
            <a:ext cx="1508760" cy="237744"/>
          </a:xfrm>
          <a:prstGeom prst="rect">
            <a:avLst/>
          </a:prstGeom>
          <a:noFill/>
          <a:ln/>
        </p:spPr>
        <p:txBody>
          <a:bodyPr wrap="square" rtlCol="0" anchor="ctr"/>
          <a:lstStyle/>
          <a:p>
            <a:pPr marL="0" indent="0" algn="ctr">
              <a:buNone/>
            </a:pPr>
            <a:r>
              <a:rPr lang="en-US" sz="1200" b="1" dirty="0">
                <a:solidFill>
                  <a:srgbClr val="0D1117"/>
                </a:solidFill>
                <a:latin typeface="Calibri" pitchFamily="34" charset="0"/>
                <a:ea typeface="Calibri" pitchFamily="34" charset="-122"/>
                <a:cs typeface="Calibri" pitchFamily="34" charset="-120"/>
              </a:rPr>
              <a:t>Auth</a:t>
            </a:r>
            <a:endParaRPr lang="en-US" sz="1200" dirty="0"/>
          </a:p>
        </p:txBody>
      </p:sp>
      <p:sp>
        <p:nvSpPr>
          <p:cNvPr id="17" name="Text 15"/>
          <p:cNvSpPr/>
          <p:nvPr/>
        </p:nvSpPr>
        <p:spPr>
          <a:xfrm>
            <a:off x="3712464" y="1536192"/>
            <a:ext cx="1508760" cy="182880"/>
          </a:xfrm>
          <a:prstGeom prst="rect">
            <a:avLst/>
          </a:prstGeom>
          <a:noFill/>
          <a:ln/>
        </p:spPr>
        <p:txBody>
          <a:bodyPr wrap="square" rtlCol="0" anchor="ctr"/>
          <a:lstStyle/>
          <a:p>
            <a:pPr marL="0" indent="0" algn="ctr">
              <a:buNone/>
            </a:pPr>
            <a:r>
              <a:rPr lang="en-US" sz="850" dirty="0">
                <a:solidFill>
                  <a:srgbClr val="0D1117"/>
                </a:solidFill>
                <a:latin typeface="Calibri" pitchFamily="34" charset="0"/>
                <a:ea typeface="Calibri" pitchFamily="34" charset="-122"/>
                <a:cs typeface="Calibri" pitchFamily="34" charset="-120"/>
              </a:rPr>
              <a:t>Firebase JWT verify</a:t>
            </a:r>
            <a:endParaRPr lang="en-US" sz="850" dirty="0"/>
          </a:p>
        </p:txBody>
      </p:sp>
      <p:sp>
        <p:nvSpPr>
          <p:cNvPr id="18" name="Shape 16"/>
          <p:cNvSpPr/>
          <p:nvPr/>
        </p:nvSpPr>
        <p:spPr>
          <a:xfrm>
            <a:off x="5221224" y="1517904"/>
            <a:ext cx="173736" cy="0"/>
          </a:xfrm>
          <a:prstGeom prst="line">
            <a:avLst/>
          </a:prstGeom>
          <a:noFill/>
          <a:ln w="25400">
            <a:solidFill>
              <a:srgbClr val="FFFFFF"/>
            </a:solidFill>
            <a:prstDash val="solid"/>
            <a:tailEnd type="arrow"/>
          </a:ln>
        </p:spPr>
        <p:txBody>
          <a:bodyPr/>
          <a:lstStyle/>
          <a:p>
            <a:endParaRPr lang="en-US"/>
          </a:p>
        </p:txBody>
      </p:sp>
      <p:sp>
        <p:nvSpPr>
          <p:cNvPr id="19" name="Shape 17"/>
          <p:cNvSpPr/>
          <p:nvPr/>
        </p:nvSpPr>
        <p:spPr>
          <a:xfrm>
            <a:off x="5394960" y="1298448"/>
            <a:ext cx="1508760" cy="438912"/>
          </a:xfrm>
          <a:prstGeom prst="rect">
            <a:avLst/>
          </a:prstGeom>
          <a:solidFill>
            <a:srgbClr val="6366F1"/>
          </a:solidFill>
          <a:ln w="12700">
            <a:solidFill>
              <a:srgbClr val="6366F1"/>
            </a:solidFill>
            <a:prstDash val="solid"/>
          </a:ln>
        </p:spPr>
        <p:txBody>
          <a:bodyPr/>
          <a:lstStyle/>
          <a:p>
            <a:endParaRPr lang="en-US"/>
          </a:p>
        </p:txBody>
      </p:sp>
      <p:sp>
        <p:nvSpPr>
          <p:cNvPr id="20" name="Text 18"/>
          <p:cNvSpPr/>
          <p:nvPr/>
        </p:nvSpPr>
        <p:spPr>
          <a:xfrm>
            <a:off x="5394960" y="1307592"/>
            <a:ext cx="1508760" cy="237744"/>
          </a:xfrm>
          <a:prstGeom prst="rect">
            <a:avLst/>
          </a:prstGeom>
          <a:noFill/>
          <a:ln/>
        </p:spPr>
        <p:txBody>
          <a:bodyPr wrap="square" rtlCol="0" anchor="ctr"/>
          <a:lstStyle/>
          <a:p>
            <a:pPr marL="0" indent="0" algn="ctr">
              <a:buNone/>
            </a:pPr>
            <a:r>
              <a:rPr lang="en-US" sz="1200" b="1" dirty="0">
                <a:solidFill>
                  <a:srgbClr val="0D1117"/>
                </a:solidFill>
                <a:latin typeface="Calibri" pitchFamily="34" charset="0"/>
                <a:ea typeface="Calibri" pitchFamily="34" charset="-122"/>
                <a:cs typeface="Calibri" pitchFamily="34" charset="-120"/>
              </a:rPr>
              <a:t>Route</a:t>
            </a:r>
            <a:endParaRPr lang="en-US" sz="1200" dirty="0"/>
          </a:p>
        </p:txBody>
      </p:sp>
      <p:sp>
        <p:nvSpPr>
          <p:cNvPr id="21" name="Text 19"/>
          <p:cNvSpPr/>
          <p:nvPr/>
        </p:nvSpPr>
        <p:spPr>
          <a:xfrm>
            <a:off x="5394960" y="1536192"/>
            <a:ext cx="1508760" cy="182880"/>
          </a:xfrm>
          <a:prstGeom prst="rect">
            <a:avLst/>
          </a:prstGeom>
          <a:noFill/>
          <a:ln/>
        </p:spPr>
        <p:txBody>
          <a:bodyPr wrap="square" rtlCol="0" anchor="ctr"/>
          <a:lstStyle/>
          <a:p>
            <a:pPr marL="0" indent="0" algn="ctr">
              <a:buNone/>
            </a:pPr>
            <a:r>
              <a:rPr lang="en-US" sz="850" dirty="0">
                <a:solidFill>
                  <a:srgbClr val="0D1117"/>
                </a:solidFill>
                <a:latin typeface="Calibri" pitchFamily="34" charset="0"/>
                <a:ea typeface="Calibri" pitchFamily="34" charset="-122"/>
                <a:cs typeface="Calibri" pitchFamily="34" charset="-120"/>
              </a:rPr>
              <a:t>Controller logic</a:t>
            </a:r>
            <a:endParaRPr lang="en-US" sz="850" dirty="0"/>
          </a:p>
        </p:txBody>
      </p:sp>
      <p:sp>
        <p:nvSpPr>
          <p:cNvPr id="22" name="Shape 20"/>
          <p:cNvSpPr/>
          <p:nvPr/>
        </p:nvSpPr>
        <p:spPr>
          <a:xfrm>
            <a:off x="6903720" y="1517904"/>
            <a:ext cx="173736" cy="0"/>
          </a:xfrm>
          <a:prstGeom prst="line">
            <a:avLst/>
          </a:prstGeom>
          <a:noFill/>
          <a:ln w="25400">
            <a:solidFill>
              <a:srgbClr val="FFFFFF"/>
            </a:solidFill>
            <a:prstDash val="solid"/>
            <a:tailEnd type="arrow"/>
          </a:ln>
        </p:spPr>
        <p:txBody>
          <a:bodyPr/>
          <a:lstStyle/>
          <a:p>
            <a:endParaRPr lang="en-US"/>
          </a:p>
        </p:txBody>
      </p:sp>
      <p:sp>
        <p:nvSpPr>
          <p:cNvPr id="23" name="Shape 21"/>
          <p:cNvSpPr/>
          <p:nvPr/>
        </p:nvSpPr>
        <p:spPr>
          <a:xfrm>
            <a:off x="7077456" y="1298448"/>
            <a:ext cx="1508760" cy="438912"/>
          </a:xfrm>
          <a:prstGeom prst="rect">
            <a:avLst/>
          </a:prstGeom>
          <a:solidFill>
            <a:srgbClr val="F43F5E"/>
          </a:solidFill>
          <a:ln w="12700">
            <a:solidFill>
              <a:srgbClr val="F43F5E"/>
            </a:solidFill>
            <a:prstDash val="solid"/>
          </a:ln>
        </p:spPr>
        <p:txBody>
          <a:bodyPr/>
          <a:lstStyle/>
          <a:p>
            <a:endParaRPr lang="en-US"/>
          </a:p>
        </p:txBody>
      </p:sp>
      <p:sp>
        <p:nvSpPr>
          <p:cNvPr id="24" name="Text 22"/>
          <p:cNvSpPr/>
          <p:nvPr/>
        </p:nvSpPr>
        <p:spPr>
          <a:xfrm>
            <a:off x="7077456" y="1307592"/>
            <a:ext cx="1508760" cy="237744"/>
          </a:xfrm>
          <a:prstGeom prst="rect">
            <a:avLst/>
          </a:prstGeom>
          <a:noFill/>
          <a:ln/>
        </p:spPr>
        <p:txBody>
          <a:bodyPr wrap="square" rtlCol="0" anchor="ctr"/>
          <a:lstStyle/>
          <a:p>
            <a:pPr marL="0" indent="0" algn="ctr">
              <a:buNone/>
            </a:pPr>
            <a:r>
              <a:rPr lang="en-US" sz="1200" b="1" dirty="0">
                <a:solidFill>
                  <a:srgbClr val="0D1117"/>
                </a:solidFill>
                <a:latin typeface="Calibri" pitchFamily="34" charset="0"/>
                <a:ea typeface="Calibri" pitchFamily="34" charset="-122"/>
                <a:cs typeface="Calibri" pitchFamily="34" charset="-120"/>
              </a:rPr>
              <a:t>Error</a:t>
            </a:r>
            <a:endParaRPr lang="en-US" sz="1200" dirty="0"/>
          </a:p>
        </p:txBody>
      </p:sp>
      <p:sp>
        <p:nvSpPr>
          <p:cNvPr id="25" name="Text 23"/>
          <p:cNvSpPr/>
          <p:nvPr/>
        </p:nvSpPr>
        <p:spPr>
          <a:xfrm>
            <a:off x="7077456" y="1536192"/>
            <a:ext cx="1508760" cy="182880"/>
          </a:xfrm>
          <a:prstGeom prst="rect">
            <a:avLst/>
          </a:prstGeom>
          <a:noFill/>
          <a:ln/>
        </p:spPr>
        <p:txBody>
          <a:bodyPr wrap="square" rtlCol="0" anchor="ctr"/>
          <a:lstStyle/>
          <a:p>
            <a:pPr marL="0" indent="0" algn="ctr">
              <a:buNone/>
            </a:pPr>
            <a:r>
              <a:rPr lang="en-US" sz="850" dirty="0">
                <a:solidFill>
                  <a:srgbClr val="0D1117"/>
                </a:solidFill>
                <a:latin typeface="Calibri" pitchFamily="34" charset="0"/>
                <a:ea typeface="Calibri" pitchFamily="34" charset="-122"/>
                <a:cs typeface="Calibri" pitchFamily="34" charset="-120"/>
              </a:rPr>
              <a:t>Global handler</a:t>
            </a:r>
            <a:endParaRPr lang="en-US" sz="850" dirty="0"/>
          </a:p>
        </p:txBody>
      </p:sp>
      <p:sp>
        <p:nvSpPr>
          <p:cNvPr id="26" name="Shape 24"/>
          <p:cNvSpPr/>
          <p:nvPr/>
        </p:nvSpPr>
        <p:spPr>
          <a:xfrm>
            <a:off x="256032" y="1901952"/>
            <a:ext cx="8631936" cy="292608"/>
          </a:xfrm>
          <a:prstGeom prst="rect">
            <a:avLst/>
          </a:prstGeom>
          <a:solidFill>
            <a:srgbClr val="1A2233"/>
          </a:solidFill>
          <a:ln w="12700">
            <a:solidFill>
              <a:srgbClr val="1A2233"/>
            </a:solidFill>
            <a:prstDash val="solid"/>
          </a:ln>
        </p:spPr>
        <p:txBody>
          <a:bodyPr/>
          <a:lstStyle/>
          <a:p>
            <a:endParaRPr lang="en-US"/>
          </a:p>
        </p:txBody>
      </p:sp>
      <p:sp>
        <p:nvSpPr>
          <p:cNvPr id="27" name="Text 25"/>
          <p:cNvSpPr/>
          <p:nvPr/>
        </p:nvSpPr>
        <p:spPr>
          <a:xfrm>
            <a:off x="310896" y="1911096"/>
            <a:ext cx="713232" cy="256032"/>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Method</a:t>
            </a:r>
            <a:endParaRPr lang="en-US" sz="1100" dirty="0"/>
          </a:p>
        </p:txBody>
      </p:sp>
      <p:sp>
        <p:nvSpPr>
          <p:cNvPr id="28" name="Text 26"/>
          <p:cNvSpPr/>
          <p:nvPr/>
        </p:nvSpPr>
        <p:spPr>
          <a:xfrm>
            <a:off x="1078992" y="1911096"/>
            <a:ext cx="2148840" cy="256032"/>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Endpoint</a:t>
            </a:r>
            <a:endParaRPr lang="en-US" sz="1100" dirty="0"/>
          </a:p>
        </p:txBody>
      </p:sp>
      <p:sp>
        <p:nvSpPr>
          <p:cNvPr id="29" name="Text 27"/>
          <p:cNvSpPr/>
          <p:nvPr/>
        </p:nvSpPr>
        <p:spPr>
          <a:xfrm>
            <a:off x="3291840" y="1911096"/>
            <a:ext cx="1664208" cy="256032"/>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Controller</a:t>
            </a:r>
            <a:endParaRPr lang="en-US" sz="1100" dirty="0"/>
          </a:p>
        </p:txBody>
      </p:sp>
      <p:sp>
        <p:nvSpPr>
          <p:cNvPr id="30" name="Text 28"/>
          <p:cNvSpPr/>
          <p:nvPr/>
        </p:nvSpPr>
        <p:spPr>
          <a:xfrm>
            <a:off x="5010912" y="1911096"/>
            <a:ext cx="3977640" cy="256032"/>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Description</a:t>
            </a:r>
            <a:endParaRPr lang="en-US" sz="1100" dirty="0"/>
          </a:p>
        </p:txBody>
      </p:sp>
      <p:sp>
        <p:nvSpPr>
          <p:cNvPr id="31" name="Shape 29"/>
          <p:cNvSpPr/>
          <p:nvPr/>
        </p:nvSpPr>
        <p:spPr>
          <a:xfrm>
            <a:off x="256032" y="2212848"/>
            <a:ext cx="8631936" cy="260604"/>
          </a:xfrm>
          <a:prstGeom prst="rect">
            <a:avLst/>
          </a:prstGeom>
          <a:solidFill>
            <a:srgbClr val="161B22"/>
          </a:solidFill>
          <a:ln w="12700">
            <a:solidFill>
              <a:srgbClr val="161B22"/>
            </a:solidFill>
            <a:prstDash val="solid"/>
          </a:ln>
        </p:spPr>
        <p:txBody>
          <a:bodyPr/>
          <a:lstStyle/>
          <a:p>
            <a:endParaRPr lang="en-US"/>
          </a:p>
        </p:txBody>
      </p:sp>
      <p:sp>
        <p:nvSpPr>
          <p:cNvPr id="32" name="Text 30"/>
          <p:cNvSpPr/>
          <p:nvPr/>
        </p:nvSpPr>
        <p:spPr>
          <a:xfrm>
            <a:off x="310896" y="2212848"/>
            <a:ext cx="713232" cy="260604"/>
          </a:xfrm>
          <a:prstGeom prst="rect">
            <a:avLst/>
          </a:prstGeom>
          <a:noFill/>
          <a:ln/>
        </p:spPr>
        <p:txBody>
          <a:bodyPr wrap="square" lIns="0" tIns="0" rIns="0" bIns="0" rtlCol="0" anchor="ctr"/>
          <a:lstStyle/>
          <a:p>
            <a:pPr marL="0" indent="0">
              <a:buNone/>
            </a:pPr>
            <a:r>
              <a:rPr lang="en-US" sz="950" b="1" dirty="0">
                <a:solidFill>
                  <a:srgbClr val="6366F1"/>
                </a:solidFill>
                <a:latin typeface="Consolas" pitchFamily="34" charset="0"/>
                <a:ea typeface="Consolas" pitchFamily="34" charset="-122"/>
                <a:cs typeface="Consolas" pitchFamily="34" charset="-120"/>
              </a:rPr>
              <a:t>POST</a:t>
            </a:r>
            <a:endParaRPr lang="en-US" sz="950" dirty="0"/>
          </a:p>
        </p:txBody>
      </p:sp>
      <p:sp>
        <p:nvSpPr>
          <p:cNvPr id="33" name="Text 31"/>
          <p:cNvSpPr/>
          <p:nvPr/>
        </p:nvSpPr>
        <p:spPr>
          <a:xfrm>
            <a:off x="1078992" y="2212848"/>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/api/auth/verify</a:t>
            </a:r>
            <a:endParaRPr lang="en-US" sz="900" dirty="0"/>
          </a:p>
        </p:txBody>
      </p:sp>
      <p:sp>
        <p:nvSpPr>
          <p:cNvPr id="34" name="Text 32"/>
          <p:cNvSpPr/>
          <p:nvPr/>
        </p:nvSpPr>
        <p:spPr>
          <a:xfrm>
            <a:off x="3291840" y="2212848"/>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authController</a:t>
            </a:r>
            <a:endParaRPr lang="en-US" sz="900" dirty="0"/>
          </a:p>
        </p:txBody>
      </p:sp>
      <p:sp>
        <p:nvSpPr>
          <p:cNvPr id="35" name="Text 33"/>
          <p:cNvSpPr/>
          <p:nvPr/>
        </p:nvSpPr>
        <p:spPr>
          <a:xfrm>
            <a:off x="5010912" y="2212848"/>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Verify Firebase JWT, create or fetch user profile in Supabase</a:t>
            </a:r>
            <a:endParaRPr lang="en-US" sz="900" dirty="0"/>
          </a:p>
        </p:txBody>
      </p:sp>
      <p:sp>
        <p:nvSpPr>
          <p:cNvPr id="36" name="Shape 34"/>
          <p:cNvSpPr/>
          <p:nvPr/>
        </p:nvSpPr>
        <p:spPr>
          <a:xfrm>
            <a:off x="256032" y="2481682"/>
            <a:ext cx="8631936" cy="260604"/>
          </a:xfrm>
          <a:prstGeom prst="rect">
            <a:avLst/>
          </a:prstGeom>
          <a:solidFill>
            <a:srgbClr val="1A2233"/>
          </a:solidFill>
          <a:ln w="12700">
            <a:solidFill>
              <a:srgbClr val="1A2233"/>
            </a:solidFill>
            <a:prstDash val="solid"/>
          </a:ln>
        </p:spPr>
        <p:txBody>
          <a:bodyPr/>
          <a:lstStyle/>
          <a:p>
            <a:endParaRPr lang="en-US"/>
          </a:p>
        </p:txBody>
      </p:sp>
      <p:sp>
        <p:nvSpPr>
          <p:cNvPr id="37" name="Text 35"/>
          <p:cNvSpPr/>
          <p:nvPr/>
        </p:nvSpPr>
        <p:spPr>
          <a:xfrm>
            <a:off x="310896" y="2481682"/>
            <a:ext cx="713232" cy="260604"/>
          </a:xfrm>
          <a:prstGeom prst="rect">
            <a:avLst/>
          </a:prstGeom>
          <a:noFill/>
          <a:ln/>
        </p:spPr>
        <p:txBody>
          <a:bodyPr wrap="square" lIns="0" tIns="0" rIns="0" bIns="0" rtlCol="0" anchor="ctr"/>
          <a:lstStyle/>
          <a:p>
            <a:pPr marL="0" indent="0">
              <a:buNone/>
            </a:pPr>
            <a:r>
              <a:rPr lang="en-US" sz="950" b="1" dirty="0">
                <a:solidFill>
                  <a:srgbClr val="10B981"/>
                </a:solidFill>
                <a:latin typeface="Consolas" pitchFamily="34" charset="0"/>
                <a:ea typeface="Consolas" pitchFamily="34" charset="-122"/>
                <a:cs typeface="Consolas" pitchFamily="34" charset="-120"/>
              </a:rPr>
              <a:t>GET</a:t>
            </a:r>
            <a:endParaRPr lang="en-US" sz="950" dirty="0"/>
          </a:p>
        </p:txBody>
      </p:sp>
      <p:sp>
        <p:nvSpPr>
          <p:cNvPr id="38" name="Text 36"/>
          <p:cNvSpPr/>
          <p:nvPr/>
        </p:nvSpPr>
        <p:spPr>
          <a:xfrm>
            <a:off x="1078992" y="2481682"/>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/api/messages?conv=</a:t>
            </a:r>
            <a:endParaRPr lang="en-US" sz="900" dirty="0"/>
          </a:p>
        </p:txBody>
      </p:sp>
      <p:sp>
        <p:nvSpPr>
          <p:cNvPr id="39" name="Text 37"/>
          <p:cNvSpPr/>
          <p:nvPr/>
        </p:nvSpPr>
        <p:spPr>
          <a:xfrm>
            <a:off x="3291840" y="2481682"/>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messageController</a:t>
            </a:r>
            <a:endParaRPr lang="en-US" sz="900" dirty="0"/>
          </a:p>
        </p:txBody>
      </p:sp>
      <p:sp>
        <p:nvSpPr>
          <p:cNvPr id="40" name="Text 38"/>
          <p:cNvSpPr/>
          <p:nvPr/>
        </p:nvSpPr>
        <p:spPr>
          <a:xfrm>
            <a:off x="5010912" y="2481682"/>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Paginated message history for a conversation, ordered by created_at</a:t>
            </a:r>
            <a:endParaRPr lang="en-US" sz="900" dirty="0"/>
          </a:p>
        </p:txBody>
      </p:sp>
      <p:sp>
        <p:nvSpPr>
          <p:cNvPr id="41" name="Shape 39"/>
          <p:cNvSpPr/>
          <p:nvPr/>
        </p:nvSpPr>
        <p:spPr>
          <a:xfrm>
            <a:off x="256032" y="2750515"/>
            <a:ext cx="8631936" cy="260604"/>
          </a:xfrm>
          <a:prstGeom prst="rect">
            <a:avLst/>
          </a:prstGeom>
          <a:solidFill>
            <a:srgbClr val="161B22"/>
          </a:solidFill>
          <a:ln w="12700">
            <a:solidFill>
              <a:srgbClr val="161B22"/>
            </a:solidFill>
            <a:prstDash val="solid"/>
          </a:ln>
        </p:spPr>
        <p:txBody>
          <a:bodyPr/>
          <a:lstStyle/>
          <a:p>
            <a:endParaRPr lang="en-US"/>
          </a:p>
        </p:txBody>
      </p:sp>
      <p:sp>
        <p:nvSpPr>
          <p:cNvPr id="42" name="Text 40"/>
          <p:cNvSpPr/>
          <p:nvPr/>
        </p:nvSpPr>
        <p:spPr>
          <a:xfrm>
            <a:off x="310896" y="2750515"/>
            <a:ext cx="713232" cy="260604"/>
          </a:xfrm>
          <a:prstGeom prst="rect">
            <a:avLst/>
          </a:prstGeom>
          <a:noFill/>
          <a:ln/>
        </p:spPr>
        <p:txBody>
          <a:bodyPr wrap="square" lIns="0" tIns="0" rIns="0" bIns="0" rtlCol="0" anchor="ctr"/>
          <a:lstStyle/>
          <a:p>
            <a:pPr marL="0" indent="0">
              <a:buNone/>
            </a:pPr>
            <a:r>
              <a:rPr lang="en-US" sz="950" b="1" dirty="0">
                <a:solidFill>
                  <a:srgbClr val="6366F1"/>
                </a:solidFill>
                <a:latin typeface="Consolas" pitchFamily="34" charset="0"/>
                <a:ea typeface="Consolas" pitchFamily="34" charset="-122"/>
                <a:cs typeface="Consolas" pitchFamily="34" charset="-120"/>
              </a:rPr>
              <a:t>POST</a:t>
            </a:r>
            <a:endParaRPr lang="en-US" sz="950" dirty="0"/>
          </a:p>
        </p:txBody>
      </p:sp>
      <p:sp>
        <p:nvSpPr>
          <p:cNvPr id="43" name="Text 41"/>
          <p:cNvSpPr/>
          <p:nvPr/>
        </p:nvSpPr>
        <p:spPr>
          <a:xfrm>
            <a:off x="1078992" y="2750515"/>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/api/messages</a:t>
            </a:r>
            <a:endParaRPr lang="en-US" sz="900" dirty="0"/>
          </a:p>
        </p:txBody>
      </p:sp>
      <p:sp>
        <p:nvSpPr>
          <p:cNvPr id="44" name="Text 42"/>
          <p:cNvSpPr/>
          <p:nvPr/>
        </p:nvSpPr>
        <p:spPr>
          <a:xfrm>
            <a:off x="3291840" y="2750515"/>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messageController</a:t>
            </a:r>
            <a:endParaRPr lang="en-US" sz="900" dirty="0"/>
          </a:p>
        </p:txBody>
      </p:sp>
      <p:sp>
        <p:nvSpPr>
          <p:cNvPr id="45" name="Text 43"/>
          <p:cNvSpPr/>
          <p:nvPr/>
        </p:nvSpPr>
        <p:spPr>
          <a:xfrm>
            <a:off x="5010912" y="2750515"/>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Save new message (text/image) and trigger Supabase Realtime INSERT</a:t>
            </a:r>
            <a:endParaRPr lang="en-US" sz="900" dirty="0"/>
          </a:p>
        </p:txBody>
      </p:sp>
      <p:sp>
        <p:nvSpPr>
          <p:cNvPr id="46" name="Shape 44"/>
          <p:cNvSpPr/>
          <p:nvPr/>
        </p:nvSpPr>
        <p:spPr>
          <a:xfrm>
            <a:off x="256032" y="3019349"/>
            <a:ext cx="8631936" cy="260604"/>
          </a:xfrm>
          <a:prstGeom prst="rect">
            <a:avLst/>
          </a:prstGeom>
          <a:solidFill>
            <a:srgbClr val="1A2233"/>
          </a:solidFill>
          <a:ln w="12700">
            <a:solidFill>
              <a:srgbClr val="1A2233"/>
            </a:solidFill>
            <a:prstDash val="solid"/>
          </a:ln>
        </p:spPr>
        <p:txBody>
          <a:bodyPr/>
          <a:lstStyle/>
          <a:p>
            <a:endParaRPr lang="en-US"/>
          </a:p>
        </p:txBody>
      </p:sp>
      <p:sp>
        <p:nvSpPr>
          <p:cNvPr id="47" name="Text 45"/>
          <p:cNvSpPr/>
          <p:nvPr/>
        </p:nvSpPr>
        <p:spPr>
          <a:xfrm>
            <a:off x="310896" y="3019349"/>
            <a:ext cx="713232" cy="260604"/>
          </a:xfrm>
          <a:prstGeom prst="rect">
            <a:avLst/>
          </a:prstGeom>
          <a:noFill/>
          <a:ln/>
        </p:spPr>
        <p:txBody>
          <a:bodyPr wrap="square" lIns="0" tIns="0" rIns="0" bIns="0" rtlCol="0" anchor="ctr"/>
          <a:lstStyle/>
          <a:p>
            <a:pPr marL="0" indent="0">
              <a:buNone/>
            </a:pPr>
            <a:r>
              <a:rPr lang="en-US" sz="950" b="1" dirty="0">
                <a:solidFill>
                  <a:srgbClr val="F43F5E"/>
                </a:solidFill>
                <a:latin typeface="Consolas" pitchFamily="34" charset="0"/>
                <a:ea typeface="Consolas" pitchFamily="34" charset="-122"/>
                <a:cs typeface="Consolas" pitchFamily="34" charset="-120"/>
              </a:rPr>
              <a:t>DELETE</a:t>
            </a:r>
            <a:endParaRPr lang="en-US" sz="950" dirty="0"/>
          </a:p>
        </p:txBody>
      </p:sp>
      <p:sp>
        <p:nvSpPr>
          <p:cNvPr id="48" name="Text 46"/>
          <p:cNvSpPr/>
          <p:nvPr/>
        </p:nvSpPr>
        <p:spPr>
          <a:xfrm>
            <a:off x="1078992" y="3019349"/>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/api/messages/:id</a:t>
            </a:r>
            <a:endParaRPr lang="en-US" sz="900" dirty="0"/>
          </a:p>
        </p:txBody>
      </p:sp>
      <p:sp>
        <p:nvSpPr>
          <p:cNvPr id="49" name="Text 47"/>
          <p:cNvSpPr/>
          <p:nvPr/>
        </p:nvSpPr>
        <p:spPr>
          <a:xfrm>
            <a:off x="3291840" y="3019349"/>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messageController</a:t>
            </a:r>
            <a:endParaRPr lang="en-US" sz="900" dirty="0"/>
          </a:p>
        </p:txBody>
      </p:sp>
      <p:sp>
        <p:nvSpPr>
          <p:cNvPr id="50" name="Text 48"/>
          <p:cNvSpPr/>
          <p:nvPr/>
        </p:nvSpPr>
        <p:spPr>
          <a:xfrm>
            <a:off x="5010912" y="3019349"/>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Delete for self (deleted_for[]) or delete for everyone (flag)</a:t>
            </a:r>
            <a:endParaRPr lang="en-US" sz="900" dirty="0"/>
          </a:p>
        </p:txBody>
      </p:sp>
      <p:sp>
        <p:nvSpPr>
          <p:cNvPr id="51" name="Shape 49"/>
          <p:cNvSpPr/>
          <p:nvPr/>
        </p:nvSpPr>
        <p:spPr>
          <a:xfrm>
            <a:off x="256032" y="3288182"/>
            <a:ext cx="8631936" cy="260604"/>
          </a:xfrm>
          <a:prstGeom prst="rect">
            <a:avLst/>
          </a:prstGeom>
          <a:solidFill>
            <a:srgbClr val="161B22"/>
          </a:solidFill>
          <a:ln w="12700">
            <a:solidFill>
              <a:srgbClr val="161B22"/>
            </a:solidFill>
            <a:prstDash val="solid"/>
          </a:ln>
        </p:spPr>
        <p:txBody>
          <a:bodyPr/>
          <a:lstStyle/>
          <a:p>
            <a:endParaRPr lang="en-US"/>
          </a:p>
        </p:txBody>
      </p:sp>
      <p:sp>
        <p:nvSpPr>
          <p:cNvPr id="52" name="Text 50"/>
          <p:cNvSpPr/>
          <p:nvPr/>
        </p:nvSpPr>
        <p:spPr>
          <a:xfrm>
            <a:off x="310896" y="3288182"/>
            <a:ext cx="713232" cy="260604"/>
          </a:xfrm>
          <a:prstGeom prst="rect">
            <a:avLst/>
          </a:prstGeom>
          <a:noFill/>
          <a:ln/>
        </p:spPr>
        <p:txBody>
          <a:bodyPr wrap="square" lIns="0" tIns="0" rIns="0" bIns="0" rtlCol="0" anchor="ctr"/>
          <a:lstStyle/>
          <a:p>
            <a:pPr marL="0" indent="0">
              <a:buNone/>
            </a:pPr>
            <a:r>
              <a:rPr lang="en-US" sz="950" b="1" dirty="0">
                <a:solidFill>
                  <a:srgbClr val="10B981"/>
                </a:solidFill>
                <a:latin typeface="Consolas" pitchFamily="34" charset="0"/>
                <a:ea typeface="Consolas" pitchFamily="34" charset="-122"/>
                <a:cs typeface="Consolas" pitchFamily="34" charset="-120"/>
              </a:rPr>
              <a:t>GET</a:t>
            </a:r>
            <a:endParaRPr lang="en-US" sz="950" dirty="0"/>
          </a:p>
        </p:txBody>
      </p:sp>
      <p:sp>
        <p:nvSpPr>
          <p:cNvPr id="53" name="Text 51"/>
          <p:cNvSpPr/>
          <p:nvPr/>
        </p:nvSpPr>
        <p:spPr>
          <a:xfrm>
            <a:off x="1078992" y="3288182"/>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/api/conversations</a:t>
            </a:r>
            <a:endParaRPr lang="en-US" sz="900" dirty="0"/>
          </a:p>
        </p:txBody>
      </p:sp>
      <p:sp>
        <p:nvSpPr>
          <p:cNvPr id="54" name="Text 52"/>
          <p:cNvSpPr/>
          <p:nvPr/>
        </p:nvSpPr>
        <p:spPr>
          <a:xfrm>
            <a:off x="3291840" y="3288182"/>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conversationController</a:t>
            </a:r>
            <a:endParaRPr lang="en-US" sz="900" dirty="0"/>
          </a:p>
        </p:txBody>
      </p:sp>
      <p:sp>
        <p:nvSpPr>
          <p:cNvPr id="55" name="Text 53"/>
          <p:cNvSpPr/>
          <p:nvPr/>
        </p:nvSpPr>
        <p:spPr>
          <a:xfrm>
            <a:off x="5010912" y="3288182"/>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Fetch all 1-on-1 and group conversations for the authenticated user</a:t>
            </a:r>
            <a:endParaRPr lang="en-US" sz="900" dirty="0"/>
          </a:p>
        </p:txBody>
      </p:sp>
      <p:sp>
        <p:nvSpPr>
          <p:cNvPr id="56" name="Shape 54"/>
          <p:cNvSpPr/>
          <p:nvPr/>
        </p:nvSpPr>
        <p:spPr>
          <a:xfrm>
            <a:off x="256032" y="3557016"/>
            <a:ext cx="8631936" cy="260604"/>
          </a:xfrm>
          <a:prstGeom prst="rect">
            <a:avLst/>
          </a:prstGeom>
          <a:solidFill>
            <a:srgbClr val="1A2233"/>
          </a:solidFill>
          <a:ln w="12700">
            <a:solidFill>
              <a:srgbClr val="1A2233"/>
            </a:solidFill>
            <a:prstDash val="solid"/>
          </a:ln>
        </p:spPr>
        <p:txBody>
          <a:bodyPr/>
          <a:lstStyle/>
          <a:p>
            <a:endParaRPr lang="en-US"/>
          </a:p>
        </p:txBody>
      </p:sp>
      <p:sp>
        <p:nvSpPr>
          <p:cNvPr id="57" name="Text 55"/>
          <p:cNvSpPr/>
          <p:nvPr/>
        </p:nvSpPr>
        <p:spPr>
          <a:xfrm>
            <a:off x="310896" y="3557016"/>
            <a:ext cx="713232" cy="260604"/>
          </a:xfrm>
          <a:prstGeom prst="rect">
            <a:avLst/>
          </a:prstGeom>
          <a:noFill/>
          <a:ln/>
        </p:spPr>
        <p:txBody>
          <a:bodyPr wrap="square" lIns="0" tIns="0" rIns="0" bIns="0" rtlCol="0" anchor="ctr"/>
          <a:lstStyle/>
          <a:p>
            <a:pPr marL="0" indent="0">
              <a:buNone/>
            </a:pPr>
            <a:r>
              <a:rPr lang="en-US" sz="950" b="1" dirty="0">
                <a:solidFill>
                  <a:srgbClr val="6366F1"/>
                </a:solidFill>
                <a:latin typeface="Consolas" pitchFamily="34" charset="0"/>
                <a:ea typeface="Consolas" pitchFamily="34" charset="-122"/>
                <a:cs typeface="Consolas" pitchFamily="34" charset="-120"/>
              </a:rPr>
              <a:t>POST</a:t>
            </a:r>
            <a:endParaRPr lang="en-US" sz="950" dirty="0"/>
          </a:p>
        </p:txBody>
      </p:sp>
      <p:sp>
        <p:nvSpPr>
          <p:cNvPr id="58" name="Text 56"/>
          <p:cNvSpPr/>
          <p:nvPr/>
        </p:nvSpPr>
        <p:spPr>
          <a:xfrm>
            <a:off x="1078992" y="3557016"/>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/api/conversations</a:t>
            </a:r>
            <a:endParaRPr lang="en-US" sz="900" dirty="0"/>
          </a:p>
        </p:txBody>
      </p:sp>
      <p:sp>
        <p:nvSpPr>
          <p:cNvPr id="59" name="Text 57"/>
          <p:cNvSpPr/>
          <p:nvPr/>
        </p:nvSpPr>
        <p:spPr>
          <a:xfrm>
            <a:off x="3291840" y="3557016"/>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conversationController</a:t>
            </a:r>
            <a:endParaRPr lang="en-US" sz="900" dirty="0"/>
          </a:p>
        </p:txBody>
      </p:sp>
      <p:sp>
        <p:nvSpPr>
          <p:cNvPr id="60" name="Text 58"/>
          <p:cNvSpPr/>
          <p:nvPr/>
        </p:nvSpPr>
        <p:spPr>
          <a:xfrm>
            <a:off x="5010912" y="3557016"/>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Create 1-on-1 or group conversation with participant array</a:t>
            </a:r>
            <a:endParaRPr lang="en-US" sz="900" dirty="0"/>
          </a:p>
        </p:txBody>
      </p:sp>
      <p:sp>
        <p:nvSpPr>
          <p:cNvPr id="61" name="Shape 59"/>
          <p:cNvSpPr/>
          <p:nvPr/>
        </p:nvSpPr>
        <p:spPr>
          <a:xfrm>
            <a:off x="256032" y="3825850"/>
            <a:ext cx="8631936" cy="260604"/>
          </a:xfrm>
          <a:prstGeom prst="rect">
            <a:avLst/>
          </a:prstGeom>
          <a:solidFill>
            <a:srgbClr val="161B22"/>
          </a:solidFill>
          <a:ln w="12700">
            <a:solidFill>
              <a:srgbClr val="161B22"/>
            </a:solidFill>
            <a:prstDash val="solid"/>
          </a:ln>
        </p:spPr>
        <p:txBody>
          <a:bodyPr/>
          <a:lstStyle/>
          <a:p>
            <a:endParaRPr lang="en-US"/>
          </a:p>
        </p:txBody>
      </p:sp>
      <p:sp>
        <p:nvSpPr>
          <p:cNvPr id="62" name="Text 60"/>
          <p:cNvSpPr/>
          <p:nvPr/>
        </p:nvSpPr>
        <p:spPr>
          <a:xfrm>
            <a:off x="310896" y="3825850"/>
            <a:ext cx="713232" cy="260604"/>
          </a:xfrm>
          <a:prstGeom prst="rect">
            <a:avLst/>
          </a:prstGeom>
          <a:noFill/>
          <a:ln/>
        </p:spPr>
        <p:txBody>
          <a:bodyPr wrap="square" lIns="0" tIns="0" rIns="0" bIns="0" rtlCol="0" anchor="ctr"/>
          <a:lstStyle/>
          <a:p>
            <a:pPr marL="0" indent="0">
              <a:buNone/>
            </a:pPr>
            <a:r>
              <a:rPr lang="en-US" sz="950" b="1" dirty="0">
                <a:solidFill>
                  <a:srgbClr val="6366F1"/>
                </a:solidFill>
                <a:latin typeface="Consolas" pitchFamily="34" charset="0"/>
                <a:ea typeface="Consolas" pitchFamily="34" charset="-122"/>
                <a:cs typeface="Consolas" pitchFamily="34" charset="-120"/>
              </a:rPr>
              <a:t>POST</a:t>
            </a:r>
            <a:endParaRPr lang="en-US" sz="950" dirty="0"/>
          </a:p>
        </p:txBody>
      </p:sp>
      <p:sp>
        <p:nvSpPr>
          <p:cNvPr id="63" name="Text 61"/>
          <p:cNvSpPr/>
          <p:nvPr/>
        </p:nvSpPr>
        <p:spPr>
          <a:xfrm>
            <a:off x="1078992" y="3825850"/>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/api/calls/end</a:t>
            </a:r>
            <a:endParaRPr lang="en-US" sz="900" dirty="0"/>
          </a:p>
        </p:txBody>
      </p:sp>
      <p:sp>
        <p:nvSpPr>
          <p:cNvPr id="64" name="Text 62"/>
          <p:cNvSpPr/>
          <p:nvPr/>
        </p:nvSpPr>
        <p:spPr>
          <a:xfrm>
            <a:off x="3291840" y="3825850"/>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callController</a:t>
            </a:r>
            <a:endParaRPr lang="en-US" sz="900" dirty="0"/>
          </a:p>
        </p:txBody>
      </p:sp>
      <p:sp>
        <p:nvSpPr>
          <p:cNvPr id="65" name="Text 63"/>
          <p:cNvSpPr/>
          <p:nvPr/>
        </p:nvSpPr>
        <p:spPr>
          <a:xfrm>
            <a:off x="5010912" y="3825850"/>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Log call: remote_user, type, duration, initiated_by_caller flag</a:t>
            </a:r>
            <a:endParaRPr lang="en-US" sz="900" dirty="0"/>
          </a:p>
        </p:txBody>
      </p:sp>
      <p:sp>
        <p:nvSpPr>
          <p:cNvPr id="66" name="Shape 64"/>
          <p:cNvSpPr/>
          <p:nvPr/>
        </p:nvSpPr>
        <p:spPr>
          <a:xfrm>
            <a:off x="256032" y="4094683"/>
            <a:ext cx="8631936" cy="260604"/>
          </a:xfrm>
          <a:prstGeom prst="rect">
            <a:avLst/>
          </a:prstGeom>
          <a:solidFill>
            <a:srgbClr val="1A2233"/>
          </a:solidFill>
          <a:ln w="12700">
            <a:solidFill>
              <a:srgbClr val="1A2233"/>
            </a:solidFill>
            <a:prstDash val="solid"/>
          </a:ln>
        </p:spPr>
        <p:txBody>
          <a:bodyPr/>
          <a:lstStyle/>
          <a:p>
            <a:endParaRPr lang="en-US"/>
          </a:p>
        </p:txBody>
      </p:sp>
      <p:sp>
        <p:nvSpPr>
          <p:cNvPr id="67" name="Text 65"/>
          <p:cNvSpPr/>
          <p:nvPr/>
        </p:nvSpPr>
        <p:spPr>
          <a:xfrm>
            <a:off x="310896" y="4094683"/>
            <a:ext cx="713232" cy="260604"/>
          </a:xfrm>
          <a:prstGeom prst="rect">
            <a:avLst/>
          </a:prstGeom>
          <a:noFill/>
          <a:ln/>
        </p:spPr>
        <p:txBody>
          <a:bodyPr wrap="square" lIns="0" tIns="0" rIns="0" bIns="0" rtlCol="0" anchor="ctr"/>
          <a:lstStyle/>
          <a:p>
            <a:pPr marL="0" indent="0">
              <a:buNone/>
            </a:pPr>
            <a:r>
              <a:rPr lang="en-US" sz="950" b="1" dirty="0">
                <a:solidFill>
                  <a:srgbClr val="10B981"/>
                </a:solidFill>
                <a:latin typeface="Consolas" pitchFamily="34" charset="0"/>
                <a:ea typeface="Consolas" pitchFamily="34" charset="-122"/>
                <a:cs typeface="Consolas" pitchFamily="34" charset="-120"/>
              </a:rPr>
              <a:t>GET</a:t>
            </a:r>
            <a:endParaRPr lang="en-US" sz="950" dirty="0"/>
          </a:p>
        </p:txBody>
      </p:sp>
      <p:sp>
        <p:nvSpPr>
          <p:cNvPr id="68" name="Text 66"/>
          <p:cNvSpPr/>
          <p:nvPr/>
        </p:nvSpPr>
        <p:spPr>
          <a:xfrm>
            <a:off x="1078992" y="4094683"/>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/api/calls</a:t>
            </a:r>
            <a:endParaRPr lang="en-US" sz="900" dirty="0"/>
          </a:p>
        </p:txBody>
      </p:sp>
      <p:sp>
        <p:nvSpPr>
          <p:cNvPr id="69" name="Text 67"/>
          <p:cNvSpPr/>
          <p:nvPr/>
        </p:nvSpPr>
        <p:spPr>
          <a:xfrm>
            <a:off x="3291840" y="4094683"/>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callController</a:t>
            </a:r>
            <a:endParaRPr lang="en-US" sz="900" dirty="0"/>
          </a:p>
        </p:txBody>
      </p:sp>
      <p:sp>
        <p:nvSpPr>
          <p:cNvPr id="70" name="Text 68"/>
          <p:cNvSpPr/>
          <p:nvPr/>
        </p:nvSpPr>
        <p:spPr>
          <a:xfrm>
            <a:off x="5010912" y="4094683"/>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Paginated call history (caller and callee both see entry)</a:t>
            </a:r>
            <a:endParaRPr lang="en-US" sz="900" dirty="0"/>
          </a:p>
        </p:txBody>
      </p:sp>
      <p:sp>
        <p:nvSpPr>
          <p:cNvPr id="71" name="Shape 69"/>
          <p:cNvSpPr/>
          <p:nvPr/>
        </p:nvSpPr>
        <p:spPr>
          <a:xfrm>
            <a:off x="256032" y="4363517"/>
            <a:ext cx="8631936" cy="260604"/>
          </a:xfrm>
          <a:prstGeom prst="rect">
            <a:avLst/>
          </a:prstGeom>
          <a:solidFill>
            <a:srgbClr val="161B22"/>
          </a:solidFill>
          <a:ln w="12700">
            <a:solidFill>
              <a:srgbClr val="161B22"/>
            </a:solidFill>
            <a:prstDash val="solid"/>
          </a:ln>
        </p:spPr>
        <p:txBody>
          <a:bodyPr/>
          <a:lstStyle/>
          <a:p>
            <a:endParaRPr lang="en-US"/>
          </a:p>
        </p:txBody>
      </p:sp>
      <p:sp>
        <p:nvSpPr>
          <p:cNvPr id="72" name="Text 70"/>
          <p:cNvSpPr/>
          <p:nvPr/>
        </p:nvSpPr>
        <p:spPr>
          <a:xfrm>
            <a:off x="310896" y="4363517"/>
            <a:ext cx="713232" cy="260604"/>
          </a:xfrm>
          <a:prstGeom prst="rect">
            <a:avLst/>
          </a:prstGeom>
          <a:noFill/>
          <a:ln/>
        </p:spPr>
        <p:txBody>
          <a:bodyPr wrap="square" lIns="0" tIns="0" rIns="0" bIns="0" rtlCol="0" anchor="ctr"/>
          <a:lstStyle/>
          <a:p>
            <a:pPr marL="0" indent="0">
              <a:buNone/>
            </a:pPr>
            <a:r>
              <a:rPr lang="en-US" sz="950" b="1" dirty="0">
                <a:solidFill>
                  <a:srgbClr val="10B981"/>
                </a:solidFill>
                <a:latin typeface="Consolas" pitchFamily="34" charset="0"/>
                <a:ea typeface="Consolas" pitchFamily="34" charset="-122"/>
                <a:cs typeface="Consolas" pitchFamily="34" charset="-120"/>
              </a:rPr>
              <a:t>GET</a:t>
            </a:r>
            <a:endParaRPr lang="en-US" sz="950" dirty="0"/>
          </a:p>
        </p:txBody>
      </p:sp>
      <p:sp>
        <p:nvSpPr>
          <p:cNvPr id="73" name="Text 71"/>
          <p:cNvSpPr/>
          <p:nvPr/>
        </p:nvSpPr>
        <p:spPr>
          <a:xfrm>
            <a:off x="1078992" y="4363517"/>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/api/users/search?q=</a:t>
            </a:r>
            <a:endParaRPr lang="en-US" sz="900" dirty="0"/>
          </a:p>
        </p:txBody>
      </p:sp>
      <p:sp>
        <p:nvSpPr>
          <p:cNvPr id="74" name="Text 72"/>
          <p:cNvSpPr/>
          <p:nvPr/>
        </p:nvSpPr>
        <p:spPr>
          <a:xfrm>
            <a:off x="3291840" y="4363517"/>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userController</a:t>
            </a:r>
            <a:endParaRPr lang="en-US" sz="900" dirty="0"/>
          </a:p>
        </p:txBody>
      </p:sp>
      <p:sp>
        <p:nvSpPr>
          <p:cNvPr id="75" name="Text 73"/>
          <p:cNvSpPr/>
          <p:nvPr/>
        </p:nvSpPr>
        <p:spPr>
          <a:xfrm>
            <a:off x="5010912" y="4363517"/>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Full-text search on @username field using Supabase ilike query</a:t>
            </a:r>
            <a:endParaRPr lang="en-US" sz="900" dirty="0"/>
          </a:p>
        </p:txBody>
      </p:sp>
      <p:sp>
        <p:nvSpPr>
          <p:cNvPr id="76" name="Shape 74"/>
          <p:cNvSpPr/>
          <p:nvPr/>
        </p:nvSpPr>
        <p:spPr>
          <a:xfrm>
            <a:off x="256032" y="4632350"/>
            <a:ext cx="8631936" cy="260604"/>
          </a:xfrm>
          <a:prstGeom prst="rect">
            <a:avLst/>
          </a:prstGeom>
          <a:solidFill>
            <a:srgbClr val="1A2233"/>
          </a:solidFill>
          <a:ln w="12700">
            <a:solidFill>
              <a:srgbClr val="1A2233"/>
            </a:solidFill>
            <a:prstDash val="solid"/>
          </a:ln>
        </p:spPr>
        <p:txBody>
          <a:bodyPr/>
          <a:lstStyle/>
          <a:p>
            <a:endParaRPr lang="en-US"/>
          </a:p>
        </p:txBody>
      </p:sp>
      <p:sp>
        <p:nvSpPr>
          <p:cNvPr id="77" name="Text 75"/>
          <p:cNvSpPr/>
          <p:nvPr/>
        </p:nvSpPr>
        <p:spPr>
          <a:xfrm>
            <a:off x="310896" y="4632350"/>
            <a:ext cx="713232" cy="260604"/>
          </a:xfrm>
          <a:prstGeom prst="rect">
            <a:avLst/>
          </a:prstGeom>
          <a:noFill/>
          <a:ln/>
        </p:spPr>
        <p:txBody>
          <a:bodyPr wrap="square" lIns="0" tIns="0" rIns="0" bIns="0" rtlCol="0" anchor="ctr"/>
          <a:lstStyle/>
          <a:p>
            <a:pPr marL="0" indent="0">
              <a:buNone/>
            </a:pPr>
            <a:r>
              <a:rPr lang="en-US" sz="950" b="1" dirty="0">
                <a:solidFill>
                  <a:srgbClr val="F59E0B"/>
                </a:solidFill>
                <a:latin typeface="Consolas" pitchFamily="34" charset="0"/>
                <a:ea typeface="Consolas" pitchFamily="34" charset="-122"/>
                <a:cs typeface="Consolas" pitchFamily="34" charset="-120"/>
              </a:rPr>
              <a:t>PUT</a:t>
            </a:r>
            <a:endParaRPr lang="en-US" sz="950" dirty="0"/>
          </a:p>
        </p:txBody>
      </p:sp>
      <p:sp>
        <p:nvSpPr>
          <p:cNvPr id="78" name="Text 76"/>
          <p:cNvSpPr/>
          <p:nvPr/>
        </p:nvSpPr>
        <p:spPr>
          <a:xfrm>
            <a:off x="1078992" y="4632350"/>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/api/profiles/:id</a:t>
            </a:r>
            <a:endParaRPr lang="en-US" sz="900" dirty="0"/>
          </a:p>
        </p:txBody>
      </p:sp>
      <p:sp>
        <p:nvSpPr>
          <p:cNvPr id="79" name="Text 77"/>
          <p:cNvSpPr/>
          <p:nvPr/>
        </p:nvSpPr>
        <p:spPr>
          <a:xfrm>
            <a:off x="3291840" y="4632350"/>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userController</a:t>
            </a:r>
            <a:endParaRPr lang="en-US" sz="900" dirty="0"/>
          </a:p>
        </p:txBody>
      </p:sp>
      <p:sp>
        <p:nvSpPr>
          <p:cNvPr id="80" name="Text 78"/>
          <p:cNvSpPr/>
          <p:nvPr/>
        </p:nvSpPr>
        <p:spPr>
          <a:xfrm>
            <a:off x="5010912" y="4632350"/>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Update bio, display_name, or avatar_url (Multer→Storage pipeline)</a:t>
            </a:r>
            <a:endParaRPr lang="en-US" sz="900" dirty="0"/>
          </a:p>
        </p:txBody>
      </p:sp>
      <p:sp>
        <p:nvSpPr>
          <p:cNvPr id="81" name="Shape 79"/>
          <p:cNvSpPr/>
          <p:nvPr/>
        </p:nvSpPr>
        <p:spPr>
          <a:xfrm>
            <a:off x="256032" y="4901184"/>
            <a:ext cx="8631936" cy="260604"/>
          </a:xfrm>
          <a:prstGeom prst="rect">
            <a:avLst/>
          </a:prstGeom>
          <a:solidFill>
            <a:srgbClr val="161B22"/>
          </a:solidFill>
          <a:ln w="12700">
            <a:solidFill>
              <a:srgbClr val="161B22"/>
            </a:solidFill>
            <a:prstDash val="solid"/>
          </a:ln>
        </p:spPr>
        <p:txBody>
          <a:bodyPr/>
          <a:lstStyle/>
          <a:p>
            <a:endParaRPr lang="en-US"/>
          </a:p>
        </p:txBody>
      </p:sp>
      <p:sp>
        <p:nvSpPr>
          <p:cNvPr id="82" name="Text 80"/>
          <p:cNvSpPr/>
          <p:nvPr/>
        </p:nvSpPr>
        <p:spPr>
          <a:xfrm>
            <a:off x="310896" y="4901184"/>
            <a:ext cx="713232" cy="260604"/>
          </a:xfrm>
          <a:prstGeom prst="rect">
            <a:avLst/>
          </a:prstGeom>
          <a:noFill/>
          <a:ln/>
        </p:spPr>
        <p:txBody>
          <a:bodyPr wrap="square" lIns="0" tIns="0" rIns="0" bIns="0" rtlCol="0" anchor="ctr"/>
          <a:lstStyle/>
          <a:p>
            <a:pPr marL="0" indent="0">
              <a:buNone/>
            </a:pPr>
            <a:r>
              <a:rPr lang="en-US" sz="950" b="1" dirty="0">
                <a:solidFill>
                  <a:srgbClr val="6366F1"/>
                </a:solidFill>
                <a:latin typeface="Consolas" pitchFamily="34" charset="0"/>
                <a:ea typeface="Consolas" pitchFamily="34" charset="-122"/>
                <a:cs typeface="Consolas" pitchFamily="34" charset="-120"/>
              </a:rPr>
              <a:t>POST</a:t>
            </a:r>
            <a:endParaRPr lang="en-US" sz="950" dirty="0"/>
          </a:p>
        </p:txBody>
      </p:sp>
      <p:sp>
        <p:nvSpPr>
          <p:cNvPr id="83" name="Text 81"/>
          <p:cNvSpPr/>
          <p:nvPr/>
        </p:nvSpPr>
        <p:spPr>
          <a:xfrm>
            <a:off x="1078992" y="4901184"/>
            <a:ext cx="2148840" cy="260604"/>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/api/status</a:t>
            </a:r>
            <a:endParaRPr lang="en-US" sz="900" dirty="0"/>
          </a:p>
        </p:txBody>
      </p:sp>
      <p:sp>
        <p:nvSpPr>
          <p:cNvPr id="84" name="Text 82"/>
          <p:cNvSpPr/>
          <p:nvPr/>
        </p:nvSpPr>
        <p:spPr>
          <a:xfrm>
            <a:off x="3291840" y="4901184"/>
            <a:ext cx="1664208" cy="260604"/>
          </a:xfrm>
          <a:prstGeom prst="rect">
            <a:avLst/>
          </a:prstGeom>
          <a:noFill/>
          <a:ln/>
        </p:spPr>
        <p:txBody>
          <a:bodyPr wrap="square" lIns="0" tIns="0" rIns="0" bIns="0" rtlCol="0" anchor="ctr"/>
          <a:lstStyle/>
          <a:p>
            <a:pPr marL="0" indent="0">
              <a:buNone/>
            </a:pPr>
            <a:r>
              <a:rPr lang="en-US" sz="900" dirty="0">
                <a:solidFill>
                  <a:srgbClr val="8B5CF6"/>
                </a:solidFill>
                <a:latin typeface="Calibri" pitchFamily="34" charset="0"/>
                <a:ea typeface="Calibri" pitchFamily="34" charset="-122"/>
                <a:cs typeface="Calibri" pitchFamily="34" charset="-120"/>
              </a:rPr>
              <a:t>statusController</a:t>
            </a:r>
            <a:endParaRPr lang="en-US" sz="900" dirty="0"/>
          </a:p>
        </p:txBody>
      </p:sp>
      <p:sp>
        <p:nvSpPr>
          <p:cNvPr id="85" name="Text 83"/>
          <p:cNvSpPr/>
          <p:nvPr/>
        </p:nvSpPr>
        <p:spPr>
          <a:xfrm>
            <a:off x="5010912" y="4901184"/>
            <a:ext cx="3813048" cy="260604"/>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Upload 24-hr status image; Multer buffers it to Supabase Storage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Real-Time Messaging System</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How messages travel from sender to receiver in under 100ms — with zero page refresh</a:t>
            </a:r>
            <a:endParaRPr lang="en-US" sz="1300" dirty="0"/>
          </a:p>
        </p:txBody>
      </p:sp>
      <p:pic>
        <p:nvPicPr>
          <p:cNvPr id="5" name="Image 0" descr="preencoded.png"/>
          <p:cNvPicPr>
            <a:picLocks noChangeAspect="1"/>
          </p:cNvPicPr>
          <p:nvPr/>
        </p:nvPicPr>
        <p:blipFill>
          <a:blip r:embed="rId3"/>
          <a:stretch>
            <a:fillRect/>
          </a:stretch>
        </p:blipFill>
        <p:spPr>
          <a:xfrm>
            <a:off x="5047488" y="1024128"/>
            <a:ext cx="3822192" cy="2304288"/>
          </a:xfrm>
          <a:prstGeom prst="rect">
            <a:avLst/>
          </a:prstGeom>
        </p:spPr>
      </p:pic>
      <p:pic>
        <p:nvPicPr>
          <p:cNvPr id="6" name="Image 1" descr="preencoded.png"/>
          <p:cNvPicPr>
            <a:picLocks noChangeAspect="1"/>
          </p:cNvPicPr>
          <p:nvPr/>
        </p:nvPicPr>
        <p:blipFill>
          <a:blip r:embed="rId4"/>
          <a:stretch>
            <a:fillRect/>
          </a:stretch>
        </p:blipFill>
        <p:spPr>
          <a:xfrm>
            <a:off x="5047488" y="3337560"/>
            <a:ext cx="3749040" cy="1627632"/>
          </a:xfrm>
          <a:prstGeom prst="rect">
            <a:avLst/>
          </a:prstGeom>
        </p:spPr>
      </p:pic>
      <p:sp>
        <p:nvSpPr>
          <p:cNvPr id="7" name="Shape 3"/>
          <p:cNvSpPr/>
          <p:nvPr/>
        </p:nvSpPr>
        <p:spPr>
          <a:xfrm>
            <a:off x="256032" y="987552"/>
            <a:ext cx="4663440" cy="749808"/>
          </a:xfrm>
          <a:prstGeom prst="rect">
            <a:avLst/>
          </a:prstGeom>
          <a:solidFill>
            <a:srgbClr val="161B22"/>
          </a:solidFill>
          <a:ln w="8890">
            <a:solidFill>
              <a:srgbClr val="6366F1"/>
            </a:solidFill>
            <a:prstDash val="solid"/>
          </a:ln>
          <a:effectLst>
            <a:outerShdw blurRad="101600" dist="25400" dir="8100000" algn="bl" rotWithShape="0">
              <a:srgbClr val="000000">
                <a:alpha val="28000"/>
              </a:srgbClr>
            </a:outerShdw>
          </a:effectLst>
        </p:spPr>
        <p:txBody>
          <a:bodyPr/>
          <a:lstStyle/>
          <a:p>
            <a:endParaRPr lang="en-US"/>
          </a:p>
        </p:txBody>
      </p:sp>
      <p:sp>
        <p:nvSpPr>
          <p:cNvPr id="8" name="Shape 4"/>
          <p:cNvSpPr/>
          <p:nvPr/>
        </p:nvSpPr>
        <p:spPr>
          <a:xfrm>
            <a:off x="329184" y="1152144"/>
            <a:ext cx="402336" cy="402336"/>
          </a:xfrm>
          <a:prstGeom prst="ellipse">
            <a:avLst/>
          </a:prstGeom>
          <a:solidFill>
            <a:srgbClr val="6366F1"/>
          </a:solidFill>
          <a:ln w="12700">
            <a:solidFill>
              <a:srgbClr val="6366F1"/>
            </a:solidFill>
            <a:prstDash val="solid"/>
          </a:ln>
        </p:spPr>
        <p:txBody>
          <a:bodyPr/>
          <a:lstStyle/>
          <a:p>
            <a:endParaRPr lang="en-US"/>
          </a:p>
        </p:txBody>
      </p:sp>
      <p:sp>
        <p:nvSpPr>
          <p:cNvPr id="9" name="Text 5"/>
          <p:cNvSpPr/>
          <p:nvPr/>
        </p:nvSpPr>
        <p:spPr>
          <a:xfrm>
            <a:off x="329184" y="1152144"/>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1</a:t>
            </a:r>
            <a:endParaRPr lang="en-US" sz="1400" dirty="0"/>
          </a:p>
        </p:txBody>
      </p:sp>
      <p:sp>
        <p:nvSpPr>
          <p:cNvPr id="10" name="Text 6"/>
          <p:cNvSpPr/>
          <p:nvPr/>
        </p:nvSpPr>
        <p:spPr>
          <a:xfrm>
            <a:off x="822960" y="1042416"/>
            <a:ext cx="4005072" cy="256032"/>
          </a:xfrm>
          <a:prstGeom prst="rect">
            <a:avLst/>
          </a:prstGeom>
          <a:noFill/>
          <a:ln/>
        </p:spPr>
        <p:txBody>
          <a:bodyPr wrap="square" lIns="0" tIns="0" rIns="0" bIns="0" rtlCol="0" anchor="ctr"/>
          <a:lstStyle/>
          <a:p>
            <a:pPr marL="0" indent="0">
              <a:buNone/>
            </a:pPr>
            <a:r>
              <a:rPr lang="en-US" sz="1200" b="1" dirty="0">
                <a:solidFill>
                  <a:srgbClr val="6366F1"/>
                </a:solidFill>
                <a:latin typeface="Calibri" pitchFamily="34" charset="0"/>
                <a:ea typeface="Calibri" pitchFamily="34" charset="-122"/>
                <a:cs typeface="Calibri" pitchFamily="34" charset="-120"/>
              </a:rPr>
              <a:t>User types and sends</a:t>
            </a:r>
            <a:endParaRPr lang="en-US" sz="1200" dirty="0"/>
          </a:p>
        </p:txBody>
      </p:sp>
      <p:sp>
        <p:nvSpPr>
          <p:cNvPr id="11" name="Text 7"/>
          <p:cNvSpPr/>
          <p:nvPr/>
        </p:nvSpPr>
        <p:spPr>
          <a:xfrm>
            <a:off x="822960" y="1298448"/>
            <a:ext cx="4005072"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MessageInput component calls api.post('/messages', { conversation_id, content, message_type }). Axios interceptor auto-attaches JWT.</a:t>
            </a:r>
            <a:endParaRPr lang="en-US" sz="950" dirty="0"/>
          </a:p>
        </p:txBody>
      </p:sp>
      <p:sp>
        <p:nvSpPr>
          <p:cNvPr id="12" name="Shape 8"/>
          <p:cNvSpPr/>
          <p:nvPr/>
        </p:nvSpPr>
        <p:spPr>
          <a:xfrm>
            <a:off x="256032" y="1810512"/>
            <a:ext cx="4663440" cy="749808"/>
          </a:xfrm>
          <a:prstGeom prst="rect">
            <a:avLst/>
          </a:prstGeom>
          <a:solidFill>
            <a:srgbClr val="161B22"/>
          </a:solidFill>
          <a:ln w="889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sp>
        <p:nvSpPr>
          <p:cNvPr id="13" name="Shape 9"/>
          <p:cNvSpPr/>
          <p:nvPr/>
        </p:nvSpPr>
        <p:spPr>
          <a:xfrm>
            <a:off x="329184" y="1975104"/>
            <a:ext cx="402336" cy="402336"/>
          </a:xfrm>
          <a:prstGeom prst="ellipse">
            <a:avLst/>
          </a:prstGeom>
          <a:solidFill>
            <a:srgbClr val="8B5CF6"/>
          </a:solidFill>
          <a:ln w="12700">
            <a:solidFill>
              <a:srgbClr val="8B5CF6"/>
            </a:solidFill>
            <a:prstDash val="solid"/>
          </a:ln>
        </p:spPr>
        <p:txBody>
          <a:bodyPr/>
          <a:lstStyle/>
          <a:p>
            <a:endParaRPr lang="en-US"/>
          </a:p>
        </p:txBody>
      </p:sp>
      <p:sp>
        <p:nvSpPr>
          <p:cNvPr id="14" name="Text 10"/>
          <p:cNvSpPr/>
          <p:nvPr/>
        </p:nvSpPr>
        <p:spPr>
          <a:xfrm>
            <a:off x="329184" y="1975104"/>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2</a:t>
            </a:r>
            <a:endParaRPr lang="en-US" sz="1400" dirty="0"/>
          </a:p>
        </p:txBody>
      </p:sp>
      <p:sp>
        <p:nvSpPr>
          <p:cNvPr id="15" name="Text 11"/>
          <p:cNvSpPr/>
          <p:nvPr/>
        </p:nvSpPr>
        <p:spPr>
          <a:xfrm>
            <a:off x="822960" y="1865376"/>
            <a:ext cx="4005072" cy="256032"/>
          </a:xfrm>
          <a:prstGeom prst="rect">
            <a:avLst/>
          </a:prstGeom>
          <a:noFill/>
          <a:ln/>
        </p:spPr>
        <p:txBody>
          <a:bodyPr wrap="square" lIns="0" tIns="0" rIns="0" bIns="0"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Backend validates &amp; stores</a:t>
            </a:r>
            <a:endParaRPr lang="en-US" sz="1200" dirty="0"/>
          </a:p>
        </p:txBody>
      </p:sp>
      <p:sp>
        <p:nvSpPr>
          <p:cNvPr id="16" name="Text 12"/>
          <p:cNvSpPr/>
          <p:nvPr/>
        </p:nvSpPr>
        <p:spPr>
          <a:xfrm>
            <a:off x="822960" y="2121408"/>
            <a:ext cx="4005072"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messageController verifies JWT, validates body, then calls supabase.from('messages').insert(). Supabase triggers an internal database event.</a:t>
            </a:r>
            <a:endParaRPr lang="en-US" sz="950" dirty="0"/>
          </a:p>
        </p:txBody>
      </p:sp>
      <p:sp>
        <p:nvSpPr>
          <p:cNvPr id="17" name="Shape 13"/>
          <p:cNvSpPr/>
          <p:nvPr/>
        </p:nvSpPr>
        <p:spPr>
          <a:xfrm>
            <a:off x="256032" y="2633472"/>
            <a:ext cx="4663440" cy="749808"/>
          </a:xfrm>
          <a:prstGeom prst="rect">
            <a:avLst/>
          </a:prstGeom>
          <a:solidFill>
            <a:srgbClr val="161B22"/>
          </a:solidFill>
          <a:ln w="889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sp>
        <p:nvSpPr>
          <p:cNvPr id="18" name="Shape 14"/>
          <p:cNvSpPr/>
          <p:nvPr/>
        </p:nvSpPr>
        <p:spPr>
          <a:xfrm>
            <a:off x="329184" y="2798064"/>
            <a:ext cx="402336" cy="402336"/>
          </a:xfrm>
          <a:prstGeom prst="ellipse">
            <a:avLst/>
          </a:prstGeom>
          <a:solidFill>
            <a:srgbClr val="22D3EE"/>
          </a:solidFill>
          <a:ln w="12700">
            <a:solidFill>
              <a:srgbClr val="22D3EE"/>
            </a:solidFill>
            <a:prstDash val="solid"/>
          </a:ln>
        </p:spPr>
        <p:txBody>
          <a:bodyPr/>
          <a:lstStyle/>
          <a:p>
            <a:endParaRPr lang="en-US"/>
          </a:p>
        </p:txBody>
      </p:sp>
      <p:sp>
        <p:nvSpPr>
          <p:cNvPr id="19" name="Text 15"/>
          <p:cNvSpPr/>
          <p:nvPr/>
        </p:nvSpPr>
        <p:spPr>
          <a:xfrm>
            <a:off x="329184" y="2798064"/>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3</a:t>
            </a:r>
            <a:endParaRPr lang="en-US" sz="1400" dirty="0"/>
          </a:p>
        </p:txBody>
      </p:sp>
      <p:sp>
        <p:nvSpPr>
          <p:cNvPr id="20" name="Text 16"/>
          <p:cNvSpPr/>
          <p:nvPr/>
        </p:nvSpPr>
        <p:spPr>
          <a:xfrm>
            <a:off x="822960" y="2688336"/>
            <a:ext cx="4005072" cy="256032"/>
          </a:xfrm>
          <a:prstGeom prst="rect">
            <a:avLst/>
          </a:prstGeom>
          <a:noFill/>
          <a:ln/>
        </p:spPr>
        <p:txBody>
          <a:bodyPr wrap="square" lIns="0" tIns="0" rIns="0" bIns="0"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Realtime broadcast fires</a:t>
            </a:r>
            <a:endParaRPr lang="en-US" sz="1200" dirty="0"/>
          </a:p>
        </p:txBody>
      </p:sp>
      <p:sp>
        <p:nvSpPr>
          <p:cNvPr id="21" name="Text 17"/>
          <p:cNvSpPr/>
          <p:nvPr/>
        </p:nvSpPr>
        <p:spPr>
          <a:xfrm>
            <a:off x="822960" y="2944368"/>
            <a:ext cx="4005072"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Since Realtime is enabled on the messages table (ALTER PUBLICATION), Supabase broadcasts the INSERT event to all subscribed channels.</a:t>
            </a:r>
            <a:endParaRPr lang="en-US" sz="950" dirty="0"/>
          </a:p>
        </p:txBody>
      </p:sp>
      <p:sp>
        <p:nvSpPr>
          <p:cNvPr id="22" name="Shape 18"/>
          <p:cNvSpPr/>
          <p:nvPr/>
        </p:nvSpPr>
        <p:spPr>
          <a:xfrm>
            <a:off x="256032" y="3456432"/>
            <a:ext cx="4663440" cy="749808"/>
          </a:xfrm>
          <a:prstGeom prst="rect">
            <a:avLst/>
          </a:prstGeom>
          <a:solidFill>
            <a:srgbClr val="161B22"/>
          </a:solidFill>
          <a:ln w="889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sp>
        <p:nvSpPr>
          <p:cNvPr id="23" name="Shape 19"/>
          <p:cNvSpPr/>
          <p:nvPr/>
        </p:nvSpPr>
        <p:spPr>
          <a:xfrm>
            <a:off x="329184" y="3621024"/>
            <a:ext cx="402336" cy="402336"/>
          </a:xfrm>
          <a:prstGeom prst="ellipse">
            <a:avLst/>
          </a:prstGeom>
          <a:solidFill>
            <a:srgbClr val="10B981"/>
          </a:solidFill>
          <a:ln w="12700">
            <a:solidFill>
              <a:srgbClr val="10B981"/>
            </a:solidFill>
            <a:prstDash val="solid"/>
          </a:ln>
        </p:spPr>
        <p:txBody>
          <a:bodyPr/>
          <a:lstStyle/>
          <a:p>
            <a:endParaRPr lang="en-US"/>
          </a:p>
        </p:txBody>
      </p:sp>
      <p:sp>
        <p:nvSpPr>
          <p:cNvPr id="24" name="Text 20"/>
          <p:cNvSpPr/>
          <p:nvPr/>
        </p:nvSpPr>
        <p:spPr>
          <a:xfrm>
            <a:off x="329184" y="3621024"/>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822960" y="3511296"/>
            <a:ext cx="4005072" cy="256032"/>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Recipient receives event</a:t>
            </a:r>
            <a:endParaRPr lang="en-US" sz="1200" dirty="0"/>
          </a:p>
        </p:txBody>
      </p:sp>
      <p:sp>
        <p:nvSpPr>
          <p:cNvPr id="26" name="Text 22"/>
          <p:cNvSpPr/>
          <p:nvPr/>
        </p:nvSpPr>
        <p:spPr>
          <a:xfrm>
            <a:off x="822960" y="3767328"/>
            <a:ext cx="4005072"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useMessages hook has a channel subscription: .on('postgres_changes', { event:'INSERT', filter:'conversation_id=eq.{id}' }). The event arrives instantly.</a:t>
            </a:r>
            <a:endParaRPr lang="en-US" sz="950" dirty="0"/>
          </a:p>
        </p:txBody>
      </p:sp>
      <p:sp>
        <p:nvSpPr>
          <p:cNvPr id="27" name="Shape 23"/>
          <p:cNvSpPr/>
          <p:nvPr/>
        </p:nvSpPr>
        <p:spPr>
          <a:xfrm>
            <a:off x="256032" y="4279392"/>
            <a:ext cx="4663440" cy="749808"/>
          </a:xfrm>
          <a:prstGeom prst="rect">
            <a:avLst/>
          </a:prstGeom>
          <a:solidFill>
            <a:srgbClr val="161B22"/>
          </a:solidFill>
          <a:ln w="8890">
            <a:solidFill>
              <a:srgbClr val="F59E0B"/>
            </a:solidFill>
            <a:prstDash val="solid"/>
          </a:ln>
          <a:effectLst>
            <a:outerShdw blurRad="101600" dist="25400" dir="8100000" algn="bl" rotWithShape="0">
              <a:srgbClr val="000000">
                <a:alpha val="28000"/>
              </a:srgbClr>
            </a:outerShdw>
          </a:effectLst>
        </p:spPr>
        <p:txBody>
          <a:bodyPr/>
          <a:lstStyle/>
          <a:p>
            <a:endParaRPr lang="en-US"/>
          </a:p>
        </p:txBody>
      </p:sp>
      <p:sp>
        <p:nvSpPr>
          <p:cNvPr id="28" name="Shape 24"/>
          <p:cNvSpPr/>
          <p:nvPr/>
        </p:nvSpPr>
        <p:spPr>
          <a:xfrm>
            <a:off x="329184" y="4443984"/>
            <a:ext cx="402336" cy="402336"/>
          </a:xfrm>
          <a:prstGeom prst="ellipse">
            <a:avLst/>
          </a:prstGeom>
          <a:solidFill>
            <a:srgbClr val="F59E0B"/>
          </a:solidFill>
          <a:ln w="12700">
            <a:solidFill>
              <a:srgbClr val="F59E0B"/>
            </a:solidFill>
            <a:prstDash val="solid"/>
          </a:ln>
        </p:spPr>
        <p:txBody>
          <a:bodyPr/>
          <a:lstStyle/>
          <a:p>
            <a:endParaRPr lang="en-US"/>
          </a:p>
        </p:txBody>
      </p:sp>
      <p:sp>
        <p:nvSpPr>
          <p:cNvPr id="29" name="Text 25"/>
          <p:cNvSpPr/>
          <p:nvPr/>
        </p:nvSpPr>
        <p:spPr>
          <a:xfrm>
            <a:off x="329184" y="4443984"/>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5</a:t>
            </a:r>
            <a:endParaRPr lang="en-US" sz="1400" dirty="0"/>
          </a:p>
        </p:txBody>
      </p:sp>
      <p:sp>
        <p:nvSpPr>
          <p:cNvPr id="30" name="Text 26"/>
          <p:cNvSpPr/>
          <p:nvPr/>
        </p:nvSpPr>
        <p:spPr>
          <a:xfrm>
            <a:off x="822960" y="4334256"/>
            <a:ext cx="4005072" cy="25603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UI updates instantly</a:t>
            </a:r>
            <a:endParaRPr lang="en-US" sz="1200" dirty="0"/>
          </a:p>
        </p:txBody>
      </p:sp>
      <p:sp>
        <p:nvSpPr>
          <p:cNvPr id="31" name="Text 27"/>
          <p:cNvSpPr/>
          <p:nvPr/>
        </p:nvSpPr>
        <p:spPr>
          <a:xfrm>
            <a:off x="822960" y="4590288"/>
            <a:ext cx="4005072"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The new message is appended to React state. ChatWindow renders the new MessageBubble — no polling, no page refresh needed. Read receipt is also updated.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WebRTC Peer-to-Peer Calling</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Audio &amp; video calling with zero media relay server cost — full signaling flow explained</a:t>
            </a:r>
            <a:endParaRPr lang="en-US" sz="1300" dirty="0"/>
          </a:p>
        </p:txBody>
      </p:sp>
      <p:pic>
        <p:nvPicPr>
          <p:cNvPr id="5" name="Image 0" descr="preencoded.png"/>
          <p:cNvPicPr>
            <a:picLocks noChangeAspect="1"/>
          </p:cNvPicPr>
          <p:nvPr/>
        </p:nvPicPr>
        <p:blipFill>
          <a:blip r:embed="rId3"/>
          <a:stretch>
            <a:fillRect/>
          </a:stretch>
        </p:blipFill>
        <p:spPr>
          <a:xfrm>
            <a:off x="256032" y="3401568"/>
            <a:ext cx="3840480" cy="1600200"/>
          </a:xfrm>
          <a:prstGeom prst="rect">
            <a:avLst/>
          </a:prstGeom>
        </p:spPr>
      </p:pic>
      <p:pic>
        <p:nvPicPr>
          <p:cNvPr id="6" name="Image 1" descr="preencoded.png"/>
          <p:cNvPicPr>
            <a:picLocks noChangeAspect="1"/>
          </p:cNvPicPr>
          <p:nvPr/>
        </p:nvPicPr>
        <p:blipFill>
          <a:blip r:embed="rId4"/>
          <a:stretch>
            <a:fillRect/>
          </a:stretch>
        </p:blipFill>
        <p:spPr>
          <a:xfrm>
            <a:off x="292608" y="1005840"/>
            <a:ext cx="475488" cy="475488"/>
          </a:xfrm>
          <a:prstGeom prst="rect">
            <a:avLst/>
          </a:prstGeom>
        </p:spPr>
      </p:pic>
      <p:sp>
        <p:nvSpPr>
          <p:cNvPr id="7" name="Text 3"/>
          <p:cNvSpPr/>
          <p:nvPr/>
        </p:nvSpPr>
        <p:spPr>
          <a:xfrm>
            <a:off x="841248" y="1024128"/>
            <a:ext cx="4023360" cy="274320"/>
          </a:xfrm>
          <a:prstGeom prst="rect">
            <a:avLst/>
          </a:prstGeom>
          <a:noFill/>
          <a:ln/>
        </p:spPr>
        <p:txBody>
          <a:bodyPr wrap="square" lIns="0" tIns="0" rIns="0" bIns="0" rtlCol="0" anchor="ctr"/>
          <a:lstStyle/>
          <a:p>
            <a:pPr marL="0" indent="0">
              <a:buNone/>
            </a:pPr>
            <a:r>
              <a:rPr lang="en-US" sz="1400" b="1" dirty="0">
                <a:solidFill>
                  <a:srgbClr val="F43F5E"/>
                </a:solidFill>
                <a:latin typeface="Calibri" pitchFamily="34" charset="0"/>
                <a:ea typeface="Calibri" pitchFamily="34" charset="-122"/>
                <a:cs typeface="Calibri" pitchFamily="34" charset="-120"/>
              </a:rPr>
              <a:t>Why WebRTC?</a:t>
            </a:r>
            <a:endParaRPr lang="en-US" sz="1400" dirty="0"/>
          </a:p>
        </p:txBody>
      </p:sp>
      <p:sp>
        <p:nvSpPr>
          <p:cNvPr id="8" name="Text 4"/>
          <p:cNvSpPr/>
          <p:nvPr/>
        </p:nvSpPr>
        <p:spPr>
          <a:xfrm>
            <a:off x="841248" y="1325880"/>
            <a:ext cx="3931920" cy="914400"/>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WebRTC streams audio/video directly peer-to-peer between browsers using NAT traversal (ICE/STUN). No media relay server means zero bandwidth cost for the application. SDP offer/answer signaling is cleverly routed through Supabase's call_signals table — eliminating the need for a separate WebSocket signaling server.</a:t>
            </a:r>
            <a:endParaRPr lang="en-US" sz="1100" dirty="0"/>
          </a:p>
        </p:txBody>
      </p:sp>
      <p:pic>
        <p:nvPicPr>
          <p:cNvPr id="9" name="Image 2" descr="preencoded.png"/>
          <p:cNvPicPr>
            <a:picLocks noChangeAspect="1"/>
          </p:cNvPicPr>
          <p:nvPr/>
        </p:nvPicPr>
        <p:blipFill>
          <a:blip r:embed="rId5"/>
          <a:stretch>
            <a:fillRect/>
          </a:stretch>
        </p:blipFill>
        <p:spPr>
          <a:xfrm>
            <a:off x="292608" y="2377440"/>
            <a:ext cx="438912" cy="438912"/>
          </a:xfrm>
          <a:prstGeom prst="rect">
            <a:avLst/>
          </a:prstGeom>
        </p:spPr>
      </p:pic>
      <p:sp>
        <p:nvSpPr>
          <p:cNvPr id="10" name="Text 5"/>
          <p:cNvSpPr/>
          <p:nvPr/>
        </p:nvSpPr>
        <p:spPr>
          <a:xfrm>
            <a:off x="804672" y="2377440"/>
            <a:ext cx="3931920" cy="237744"/>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STUN Servers used:</a:t>
            </a:r>
            <a:endParaRPr lang="en-US" sz="1100" dirty="0"/>
          </a:p>
        </p:txBody>
      </p:sp>
      <p:sp>
        <p:nvSpPr>
          <p:cNvPr id="11" name="Text 6"/>
          <p:cNvSpPr/>
          <p:nvPr/>
        </p:nvSpPr>
        <p:spPr>
          <a:xfrm>
            <a:off x="804672" y="2633472"/>
            <a:ext cx="3931920" cy="548640"/>
          </a:xfrm>
          <a:prstGeom prst="rect">
            <a:avLst/>
          </a:prstGeom>
          <a:noFill/>
          <a:ln/>
        </p:spPr>
        <p:txBody>
          <a:bodyPr wrap="square" lIns="0" tIns="0" rIns="0" bIns="0" rtlCol="0" anchor="ctr"/>
          <a:lstStyle/>
          <a:p>
            <a:pPr marL="0" indent="0">
              <a:buNone/>
            </a:pPr>
            <a:r>
              <a:rPr lang="en-US" sz="1050" dirty="0">
                <a:solidFill>
                  <a:srgbClr val="8B949E"/>
                </a:solidFill>
                <a:latin typeface="Consolas" pitchFamily="34" charset="0"/>
                <a:ea typeface="Consolas" pitchFamily="34" charset="-122"/>
                <a:cs typeface="Consolas" pitchFamily="34" charset="-120"/>
              </a:rPr>
              <a:t>stun.l.google.com:19302  +  stun1.l.google.com:19302</a:t>
            </a:r>
            <a:endParaRPr lang="en-US" sz="1050" dirty="0"/>
          </a:p>
          <a:p>
            <a:pPr marL="0" indent="0">
              <a:buNone/>
            </a:pPr>
            <a:r>
              <a:rPr lang="en-US" sz="1050" dirty="0">
                <a:solidFill>
                  <a:srgbClr val="8B949E"/>
                </a:solidFill>
                <a:latin typeface="Consolas" pitchFamily="34" charset="0"/>
                <a:ea typeface="Consolas" pitchFamily="34" charset="-122"/>
                <a:cs typeface="Consolas" pitchFamily="34" charset="-120"/>
              </a:rPr>
              <a:t>(Free public STUN — TURN relay not yet configured for strict NATs)</a:t>
            </a:r>
            <a:endParaRPr lang="en-US" sz="1050" dirty="0"/>
          </a:p>
        </p:txBody>
      </p:sp>
      <p:sp>
        <p:nvSpPr>
          <p:cNvPr id="12" name="Shape 7"/>
          <p:cNvSpPr/>
          <p:nvPr/>
        </p:nvSpPr>
        <p:spPr>
          <a:xfrm>
            <a:off x="4224528" y="987552"/>
            <a:ext cx="2240280" cy="914400"/>
          </a:xfrm>
          <a:prstGeom prst="rect">
            <a:avLst/>
          </a:prstGeom>
          <a:solidFill>
            <a:srgbClr val="161B22"/>
          </a:solidFill>
          <a:ln w="10160">
            <a:solidFill>
              <a:srgbClr val="6366F1"/>
            </a:solidFill>
            <a:prstDash val="solid"/>
          </a:ln>
          <a:effectLst>
            <a:outerShdw blurRad="101600" dist="25400" dir="8100000" algn="bl" rotWithShape="0">
              <a:srgbClr val="000000">
                <a:alpha val="28000"/>
              </a:srgbClr>
            </a:outerShdw>
          </a:effectLst>
        </p:spPr>
        <p:txBody>
          <a:bodyPr/>
          <a:lstStyle/>
          <a:p>
            <a:endParaRPr lang="en-US"/>
          </a:p>
        </p:txBody>
      </p:sp>
      <p:sp>
        <p:nvSpPr>
          <p:cNvPr id="13" name="Shape 8"/>
          <p:cNvSpPr/>
          <p:nvPr/>
        </p:nvSpPr>
        <p:spPr>
          <a:xfrm>
            <a:off x="4315968" y="1207008"/>
            <a:ext cx="402336" cy="402336"/>
          </a:xfrm>
          <a:prstGeom prst="ellipse">
            <a:avLst/>
          </a:prstGeom>
          <a:solidFill>
            <a:srgbClr val="6366F1"/>
          </a:solidFill>
          <a:ln w="12700">
            <a:solidFill>
              <a:srgbClr val="6366F1"/>
            </a:solidFill>
            <a:prstDash val="solid"/>
          </a:ln>
        </p:spPr>
        <p:txBody>
          <a:bodyPr/>
          <a:lstStyle/>
          <a:p>
            <a:endParaRPr lang="en-US"/>
          </a:p>
        </p:txBody>
      </p:sp>
      <p:sp>
        <p:nvSpPr>
          <p:cNvPr id="14" name="Text 9"/>
          <p:cNvSpPr/>
          <p:nvPr/>
        </p:nvSpPr>
        <p:spPr>
          <a:xfrm>
            <a:off x="4315968" y="1207008"/>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1</a:t>
            </a:r>
            <a:endParaRPr lang="en-US" sz="1400" dirty="0"/>
          </a:p>
        </p:txBody>
      </p:sp>
      <p:sp>
        <p:nvSpPr>
          <p:cNvPr id="15" name="Text 10"/>
          <p:cNvSpPr/>
          <p:nvPr/>
        </p:nvSpPr>
        <p:spPr>
          <a:xfrm>
            <a:off x="4809744" y="1042416"/>
            <a:ext cx="1591056" cy="256032"/>
          </a:xfrm>
          <a:prstGeom prst="rect">
            <a:avLst/>
          </a:prstGeom>
          <a:noFill/>
          <a:ln/>
        </p:spPr>
        <p:txBody>
          <a:bodyPr wrap="square" lIns="0" tIns="0" rIns="0" bIns="0" rtlCol="0" anchor="ctr"/>
          <a:lstStyle/>
          <a:p>
            <a:pPr marL="0" indent="0">
              <a:buNone/>
            </a:pPr>
            <a:r>
              <a:rPr lang="en-US" sz="1000" b="1" dirty="0">
                <a:solidFill>
                  <a:srgbClr val="6366F1"/>
                </a:solidFill>
                <a:latin typeface="Calibri" pitchFamily="34" charset="0"/>
                <a:ea typeface="Calibri" pitchFamily="34" charset="-122"/>
                <a:cs typeface="Calibri" pitchFamily="34" charset="-120"/>
              </a:rPr>
              <a:t>Create RTCPeerConnection</a:t>
            </a:r>
            <a:endParaRPr lang="en-US" sz="1000" dirty="0"/>
          </a:p>
        </p:txBody>
      </p:sp>
      <p:sp>
        <p:nvSpPr>
          <p:cNvPr id="16" name="Text 11"/>
          <p:cNvSpPr/>
          <p:nvPr/>
        </p:nvSpPr>
        <p:spPr>
          <a:xfrm>
            <a:off x="4809744" y="1316736"/>
            <a:ext cx="1591056" cy="512064"/>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User A opens a new RTCPeerConnection with STUN config. Calls getUserMedia() to get audio/video stream. Adds tracks.</a:t>
            </a:r>
            <a:endParaRPr lang="en-US" sz="850" dirty="0"/>
          </a:p>
        </p:txBody>
      </p:sp>
      <p:sp>
        <p:nvSpPr>
          <p:cNvPr id="17" name="Shape 12"/>
          <p:cNvSpPr/>
          <p:nvPr/>
        </p:nvSpPr>
        <p:spPr>
          <a:xfrm>
            <a:off x="4224528" y="1993392"/>
            <a:ext cx="2240280" cy="914400"/>
          </a:xfrm>
          <a:prstGeom prst="rect">
            <a:avLst/>
          </a:prstGeom>
          <a:solidFill>
            <a:srgbClr val="161B22"/>
          </a:solidFill>
          <a:ln w="1016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sp>
        <p:nvSpPr>
          <p:cNvPr id="18" name="Shape 13"/>
          <p:cNvSpPr/>
          <p:nvPr/>
        </p:nvSpPr>
        <p:spPr>
          <a:xfrm>
            <a:off x="4315968" y="2212848"/>
            <a:ext cx="402336" cy="402336"/>
          </a:xfrm>
          <a:prstGeom prst="ellipse">
            <a:avLst/>
          </a:prstGeom>
          <a:solidFill>
            <a:srgbClr val="8B5CF6"/>
          </a:solidFill>
          <a:ln w="12700">
            <a:solidFill>
              <a:srgbClr val="8B5CF6"/>
            </a:solidFill>
            <a:prstDash val="solid"/>
          </a:ln>
        </p:spPr>
        <p:txBody>
          <a:bodyPr/>
          <a:lstStyle/>
          <a:p>
            <a:endParaRPr lang="en-US"/>
          </a:p>
        </p:txBody>
      </p:sp>
      <p:sp>
        <p:nvSpPr>
          <p:cNvPr id="19" name="Text 14"/>
          <p:cNvSpPr/>
          <p:nvPr/>
        </p:nvSpPr>
        <p:spPr>
          <a:xfrm>
            <a:off x="4315968" y="2212848"/>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2</a:t>
            </a:r>
            <a:endParaRPr lang="en-US" sz="1400" dirty="0"/>
          </a:p>
        </p:txBody>
      </p:sp>
      <p:sp>
        <p:nvSpPr>
          <p:cNvPr id="20" name="Text 15"/>
          <p:cNvSpPr/>
          <p:nvPr/>
        </p:nvSpPr>
        <p:spPr>
          <a:xfrm>
            <a:off x="4809744" y="2048256"/>
            <a:ext cx="1591056" cy="256032"/>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SDP Offer → call_signals</a:t>
            </a:r>
            <a:endParaRPr lang="en-US" sz="1000" dirty="0"/>
          </a:p>
        </p:txBody>
      </p:sp>
      <p:sp>
        <p:nvSpPr>
          <p:cNvPr id="21" name="Text 16"/>
          <p:cNvSpPr/>
          <p:nvPr/>
        </p:nvSpPr>
        <p:spPr>
          <a:xfrm>
            <a:off x="4809744" y="2322576"/>
            <a:ext cx="1591056" cy="512064"/>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createOffer() → setLocalDescription(offer). The SDP offer JSON is INSERTed into Supabase call_signals table.</a:t>
            </a:r>
            <a:endParaRPr lang="en-US" sz="850" dirty="0"/>
          </a:p>
        </p:txBody>
      </p:sp>
      <p:sp>
        <p:nvSpPr>
          <p:cNvPr id="22" name="Shape 17"/>
          <p:cNvSpPr/>
          <p:nvPr/>
        </p:nvSpPr>
        <p:spPr>
          <a:xfrm>
            <a:off x="4224528" y="2999232"/>
            <a:ext cx="2240280" cy="914400"/>
          </a:xfrm>
          <a:prstGeom prst="rect">
            <a:avLst/>
          </a:prstGeom>
          <a:solidFill>
            <a:srgbClr val="161B22"/>
          </a:solidFill>
          <a:ln w="1016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sp>
        <p:nvSpPr>
          <p:cNvPr id="23" name="Shape 18"/>
          <p:cNvSpPr/>
          <p:nvPr/>
        </p:nvSpPr>
        <p:spPr>
          <a:xfrm>
            <a:off x="4315968" y="3218688"/>
            <a:ext cx="402336" cy="402336"/>
          </a:xfrm>
          <a:prstGeom prst="ellipse">
            <a:avLst/>
          </a:prstGeom>
          <a:solidFill>
            <a:srgbClr val="22D3EE"/>
          </a:solidFill>
          <a:ln w="12700">
            <a:solidFill>
              <a:srgbClr val="22D3EE"/>
            </a:solidFill>
            <a:prstDash val="solid"/>
          </a:ln>
        </p:spPr>
        <p:txBody>
          <a:bodyPr/>
          <a:lstStyle/>
          <a:p>
            <a:endParaRPr lang="en-US"/>
          </a:p>
        </p:txBody>
      </p:sp>
      <p:sp>
        <p:nvSpPr>
          <p:cNvPr id="24" name="Text 19"/>
          <p:cNvSpPr/>
          <p:nvPr/>
        </p:nvSpPr>
        <p:spPr>
          <a:xfrm>
            <a:off x="4315968" y="3218688"/>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3</a:t>
            </a:r>
            <a:endParaRPr lang="en-US" sz="1400" dirty="0"/>
          </a:p>
        </p:txBody>
      </p:sp>
      <p:sp>
        <p:nvSpPr>
          <p:cNvPr id="25" name="Text 20"/>
          <p:cNvSpPr/>
          <p:nvPr/>
        </p:nvSpPr>
        <p:spPr>
          <a:xfrm>
            <a:off x="4809744" y="3054096"/>
            <a:ext cx="1591056" cy="256032"/>
          </a:xfrm>
          <a:prstGeom prst="rect">
            <a:avLst/>
          </a:prstGeom>
          <a:noFill/>
          <a:ln/>
        </p:spPr>
        <p:txBody>
          <a:bodyPr wrap="square" lIns="0" tIns="0" rIns="0" bIns="0"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User B receives via RT</a:t>
            </a:r>
            <a:endParaRPr lang="en-US" sz="1000" dirty="0"/>
          </a:p>
        </p:txBody>
      </p:sp>
      <p:sp>
        <p:nvSpPr>
          <p:cNvPr id="26" name="Text 21"/>
          <p:cNvSpPr/>
          <p:nvPr/>
        </p:nvSpPr>
        <p:spPr>
          <a:xfrm>
            <a:off x="4809744" y="3328416"/>
            <a:ext cx="1591056" cy="512064"/>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Supabase Realtime notifies User B (filter: callee_id=eq.B). IncomingCallModal shows with Accept/Reject options.</a:t>
            </a:r>
            <a:endParaRPr lang="en-US" sz="850" dirty="0"/>
          </a:p>
        </p:txBody>
      </p:sp>
      <p:sp>
        <p:nvSpPr>
          <p:cNvPr id="27" name="Shape 22"/>
          <p:cNvSpPr/>
          <p:nvPr/>
        </p:nvSpPr>
        <p:spPr>
          <a:xfrm>
            <a:off x="4224528" y="4005072"/>
            <a:ext cx="2240280" cy="914400"/>
          </a:xfrm>
          <a:prstGeom prst="rect">
            <a:avLst/>
          </a:prstGeom>
          <a:solidFill>
            <a:srgbClr val="161B22"/>
          </a:solidFill>
          <a:ln w="1016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sp>
        <p:nvSpPr>
          <p:cNvPr id="28" name="Shape 23"/>
          <p:cNvSpPr/>
          <p:nvPr/>
        </p:nvSpPr>
        <p:spPr>
          <a:xfrm>
            <a:off x="4315968" y="4224528"/>
            <a:ext cx="402336" cy="402336"/>
          </a:xfrm>
          <a:prstGeom prst="ellipse">
            <a:avLst/>
          </a:prstGeom>
          <a:solidFill>
            <a:srgbClr val="10B981"/>
          </a:solidFill>
          <a:ln w="12700">
            <a:solidFill>
              <a:srgbClr val="10B981"/>
            </a:solidFill>
            <a:prstDash val="solid"/>
          </a:ln>
        </p:spPr>
        <p:txBody>
          <a:bodyPr/>
          <a:lstStyle/>
          <a:p>
            <a:endParaRPr lang="en-US"/>
          </a:p>
        </p:txBody>
      </p:sp>
      <p:sp>
        <p:nvSpPr>
          <p:cNvPr id="29" name="Text 24"/>
          <p:cNvSpPr/>
          <p:nvPr/>
        </p:nvSpPr>
        <p:spPr>
          <a:xfrm>
            <a:off x="4315968" y="4224528"/>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4</a:t>
            </a:r>
            <a:endParaRPr lang="en-US" sz="1400" dirty="0"/>
          </a:p>
        </p:txBody>
      </p:sp>
      <p:sp>
        <p:nvSpPr>
          <p:cNvPr id="30" name="Text 25"/>
          <p:cNvSpPr/>
          <p:nvPr/>
        </p:nvSpPr>
        <p:spPr>
          <a:xfrm>
            <a:off x="4809744" y="4059936"/>
            <a:ext cx="1591056" cy="256032"/>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SDP Answer sent back</a:t>
            </a:r>
            <a:endParaRPr lang="en-US" sz="1000" dirty="0"/>
          </a:p>
        </p:txBody>
      </p:sp>
      <p:sp>
        <p:nvSpPr>
          <p:cNvPr id="31" name="Text 26"/>
          <p:cNvSpPr/>
          <p:nvPr/>
        </p:nvSpPr>
        <p:spPr>
          <a:xfrm>
            <a:off x="4809744" y="4334256"/>
            <a:ext cx="1591056" cy="512064"/>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User B: setRemoteDescription(offer) → createAnswer() → setLocalDescription(answer). Answer INSERTed to call_signals.</a:t>
            </a:r>
            <a:endParaRPr lang="en-US" sz="850" dirty="0"/>
          </a:p>
        </p:txBody>
      </p:sp>
      <p:sp>
        <p:nvSpPr>
          <p:cNvPr id="32" name="Shape 27"/>
          <p:cNvSpPr/>
          <p:nvPr/>
        </p:nvSpPr>
        <p:spPr>
          <a:xfrm>
            <a:off x="6601968" y="987552"/>
            <a:ext cx="2240280" cy="914400"/>
          </a:xfrm>
          <a:prstGeom prst="rect">
            <a:avLst/>
          </a:prstGeom>
          <a:solidFill>
            <a:srgbClr val="161B22"/>
          </a:solidFill>
          <a:ln w="10160">
            <a:solidFill>
              <a:srgbClr val="F59E0B"/>
            </a:solidFill>
            <a:prstDash val="solid"/>
          </a:ln>
          <a:effectLst>
            <a:outerShdw blurRad="101600" dist="25400" dir="8100000" algn="bl" rotWithShape="0">
              <a:srgbClr val="000000">
                <a:alpha val="28000"/>
              </a:srgbClr>
            </a:outerShdw>
          </a:effectLst>
        </p:spPr>
        <p:txBody>
          <a:bodyPr/>
          <a:lstStyle/>
          <a:p>
            <a:endParaRPr lang="en-US"/>
          </a:p>
        </p:txBody>
      </p:sp>
      <p:sp>
        <p:nvSpPr>
          <p:cNvPr id="33" name="Shape 28"/>
          <p:cNvSpPr/>
          <p:nvPr/>
        </p:nvSpPr>
        <p:spPr>
          <a:xfrm>
            <a:off x="6693408" y="1207008"/>
            <a:ext cx="402336" cy="402336"/>
          </a:xfrm>
          <a:prstGeom prst="ellipse">
            <a:avLst/>
          </a:prstGeom>
          <a:solidFill>
            <a:srgbClr val="F59E0B"/>
          </a:solidFill>
          <a:ln w="12700">
            <a:solidFill>
              <a:srgbClr val="F59E0B"/>
            </a:solidFill>
            <a:prstDash val="solid"/>
          </a:ln>
        </p:spPr>
        <p:txBody>
          <a:bodyPr/>
          <a:lstStyle/>
          <a:p>
            <a:endParaRPr lang="en-US"/>
          </a:p>
        </p:txBody>
      </p:sp>
      <p:sp>
        <p:nvSpPr>
          <p:cNvPr id="34" name="Text 29"/>
          <p:cNvSpPr/>
          <p:nvPr/>
        </p:nvSpPr>
        <p:spPr>
          <a:xfrm>
            <a:off x="6693408" y="1207008"/>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5</a:t>
            </a:r>
            <a:endParaRPr lang="en-US" sz="1400" dirty="0"/>
          </a:p>
        </p:txBody>
      </p:sp>
      <p:sp>
        <p:nvSpPr>
          <p:cNvPr id="35" name="Text 30"/>
          <p:cNvSpPr/>
          <p:nvPr/>
        </p:nvSpPr>
        <p:spPr>
          <a:xfrm>
            <a:off x="7187184" y="1042416"/>
            <a:ext cx="1591056" cy="256032"/>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ICE candidate exchange</a:t>
            </a:r>
            <a:endParaRPr lang="en-US" sz="1000" dirty="0"/>
          </a:p>
        </p:txBody>
      </p:sp>
      <p:sp>
        <p:nvSpPr>
          <p:cNvPr id="36" name="Text 31"/>
          <p:cNvSpPr/>
          <p:nvPr/>
        </p:nvSpPr>
        <p:spPr>
          <a:xfrm>
            <a:off x="7187184" y="1316736"/>
            <a:ext cx="1591056" cy="512064"/>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Both clients' onicecandidate fires. Each ICE candidate is INSERTed to call_signals for the other side to addIceCandidate().</a:t>
            </a:r>
            <a:endParaRPr lang="en-US" sz="850" dirty="0"/>
          </a:p>
        </p:txBody>
      </p:sp>
      <p:sp>
        <p:nvSpPr>
          <p:cNvPr id="37" name="Shape 32"/>
          <p:cNvSpPr/>
          <p:nvPr/>
        </p:nvSpPr>
        <p:spPr>
          <a:xfrm>
            <a:off x="6601968" y="1993392"/>
            <a:ext cx="2240280" cy="914400"/>
          </a:xfrm>
          <a:prstGeom prst="rect">
            <a:avLst/>
          </a:prstGeom>
          <a:solidFill>
            <a:srgbClr val="161B22"/>
          </a:solidFill>
          <a:ln w="10160">
            <a:solidFill>
              <a:srgbClr val="F43F5E"/>
            </a:solidFill>
            <a:prstDash val="solid"/>
          </a:ln>
          <a:effectLst>
            <a:outerShdw blurRad="101600" dist="25400" dir="8100000" algn="bl" rotWithShape="0">
              <a:srgbClr val="000000">
                <a:alpha val="28000"/>
              </a:srgbClr>
            </a:outerShdw>
          </a:effectLst>
        </p:spPr>
        <p:txBody>
          <a:bodyPr/>
          <a:lstStyle/>
          <a:p>
            <a:endParaRPr lang="en-US"/>
          </a:p>
        </p:txBody>
      </p:sp>
      <p:sp>
        <p:nvSpPr>
          <p:cNvPr id="38" name="Shape 33"/>
          <p:cNvSpPr/>
          <p:nvPr/>
        </p:nvSpPr>
        <p:spPr>
          <a:xfrm>
            <a:off x="6693408" y="2212848"/>
            <a:ext cx="402336" cy="402336"/>
          </a:xfrm>
          <a:prstGeom prst="ellipse">
            <a:avLst/>
          </a:prstGeom>
          <a:solidFill>
            <a:srgbClr val="F43F5E"/>
          </a:solidFill>
          <a:ln w="12700">
            <a:solidFill>
              <a:srgbClr val="F43F5E"/>
            </a:solidFill>
            <a:prstDash val="solid"/>
          </a:ln>
        </p:spPr>
        <p:txBody>
          <a:bodyPr/>
          <a:lstStyle/>
          <a:p>
            <a:endParaRPr lang="en-US"/>
          </a:p>
        </p:txBody>
      </p:sp>
      <p:sp>
        <p:nvSpPr>
          <p:cNvPr id="39" name="Text 34"/>
          <p:cNvSpPr/>
          <p:nvPr/>
        </p:nvSpPr>
        <p:spPr>
          <a:xfrm>
            <a:off x="6693408" y="2212848"/>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6</a:t>
            </a:r>
            <a:endParaRPr lang="en-US" sz="1400" dirty="0"/>
          </a:p>
        </p:txBody>
      </p:sp>
      <p:sp>
        <p:nvSpPr>
          <p:cNvPr id="40" name="Text 35"/>
          <p:cNvSpPr/>
          <p:nvPr/>
        </p:nvSpPr>
        <p:spPr>
          <a:xfrm>
            <a:off x="7187184" y="2048256"/>
            <a:ext cx="1591056" cy="256032"/>
          </a:xfrm>
          <a:prstGeom prst="rect">
            <a:avLst/>
          </a:prstGeom>
          <a:noFill/>
          <a:ln/>
        </p:spPr>
        <p:txBody>
          <a:bodyPr wrap="square" lIns="0" tIns="0" rIns="0" bIns="0" rtlCol="0" anchor="ctr"/>
          <a:lstStyle/>
          <a:p>
            <a:pPr marL="0" indent="0">
              <a:buNone/>
            </a:pPr>
            <a:r>
              <a:rPr lang="en-US" sz="1000" b="1" dirty="0">
                <a:solidFill>
                  <a:srgbClr val="F43F5E"/>
                </a:solidFill>
                <a:latin typeface="Calibri" pitchFamily="34" charset="0"/>
                <a:ea typeface="Calibri" pitchFamily="34" charset="-122"/>
                <a:cs typeface="Calibri" pitchFamily="34" charset="-120"/>
              </a:rPr>
              <a:t>P2P Media Stream live</a:t>
            </a:r>
            <a:endParaRPr lang="en-US" sz="1000" dirty="0"/>
          </a:p>
        </p:txBody>
      </p:sp>
      <p:sp>
        <p:nvSpPr>
          <p:cNvPr id="41" name="Text 36"/>
          <p:cNvSpPr/>
          <p:nvPr/>
        </p:nvSpPr>
        <p:spPr>
          <a:xfrm>
            <a:off x="7187184" y="2322576"/>
            <a:ext cx="1591056" cy="512064"/>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ontrack event fires when peer streams arrive. srcObject set on &lt;video&gt; element. Audio/video flows peer-to-peer with no server relay.</a:t>
            </a:r>
            <a:endParaRPr lang="en-US" sz="850" dirty="0"/>
          </a:p>
        </p:txBody>
      </p:sp>
      <p:sp>
        <p:nvSpPr>
          <p:cNvPr id="42" name="Shape 37"/>
          <p:cNvSpPr/>
          <p:nvPr/>
        </p:nvSpPr>
        <p:spPr>
          <a:xfrm>
            <a:off x="6601968" y="2999232"/>
            <a:ext cx="2240280" cy="914400"/>
          </a:xfrm>
          <a:prstGeom prst="rect">
            <a:avLst/>
          </a:prstGeom>
          <a:solidFill>
            <a:srgbClr val="161B22"/>
          </a:solidFill>
          <a:ln w="10160">
            <a:solidFill>
              <a:srgbClr val="8B949E"/>
            </a:solidFill>
            <a:prstDash val="solid"/>
          </a:ln>
          <a:effectLst>
            <a:outerShdw blurRad="101600" dist="25400" dir="8100000" algn="bl" rotWithShape="0">
              <a:srgbClr val="000000">
                <a:alpha val="28000"/>
              </a:srgbClr>
            </a:outerShdw>
          </a:effectLst>
        </p:spPr>
        <p:txBody>
          <a:bodyPr/>
          <a:lstStyle/>
          <a:p>
            <a:endParaRPr lang="en-US"/>
          </a:p>
        </p:txBody>
      </p:sp>
      <p:sp>
        <p:nvSpPr>
          <p:cNvPr id="43" name="Shape 38"/>
          <p:cNvSpPr/>
          <p:nvPr/>
        </p:nvSpPr>
        <p:spPr>
          <a:xfrm>
            <a:off x="6693408" y="3218688"/>
            <a:ext cx="402336" cy="402336"/>
          </a:xfrm>
          <a:prstGeom prst="ellipse">
            <a:avLst/>
          </a:prstGeom>
          <a:solidFill>
            <a:srgbClr val="8B949E"/>
          </a:solidFill>
          <a:ln w="12700">
            <a:solidFill>
              <a:srgbClr val="8B949E"/>
            </a:solidFill>
            <a:prstDash val="solid"/>
          </a:ln>
        </p:spPr>
        <p:txBody>
          <a:bodyPr/>
          <a:lstStyle/>
          <a:p>
            <a:endParaRPr lang="en-US"/>
          </a:p>
        </p:txBody>
      </p:sp>
      <p:sp>
        <p:nvSpPr>
          <p:cNvPr id="44" name="Text 39"/>
          <p:cNvSpPr/>
          <p:nvPr/>
        </p:nvSpPr>
        <p:spPr>
          <a:xfrm>
            <a:off x="6693408" y="3218688"/>
            <a:ext cx="402336" cy="402336"/>
          </a:xfrm>
          <a:prstGeom prst="rect">
            <a:avLst/>
          </a:prstGeom>
          <a:noFill/>
          <a:ln/>
        </p:spPr>
        <p:txBody>
          <a:bodyPr wrap="square" rtlCol="0" anchor="ctr"/>
          <a:lstStyle/>
          <a:p>
            <a:pPr marL="0" indent="0" algn="ctr">
              <a:buNone/>
            </a:pPr>
            <a:r>
              <a:rPr lang="en-US" sz="1400" b="1" dirty="0">
                <a:solidFill>
                  <a:srgbClr val="0D1117"/>
                </a:solidFill>
                <a:latin typeface="Calibri" pitchFamily="34" charset="0"/>
                <a:ea typeface="Calibri" pitchFamily="34" charset="-122"/>
                <a:cs typeface="Calibri" pitchFamily="34" charset="-120"/>
              </a:rPr>
              <a:t>7</a:t>
            </a:r>
            <a:endParaRPr lang="en-US" sz="1400" dirty="0"/>
          </a:p>
        </p:txBody>
      </p:sp>
      <p:sp>
        <p:nvSpPr>
          <p:cNvPr id="45" name="Text 40"/>
          <p:cNvSpPr/>
          <p:nvPr/>
        </p:nvSpPr>
        <p:spPr>
          <a:xfrm>
            <a:off x="7187184" y="3054096"/>
            <a:ext cx="1591056" cy="256032"/>
          </a:xfrm>
          <a:prstGeom prst="rect">
            <a:avLst/>
          </a:prstGeom>
          <a:noFill/>
          <a:ln/>
        </p:spPr>
        <p:txBody>
          <a:bodyPr wrap="square" lIns="0" tIns="0" rIns="0" bIns="0" rtlCol="0" anchor="ctr"/>
          <a:lstStyle/>
          <a:p>
            <a:pPr marL="0" indent="0">
              <a:buNone/>
            </a:pPr>
            <a:r>
              <a:rPr lang="en-US" sz="1000" b="1" dirty="0">
                <a:solidFill>
                  <a:srgbClr val="8B949E"/>
                </a:solidFill>
                <a:latin typeface="Calibri" pitchFamily="34" charset="0"/>
                <a:ea typeface="Calibri" pitchFamily="34" charset="-122"/>
                <a:cs typeface="Calibri" pitchFamily="34" charset="-120"/>
              </a:rPr>
              <a:t>End call &amp; log history</a:t>
            </a:r>
            <a:endParaRPr lang="en-US" sz="1000" dirty="0"/>
          </a:p>
        </p:txBody>
      </p:sp>
      <p:sp>
        <p:nvSpPr>
          <p:cNvPr id="46" name="Text 41"/>
          <p:cNvSpPr/>
          <p:nvPr/>
        </p:nvSpPr>
        <p:spPr>
          <a:xfrm>
            <a:off x="7187184" y="3328416"/>
            <a:ext cx="1591056" cy="512064"/>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End signal INSERTed to call_signals. Both UIs reset. Backend logs caller, callee, duration, status to call_history table.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Database Schema &amp; Design</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PostgreSQL via Supabase — 8 tables, 2 migrations, RLS + Realtime on all hot tables</a:t>
            </a:r>
            <a:endParaRPr lang="en-US" sz="1300" dirty="0"/>
          </a:p>
        </p:txBody>
      </p:sp>
      <p:pic>
        <p:nvPicPr>
          <p:cNvPr id="5" name="Image 0" descr="preencoded.png"/>
          <p:cNvPicPr>
            <a:picLocks noChangeAspect="1"/>
          </p:cNvPicPr>
          <p:nvPr/>
        </p:nvPicPr>
        <p:blipFill>
          <a:blip r:embed="rId3"/>
          <a:stretch>
            <a:fillRect/>
          </a:stretch>
        </p:blipFill>
        <p:spPr>
          <a:xfrm>
            <a:off x="6949440" y="987552"/>
            <a:ext cx="1901952" cy="2084832"/>
          </a:xfrm>
          <a:prstGeom prst="rect">
            <a:avLst/>
          </a:prstGeom>
        </p:spPr>
      </p:pic>
      <p:sp>
        <p:nvSpPr>
          <p:cNvPr id="6" name="Shape 3"/>
          <p:cNvSpPr/>
          <p:nvPr/>
        </p:nvSpPr>
        <p:spPr>
          <a:xfrm>
            <a:off x="256032" y="987552"/>
            <a:ext cx="3154680" cy="932688"/>
          </a:xfrm>
          <a:prstGeom prst="rect">
            <a:avLst/>
          </a:prstGeom>
          <a:solidFill>
            <a:srgbClr val="161B22"/>
          </a:solidFill>
          <a:ln w="1016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sp>
        <p:nvSpPr>
          <p:cNvPr id="7" name="Shape 4"/>
          <p:cNvSpPr/>
          <p:nvPr/>
        </p:nvSpPr>
        <p:spPr>
          <a:xfrm>
            <a:off x="256032" y="987552"/>
            <a:ext cx="3154680" cy="256032"/>
          </a:xfrm>
          <a:prstGeom prst="rect">
            <a:avLst/>
          </a:prstGeom>
          <a:solidFill>
            <a:srgbClr val="22D3EE"/>
          </a:solidFill>
          <a:ln w="12700">
            <a:solidFill>
              <a:srgbClr val="22D3EE"/>
            </a:solidFill>
            <a:prstDash val="solid"/>
          </a:ln>
        </p:spPr>
        <p:txBody>
          <a:bodyPr/>
          <a:lstStyle/>
          <a:p>
            <a:endParaRPr lang="en-US"/>
          </a:p>
        </p:txBody>
      </p:sp>
      <p:sp>
        <p:nvSpPr>
          <p:cNvPr id="8" name="Text 5"/>
          <p:cNvSpPr/>
          <p:nvPr/>
        </p:nvSpPr>
        <p:spPr>
          <a:xfrm>
            <a:off x="347472" y="987552"/>
            <a:ext cx="3017520" cy="256032"/>
          </a:xfrm>
          <a:prstGeom prst="rect">
            <a:avLst/>
          </a:prstGeom>
          <a:noFill/>
          <a:ln/>
        </p:spPr>
        <p:txBody>
          <a:bodyPr wrap="square" lIns="0" tIns="0" rIns="0" bIns="0" rtlCol="0" anchor="ctr"/>
          <a:lstStyle/>
          <a:p>
            <a:pPr marL="0" indent="0">
              <a:buNone/>
            </a:pPr>
            <a:r>
              <a:rPr lang="en-US" sz="1150" b="1" dirty="0">
                <a:solidFill>
                  <a:srgbClr val="0D1117"/>
                </a:solidFill>
                <a:latin typeface="Calibri" pitchFamily="34" charset="0"/>
                <a:ea typeface="Calibri" pitchFamily="34" charset="-122"/>
                <a:cs typeface="Calibri" pitchFamily="34" charset="-120"/>
              </a:rPr>
              <a:t>profiles</a:t>
            </a:r>
            <a:endParaRPr lang="en-US" sz="1150" dirty="0"/>
          </a:p>
        </p:txBody>
      </p:sp>
      <p:sp>
        <p:nvSpPr>
          <p:cNvPr id="9" name="Text 6"/>
          <p:cNvSpPr/>
          <p:nvPr/>
        </p:nvSpPr>
        <p:spPr>
          <a:xfrm>
            <a:off x="365760" y="1271016"/>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id TEXT PK  ·  email UNIQUE  ·  username UNIQUE</a:t>
            </a:r>
            <a:endParaRPr lang="en-US" sz="850" dirty="0"/>
          </a:p>
        </p:txBody>
      </p:sp>
      <p:sp>
        <p:nvSpPr>
          <p:cNvPr id="10" name="Text 7"/>
          <p:cNvSpPr/>
          <p:nvPr/>
        </p:nvSpPr>
        <p:spPr>
          <a:xfrm>
            <a:off x="365760" y="1472184"/>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display_name  ·  bio  ·  avatar_url</a:t>
            </a:r>
            <a:endParaRPr lang="en-US" sz="850" dirty="0"/>
          </a:p>
        </p:txBody>
      </p:sp>
      <p:sp>
        <p:nvSpPr>
          <p:cNvPr id="11" name="Text 8"/>
          <p:cNvSpPr/>
          <p:nvPr/>
        </p:nvSpPr>
        <p:spPr>
          <a:xfrm>
            <a:off x="365760" y="1673352"/>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is_online BOOL  ·  last_seen TIMESTAMPTZ</a:t>
            </a:r>
            <a:endParaRPr lang="en-US" sz="850" dirty="0"/>
          </a:p>
        </p:txBody>
      </p:sp>
      <p:sp>
        <p:nvSpPr>
          <p:cNvPr id="12" name="Shape 9"/>
          <p:cNvSpPr/>
          <p:nvPr/>
        </p:nvSpPr>
        <p:spPr>
          <a:xfrm>
            <a:off x="256032" y="2011680"/>
            <a:ext cx="3154680" cy="932688"/>
          </a:xfrm>
          <a:prstGeom prst="rect">
            <a:avLst/>
          </a:prstGeom>
          <a:solidFill>
            <a:srgbClr val="161B22"/>
          </a:solidFill>
          <a:ln w="10160">
            <a:solidFill>
              <a:srgbClr val="6366F1"/>
            </a:solidFill>
            <a:prstDash val="solid"/>
          </a:ln>
          <a:effectLst>
            <a:outerShdw blurRad="101600" dist="25400" dir="8100000" algn="bl" rotWithShape="0">
              <a:srgbClr val="000000">
                <a:alpha val="28000"/>
              </a:srgbClr>
            </a:outerShdw>
          </a:effectLst>
        </p:spPr>
        <p:txBody>
          <a:bodyPr/>
          <a:lstStyle/>
          <a:p>
            <a:endParaRPr lang="en-US"/>
          </a:p>
        </p:txBody>
      </p:sp>
      <p:sp>
        <p:nvSpPr>
          <p:cNvPr id="13" name="Shape 10"/>
          <p:cNvSpPr/>
          <p:nvPr/>
        </p:nvSpPr>
        <p:spPr>
          <a:xfrm>
            <a:off x="256032" y="2011680"/>
            <a:ext cx="3154680" cy="256032"/>
          </a:xfrm>
          <a:prstGeom prst="rect">
            <a:avLst/>
          </a:prstGeom>
          <a:solidFill>
            <a:srgbClr val="6366F1"/>
          </a:solidFill>
          <a:ln w="12700">
            <a:solidFill>
              <a:srgbClr val="6366F1"/>
            </a:solidFill>
            <a:prstDash val="solid"/>
          </a:ln>
        </p:spPr>
        <p:txBody>
          <a:bodyPr/>
          <a:lstStyle/>
          <a:p>
            <a:endParaRPr lang="en-US"/>
          </a:p>
        </p:txBody>
      </p:sp>
      <p:sp>
        <p:nvSpPr>
          <p:cNvPr id="14" name="Text 11"/>
          <p:cNvSpPr/>
          <p:nvPr/>
        </p:nvSpPr>
        <p:spPr>
          <a:xfrm>
            <a:off x="347472" y="2011680"/>
            <a:ext cx="3017520" cy="256032"/>
          </a:xfrm>
          <a:prstGeom prst="rect">
            <a:avLst/>
          </a:prstGeom>
          <a:noFill/>
          <a:ln/>
        </p:spPr>
        <p:txBody>
          <a:bodyPr wrap="square" lIns="0" tIns="0" rIns="0" bIns="0" rtlCol="0" anchor="ctr"/>
          <a:lstStyle/>
          <a:p>
            <a:pPr marL="0" indent="0">
              <a:buNone/>
            </a:pPr>
            <a:r>
              <a:rPr lang="en-US" sz="1150" b="1" dirty="0">
                <a:solidFill>
                  <a:srgbClr val="0D1117"/>
                </a:solidFill>
                <a:latin typeface="Calibri" pitchFamily="34" charset="0"/>
                <a:ea typeface="Calibri" pitchFamily="34" charset="-122"/>
                <a:cs typeface="Calibri" pitchFamily="34" charset="-120"/>
              </a:rPr>
              <a:t>conversations</a:t>
            </a:r>
            <a:endParaRPr lang="en-US" sz="1150" dirty="0"/>
          </a:p>
        </p:txBody>
      </p:sp>
      <p:sp>
        <p:nvSpPr>
          <p:cNvPr id="15" name="Text 12"/>
          <p:cNvSpPr/>
          <p:nvPr/>
        </p:nvSpPr>
        <p:spPr>
          <a:xfrm>
            <a:off x="365760" y="2295144"/>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id UUID PK  ·  participant_1, 2 FK</a:t>
            </a:r>
            <a:endParaRPr lang="en-US" sz="850" dirty="0"/>
          </a:p>
        </p:txBody>
      </p:sp>
      <p:sp>
        <p:nvSpPr>
          <p:cNvPr id="16" name="Text 13"/>
          <p:cNvSpPr/>
          <p:nvPr/>
        </p:nvSpPr>
        <p:spPr>
          <a:xfrm>
            <a:off x="365760" y="2496312"/>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is_group  ·  group_name  ·  group_avatar  ·  group_admin</a:t>
            </a:r>
            <a:endParaRPr lang="en-US" sz="850" dirty="0"/>
          </a:p>
        </p:txBody>
      </p:sp>
      <p:sp>
        <p:nvSpPr>
          <p:cNvPr id="17" name="Text 14"/>
          <p:cNvSpPr/>
          <p:nvPr/>
        </p:nvSpPr>
        <p:spPr>
          <a:xfrm>
            <a:off x="365760" y="2697480"/>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participants TEXT[]  ·  last_message  ·  last_message_at</a:t>
            </a:r>
            <a:endParaRPr lang="en-US" sz="850" dirty="0"/>
          </a:p>
        </p:txBody>
      </p:sp>
      <p:sp>
        <p:nvSpPr>
          <p:cNvPr id="18" name="Shape 15"/>
          <p:cNvSpPr/>
          <p:nvPr/>
        </p:nvSpPr>
        <p:spPr>
          <a:xfrm>
            <a:off x="256032" y="3035808"/>
            <a:ext cx="3154680" cy="932688"/>
          </a:xfrm>
          <a:prstGeom prst="rect">
            <a:avLst/>
          </a:prstGeom>
          <a:solidFill>
            <a:srgbClr val="161B22"/>
          </a:solidFill>
          <a:ln w="1016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sp>
        <p:nvSpPr>
          <p:cNvPr id="19" name="Shape 16"/>
          <p:cNvSpPr/>
          <p:nvPr/>
        </p:nvSpPr>
        <p:spPr>
          <a:xfrm>
            <a:off x="256032" y="3035808"/>
            <a:ext cx="3154680" cy="256032"/>
          </a:xfrm>
          <a:prstGeom prst="rect">
            <a:avLst/>
          </a:prstGeom>
          <a:solidFill>
            <a:srgbClr val="8B5CF6"/>
          </a:solidFill>
          <a:ln w="12700">
            <a:solidFill>
              <a:srgbClr val="8B5CF6"/>
            </a:solidFill>
            <a:prstDash val="solid"/>
          </a:ln>
        </p:spPr>
        <p:txBody>
          <a:bodyPr/>
          <a:lstStyle/>
          <a:p>
            <a:endParaRPr lang="en-US"/>
          </a:p>
        </p:txBody>
      </p:sp>
      <p:sp>
        <p:nvSpPr>
          <p:cNvPr id="20" name="Text 17"/>
          <p:cNvSpPr/>
          <p:nvPr/>
        </p:nvSpPr>
        <p:spPr>
          <a:xfrm>
            <a:off x="347472" y="3035808"/>
            <a:ext cx="3017520" cy="256032"/>
          </a:xfrm>
          <a:prstGeom prst="rect">
            <a:avLst/>
          </a:prstGeom>
          <a:noFill/>
          <a:ln/>
        </p:spPr>
        <p:txBody>
          <a:bodyPr wrap="square" lIns="0" tIns="0" rIns="0" bIns="0" rtlCol="0" anchor="ctr"/>
          <a:lstStyle/>
          <a:p>
            <a:pPr marL="0" indent="0">
              <a:buNone/>
            </a:pPr>
            <a:r>
              <a:rPr lang="en-US" sz="1150" b="1" dirty="0">
                <a:solidFill>
                  <a:srgbClr val="0D1117"/>
                </a:solidFill>
                <a:latin typeface="Calibri" pitchFamily="34" charset="0"/>
                <a:ea typeface="Calibri" pitchFamily="34" charset="-122"/>
                <a:cs typeface="Calibri" pitchFamily="34" charset="-120"/>
              </a:rPr>
              <a:t>messages</a:t>
            </a:r>
            <a:endParaRPr lang="en-US" sz="1150" dirty="0"/>
          </a:p>
        </p:txBody>
      </p:sp>
      <p:sp>
        <p:nvSpPr>
          <p:cNvPr id="21" name="Text 18"/>
          <p:cNvSpPr/>
          <p:nvPr/>
        </p:nvSpPr>
        <p:spPr>
          <a:xfrm>
            <a:off x="365760" y="3319272"/>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id UUID PK  ·  conversation_id FK  ·  sender_id FK</a:t>
            </a:r>
            <a:endParaRPr lang="en-US" sz="850" dirty="0"/>
          </a:p>
        </p:txBody>
      </p:sp>
      <p:sp>
        <p:nvSpPr>
          <p:cNvPr id="22" name="Text 19"/>
          <p:cNvSpPr/>
          <p:nvPr/>
        </p:nvSpPr>
        <p:spPr>
          <a:xfrm>
            <a:off x="365760" y="3520440"/>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content TEXT  ·  image_url  ·  message_type ENUM</a:t>
            </a:r>
            <a:endParaRPr lang="en-US" sz="850" dirty="0"/>
          </a:p>
        </p:txBody>
      </p:sp>
      <p:sp>
        <p:nvSpPr>
          <p:cNvPr id="23" name="Text 20"/>
          <p:cNvSpPr/>
          <p:nvPr/>
        </p:nvSpPr>
        <p:spPr>
          <a:xfrm>
            <a:off x="365760" y="3721608"/>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deleted_for TEXT[]  ·  deleted_for_everyone BOOL</a:t>
            </a:r>
            <a:endParaRPr lang="en-US" sz="850" dirty="0"/>
          </a:p>
        </p:txBody>
      </p:sp>
      <p:sp>
        <p:nvSpPr>
          <p:cNvPr id="24" name="Shape 21"/>
          <p:cNvSpPr/>
          <p:nvPr/>
        </p:nvSpPr>
        <p:spPr>
          <a:xfrm>
            <a:off x="256032" y="4059936"/>
            <a:ext cx="3154680" cy="932688"/>
          </a:xfrm>
          <a:prstGeom prst="rect">
            <a:avLst/>
          </a:prstGeom>
          <a:solidFill>
            <a:srgbClr val="161B22"/>
          </a:solidFill>
          <a:ln w="10160">
            <a:solidFill>
              <a:srgbClr val="F43F5E"/>
            </a:solidFill>
            <a:prstDash val="solid"/>
          </a:ln>
          <a:effectLst>
            <a:outerShdw blurRad="101600" dist="25400" dir="8100000" algn="bl" rotWithShape="0">
              <a:srgbClr val="000000">
                <a:alpha val="28000"/>
              </a:srgbClr>
            </a:outerShdw>
          </a:effectLst>
        </p:spPr>
        <p:txBody>
          <a:bodyPr/>
          <a:lstStyle/>
          <a:p>
            <a:endParaRPr lang="en-US"/>
          </a:p>
        </p:txBody>
      </p:sp>
      <p:sp>
        <p:nvSpPr>
          <p:cNvPr id="25" name="Shape 22"/>
          <p:cNvSpPr/>
          <p:nvPr/>
        </p:nvSpPr>
        <p:spPr>
          <a:xfrm>
            <a:off x="256032" y="4059936"/>
            <a:ext cx="3154680" cy="256032"/>
          </a:xfrm>
          <a:prstGeom prst="rect">
            <a:avLst/>
          </a:prstGeom>
          <a:solidFill>
            <a:srgbClr val="F43F5E"/>
          </a:solidFill>
          <a:ln w="12700">
            <a:solidFill>
              <a:srgbClr val="F43F5E"/>
            </a:solidFill>
            <a:prstDash val="solid"/>
          </a:ln>
        </p:spPr>
        <p:txBody>
          <a:bodyPr/>
          <a:lstStyle/>
          <a:p>
            <a:endParaRPr lang="en-US"/>
          </a:p>
        </p:txBody>
      </p:sp>
      <p:sp>
        <p:nvSpPr>
          <p:cNvPr id="26" name="Text 23"/>
          <p:cNvSpPr/>
          <p:nvPr/>
        </p:nvSpPr>
        <p:spPr>
          <a:xfrm>
            <a:off x="347472" y="4059936"/>
            <a:ext cx="3017520" cy="256032"/>
          </a:xfrm>
          <a:prstGeom prst="rect">
            <a:avLst/>
          </a:prstGeom>
          <a:noFill/>
          <a:ln/>
        </p:spPr>
        <p:txBody>
          <a:bodyPr wrap="square" lIns="0" tIns="0" rIns="0" bIns="0" rtlCol="0" anchor="ctr"/>
          <a:lstStyle/>
          <a:p>
            <a:pPr marL="0" indent="0">
              <a:buNone/>
            </a:pPr>
            <a:r>
              <a:rPr lang="en-US" sz="1150" b="1" dirty="0">
                <a:solidFill>
                  <a:srgbClr val="0D1117"/>
                </a:solidFill>
                <a:latin typeface="Calibri" pitchFamily="34" charset="0"/>
                <a:ea typeface="Calibri" pitchFamily="34" charset="-122"/>
                <a:cs typeface="Calibri" pitchFamily="34" charset="-120"/>
              </a:rPr>
              <a:t>call_signals</a:t>
            </a:r>
            <a:endParaRPr lang="en-US" sz="1150" dirty="0"/>
          </a:p>
        </p:txBody>
      </p:sp>
      <p:sp>
        <p:nvSpPr>
          <p:cNvPr id="27" name="Text 24"/>
          <p:cNvSpPr/>
          <p:nvPr/>
        </p:nvSpPr>
        <p:spPr>
          <a:xfrm>
            <a:off x="365760" y="4343400"/>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id UUID PK  ·  caller_id FK  ·  callee_id FK</a:t>
            </a:r>
            <a:endParaRPr lang="en-US" sz="850" dirty="0"/>
          </a:p>
        </p:txBody>
      </p:sp>
      <p:sp>
        <p:nvSpPr>
          <p:cNvPr id="28" name="Text 25"/>
          <p:cNvSpPr/>
          <p:nvPr/>
        </p:nvSpPr>
        <p:spPr>
          <a:xfrm>
            <a:off x="365760" y="4544568"/>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signal_type ENUM(offer/answer/ice-candidate/end)</a:t>
            </a:r>
            <a:endParaRPr lang="en-US" sz="850" dirty="0"/>
          </a:p>
        </p:txBody>
      </p:sp>
      <p:sp>
        <p:nvSpPr>
          <p:cNvPr id="29" name="Text 26"/>
          <p:cNvSpPr/>
          <p:nvPr/>
        </p:nvSpPr>
        <p:spPr>
          <a:xfrm>
            <a:off x="365760" y="4745736"/>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signal_data JSONB  ·  call_type(audio/video)</a:t>
            </a:r>
            <a:endParaRPr lang="en-US" sz="850" dirty="0"/>
          </a:p>
        </p:txBody>
      </p:sp>
      <p:sp>
        <p:nvSpPr>
          <p:cNvPr id="30" name="Shape 27"/>
          <p:cNvSpPr/>
          <p:nvPr/>
        </p:nvSpPr>
        <p:spPr>
          <a:xfrm>
            <a:off x="3547872" y="987552"/>
            <a:ext cx="3154680" cy="932688"/>
          </a:xfrm>
          <a:prstGeom prst="rect">
            <a:avLst/>
          </a:prstGeom>
          <a:solidFill>
            <a:srgbClr val="161B22"/>
          </a:solidFill>
          <a:ln w="10160">
            <a:solidFill>
              <a:srgbClr val="F59E0B"/>
            </a:solidFill>
            <a:prstDash val="solid"/>
          </a:ln>
          <a:effectLst>
            <a:outerShdw blurRad="101600" dist="25400" dir="8100000" algn="bl" rotWithShape="0">
              <a:srgbClr val="000000">
                <a:alpha val="28000"/>
              </a:srgbClr>
            </a:outerShdw>
          </a:effectLst>
        </p:spPr>
        <p:txBody>
          <a:bodyPr/>
          <a:lstStyle/>
          <a:p>
            <a:endParaRPr lang="en-US"/>
          </a:p>
        </p:txBody>
      </p:sp>
      <p:sp>
        <p:nvSpPr>
          <p:cNvPr id="31" name="Shape 28"/>
          <p:cNvSpPr/>
          <p:nvPr/>
        </p:nvSpPr>
        <p:spPr>
          <a:xfrm>
            <a:off x="3547872" y="987552"/>
            <a:ext cx="3154680" cy="256032"/>
          </a:xfrm>
          <a:prstGeom prst="rect">
            <a:avLst/>
          </a:prstGeom>
          <a:solidFill>
            <a:srgbClr val="F59E0B"/>
          </a:solidFill>
          <a:ln w="12700">
            <a:solidFill>
              <a:srgbClr val="F59E0B"/>
            </a:solidFill>
            <a:prstDash val="solid"/>
          </a:ln>
        </p:spPr>
        <p:txBody>
          <a:bodyPr/>
          <a:lstStyle/>
          <a:p>
            <a:endParaRPr lang="en-US"/>
          </a:p>
        </p:txBody>
      </p:sp>
      <p:sp>
        <p:nvSpPr>
          <p:cNvPr id="32" name="Text 29"/>
          <p:cNvSpPr/>
          <p:nvPr/>
        </p:nvSpPr>
        <p:spPr>
          <a:xfrm>
            <a:off x="3639312" y="987552"/>
            <a:ext cx="3017520" cy="256032"/>
          </a:xfrm>
          <a:prstGeom prst="rect">
            <a:avLst/>
          </a:prstGeom>
          <a:noFill/>
          <a:ln/>
        </p:spPr>
        <p:txBody>
          <a:bodyPr wrap="square" lIns="0" tIns="0" rIns="0" bIns="0" rtlCol="0" anchor="ctr"/>
          <a:lstStyle/>
          <a:p>
            <a:pPr marL="0" indent="0">
              <a:buNone/>
            </a:pPr>
            <a:r>
              <a:rPr lang="en-US" sz="1150" b="1" dirty="0">
                <a:solidFill>
                  <a:srgbClr val="0D1117"/>
                </a:solidFill>
                <a:latin typeface="Calibri" pitchFamily="34" charset="0"/>
                <a:ea typeface="Calibri" pitchFamily="34" charset="-122"/>
                <a:cs typeface="Calibri" pitchFamily="34" charset="-120"/>
              </a:rPr>
              <a:t>call_history</a:t>
            </a:r>
            <a:endParaRPr lang="en-US" sz="1150" dirty="0"/>
          </a:p>
        </p:txBody>
      </p:sp>
      <p:sp>
        <p:nvSpPr>
          <p:cNvPr id="33" name="Text 30"/>
          <p:cNvSpPr/>
          <p:nvPr/>
        </p:nvSpPr>
        <p:spPr>
          <a:xfrm>
            <a:off x="3657600" y="1271016"/>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id UUID PK  ·  caller_id FK  ·  callee_id FK</a:t>
            </a:r>
            <a:endParaRPr lang="en-US" sz="850" dirty="0"/>
          </a:p>
        </p:txBody>
      </p:sp>
      <p:sp>
        <p:nvSpPr>
          <p:cNvPr id="34" name="Text 31"/>
          <p:cNvSpPr/>
          <p:nvPr/>
        </p:nvSpPr>
        <p:spPr>
          <a:xfrm>
            <a:off x="3657600" y="1472184"/>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status ENUM(completed/missed/rejected)  ·  duration INT</a:t>
            </a:r>
            <a:endParaRPr lang="en-US" sz="850" dirty="0"/>
          </a:p>
        </p:txBody>
      </p:sp>
      <p:sp>
        <p:nvSpPr>
          <p:cNvPr id="35" name="Text 32"/>
          <p:cNvSpPr/>
          <p:nvPr/>
        </p:nvSpPr>
        <p:spPr>
          <a:xfrm>
            <a:off x="3657600" y="1673352"/>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started_at  ·  ended_at TIMESTAMPTZ</a:t>
            </a:r>
            <a:endParaRPr lang="en-US" sz="850" dirty="0"/>
          </a:p>
        </p:txBody>
      </p:sp>
      <p:sp>
        <p:nvSpPr>
          <p:cNvPr id="36" name="Shape 33"/>
          <p:cNvSpPr/>
          <p:nvPr/>
        </p:nvSpPr>
        <p:spPr>
          <a:xfrm>
            <a:off x="3547872" y="2011680"/>
            <a:ext cx="3154680" cy="932688"/>
          </a:xfrm>
          <a:prstGeom prst="rect">
            <a:avLst/>
          </a:prstGeom>
          <a:solidFill>
            <a:srgbClr val="161B22"/>
          </a:solidFill>
          <a:ln w="1016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sp>
        <p:nvSpPr>
          <p:cNvPr id="37" name="Shape 34"/>
          <p:cNvSpPr/>
          <p:nvPr/>
        </p:nvSpPr>
        <p:spPr>
          <a:xfrm>
            <a:off x="3547872" y="2011680"/>
            <a:ext cx="3154680" cy="256032"/>
          </a:xfrm>
          <a:prstGeom prst="rect">
            <a:avLst/>
          </a:prstGeom>
          <a:solidFill>
            <a:srgbClr val="10B981"/>
          </a:solidFill>
          <a:ln w="12700">
            <a:solidFill>
              <a:srgbClr val="10B981"/>
            </a:solidFill>
            <a:prstDash val="solid"/>
          </a:ln>
        </p:spPr>
        <p:txBody>
          <a:bodyPr/>
          <a:lstStyle/>
          <a:p>
            <a:endParaRPr lang="en-US"/>
          </a:p>
        </p:txBody>
      </p:sp>
      <p:sp>
        <p:nvSpPr>
          <p:cNvPr id="38" name="Text 35"/>
          <p:cNvSpPr/>
          <p:nvPr/>
        </p:nvSpPr>
        <p:spPr>
          <a:xfrm>
            <a:off x="3639312" y="2011680"/>
            <a:ext cx="3017520" cy="256032"/>
          </a:xfrm>
          <a:prstGeom prst="rect">
            <a:avLst/>
          </a:prstGeom>
          <a:noFill/>
          <a:ln/>
        </p:spPr>
        <p:txBody>
          <a:bodyPr wrap="square" lIns="0" tIns="0" rIns="0" bIns="0" rtlCol="0" anchor="ctr"/>
          <a:lstStyle/>
          <a:p>
            <a:pPr marL="0" indent="0">
              <a:buNone/>
            </a:pPr>
            <a:r>
              <a:rPr lang="en-US" sz="1150" b="1" dirty="0">
                <a:solidFill>
                  <a:srgbClr val="0D1117"/>
                </a:solidFill>
                <a:latin typeface="Calibri" pitchFamily="34" charset="0"/>
                <a:ea typeface="Calibri" pitchFamily="34" charset="-122"/>
                <a:cs typeface="Calibri" pitchFamily="34" charset="-120"/>
              </a:rPr>
              <a:t>status_stories</a:t>
            </a:r>
            <a:endParaRPr lang="en-US" sz="1150" dirty="0"/>
          </a:p>
        </p:txBody>
      </p:sp>
      <p:sp>
        <p:nvSpPr>
          <p:cNvPr id="39" name="Text 36"/>
          <p:cNvSpPr/>
          <p:nvPr/>
        </p:nvSpPr>
        <p:spPr>
          <a:xfrm>
            <a:off x="3657600" y="2295144"/>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id UUID PK  ·  user_id FK</a:t>
            </a:r>
            <a:endParaRPr lang="en-US" sz="850" dirty="0"/>
          </a:p>
        </p:txBody>
      </p:sp>
      <p:sp>
        <p:nvSpPr>
          <p:cNvPr id="40" name="Text 37"/>
          <p:cNvSpPr/>
          <p:nvPr/>
        </p:nvSpPr>
        <p:spPr>
          <a:xfrm>
            <a:off x="3657600" y="2496312"/>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media_url  ·  caption  ·  created_at</a:t>
            </a:r>
            <a:endParaRPr lang="en-US" sz="850" dirty="0"/>
          </a:p>
        </p:txBody>
      </p:sp>
      <p:sp>
        <p:nvSpPr>
          <p:cNvPr id="41" name="Text 38"/>
          <p:cNvSpPr/>
          <p:nvPr/>
        </p:nvSpPr>
        <p:spPr>
          <a:xfrm>
            <a:off x="3657600" y="2697480"/>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expires_at = created_at + INTERVAL '24 hours'</a:t>
            </a:r>
            <a:endParaRPr lang="en-US" sz="850" dirty="0"/>
          </a:p>
        </p:txBody>
      </p:sp>
      <p:sp>
        <p:nvSpPr>
          <p:cNvPr id="42" name="Shape 39"/>
          <p:cNvSpPr/>
          <p:nvPr/>
        </p:nvSpPr>
        <p:spPr>
          <a:xfrm>
            <a:off x="3547872" y="3035808"/>
            <a:ext cx="3154680" cy="932688"/>
          </a:xfrm>
          <a:prstGeom prst="rect">
            <a:avLst/>
          </a:prstGeom>
          <a:solidFill>
            <a:srgbClr val="161B22"/>
          </a:solidFill>
          <a:ln w="10160">
            <a:solidFill>
              <a:srgbClr val="38BDF8"/>
            </a:solidFill>
            <a:prstDash val="solid"/>
          </a:ln>
          <a:effectLst>
            <a:outerShdw blurRad="101600" dist="25400" dir="8100000" algn="bl" rotWithShape="0">
              <a:srgbClr val="000000">
                <a:alpha val="28000"/>
              </a:srgbClr>
            </a:outerShdw>
          </a:effectLst>
        </p:spPr>
        <p:txBody>
          <a:bodyPr/>
          <a:lstStyle/>
          <a:p>
            <a:endParaRPr lang="en-US"/>
          </a:p>
        </p:txBody>
      </p:sp>
      <p:sp>
        <p:nvSpPr>
          <p:cNvPr id="43" name="Shape 40"/>
          <p:cNvSpPr/>
          <p:nvPr/>
        </p:nvSpPr>
        <p:spPr>
          <a:xfrm>
            <a:off x="3547872" y="3035808"/>
            <a:ext cx="3154680" cy="256032"/>
          </a:xfrm>
          <a:prstGeom prst="rect">
            <a:avLst/>
          </a:prstGeom>
          <a:solidFill>
            <a:srgbClr val="38BDF8"/>
          </a:solidFill>
          <a:ln w="12700">
            <a:solidFill>
              <a:srgbClr val="38BDF8"/>
            </a:solidFill>
            <a:prstDash val="solid"/>
          </a:ln>
        </p:spPr>
        <p:txBody>
          <a:bodyPr/>
          <a:lstStyle/>
          <a:p>
            <a:endParaRPr lang="en-US"/>
          </a:p>
        </p:txBody>
      </p:sp>
      <p:sp>
        <p:nvSpPr>
          <p:cNvPr id="44" name="Text 41"/>
          <p:cNvSpPr/>
          <p:nvPr/>
        </p:nvSpPr>
        <p:spPr>
          <a:xfrm>
            <a:off x="3639312" y="3035808"/>
            <a:ext cx="3017520" cy="256032"/>
          </a:xfrm>
          <a:prstGeom prst="rect">
            <a:avLst/>
          </a:prstGeom>
          <a:noFill/>
          <a:ln/>
        </p:spPr>
        <p:txBody>
          <a:bodyPr wrap="square" lIns="0" tIns="0" rIns="0" bIns="0" rtlCol="0" anchor="ctr"/>
          <a:lstStyle/>
          <a:p>
            <a:pPr marL="0" indent="0">
              <a:buNone/>
            </a:pPr>
            <a:r>
              <a:rPr lang="en-US" sz="1150" b="1" dirty="0">
                <a:solidFill>
                  <a:srgbClr val="0D1117"/>
                </a:solidFill>
                <a:latin typeface="Calibri" pitchFamily="34" charset="0"/>
                <a:ea typeface="Calibri" pitchFamily="34" charset="-122"/>
                <a:cs typeface="Calibri" pitchFamily="34" charset="-120"/>
              </a:rPr>
              <a:t>group_members</a:t>
            </a:r>
            <a:endParaRPr lang="en-US" sz="1150" dirty="0"/>
          </a:p>
        </p:txBody>
      </p:sp>
      <p:sp>
        <p:nvSpPr>
          <p:cNvPr id="45" name="Text 42"/>
          <p:cNvSpPr/>
          <p:nvPr/>
        </p:nvSpPr>
        <p:spPr>
          <a:xfrm>
            <a:off x="3657600" y="3319272"/>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id UUID PK  ·  group_id FK  ·  user_id FK</a:t>
            </a:r>
            <a:endParaRPr lang="en-US" sz="850" dirty="0"/>
          </a:p>
        </p:txBody>
      </p:sp>
      <p:sp>
        <p:nvSpPr>
          <p:cNvPr id="46" name="Text 43"/>
          <p:cNvSpPr/>
          <p:nvPr/>
        </p:nvSpPr>
        <p:spPr>
          <a:xfrm>
            <a:off x="3657600" y="3520440"/>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role TEXT(admin/member)  ·  joined_at</a:t>
            </a:r>
            <a:endParaRPr lang="en-US" sz="850" dirty="0"/>
          </a:p>
        </p:txBody>
      </p:sp>
      <p:sp>
        <p:nvSpPr>
          <p:cNvPr id="47" name="Text 44"/>
          <p:cNvSpPr/>
          <p:nvPr/>
        </p:nvSpPr>
        <p:spPr>
          <a:xfrm>
            <a:off x="3657600" y="3721608"/>
            <a:ext cx="2990088"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UNIQUE(group_id, user_id)</a:t>
            </a:r>
            <a:endParaRPr lang="en-US" sz="850" dirty="0"/>
          </a:p>
        </p:txBody>
      </p:sp>
      <p:sp>
        <p:nvSpPr>
          <p:cNvPr id="48" name="Shape 45"/>
          <p:cNvSpPr/>
          <p:nvPr/>
        </p:nvSpPr>
        <p:spPr>
          <a:xfrm>
            <a:off x="256032" y="4828032"/>
            <a:ext cx="8631936" cy="292608"/>
          </a:xfrm>
          <a:prstGeom prst="rect">
            <a:avLst/>
          </a:prstGeom>
          <a:solidFill>
            <a:srgbClr val="161B22"/>
          </a:solidFill>
          <a:ln w="762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sp>
        <p:nvSpPr>
          <p:cNvPr id="49" name="Text 46"/>
          <p:cNvSpPr/>
          <p:nvPr/>
        </p:nvSpPr>
        <p:spPr>
          <a:xfrm>
            <a:off x="384048" y="4837176"/>
            <a:ext cx="8412480" cy="274320"/>
          </a:xfrm>
          <a:prstGeom prst="rect">
            <a:avLst/>
          </a:prstGeom>
          <a:noFill/>
          <a:ln/>
        </p:spPr>
        <p:txBody>
          <a:bodyPr wrap="square" rtlCol="0" anchor="ctr"/>
          <a:lstStyle/>
          <a:p>
            <a:pPr marL="0" indent="0" algn="ctr">
              <a:buNone/>
            </a:pPr>
            <a:r>
              <a:rPr lang="en-US" sz="950" dirty="0">
                <a:solidFill>
                  <a:srgbClr val="10B981"/>
                </a:solidFill>
                <a:latin typeface="Calibri" pitchFamily="34" charset="0"/>
                <a:ea typeface="Calibri" pitchFamily="34" charset="-122"/>
                <a:cs typeface="Calibri" pitchFamily="34" charset="-120"/>
              </a:rPr>
              <a:t>🔒 RLS enabled on all 8 tables   ⚡ Realtime: messages, conversations, call_signals, status_stories, call_history   📑 14+ performance indexes on FK + timestamp columns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Media Upload Pipeline</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How avatar, chat images and status stories are uploaded and served from a CDN</a:t>
            </a:r>
            <a:endParaRPr lang="en-US" sz="1300" dirty="0"/>
          </a:p>
        </p:txBody>
      </p:sp>
      <p:pic>
        <p:nvPicPr>
          <p:cNvPr id="5" name="Image 0" descr="preencoded.png"/>
          <p:cNvPicPr>
            <a:picLocks noChangeAspect="1"/>
          </p:cNvPicPr>
          <p:nvPr/>
        </p:nvPicPr>
        <p:blipFill>
          <a:blip r:embed="rId3"/>
          <a:stretch>
            <a:fillRect/>
          </a:stretch>
        </p:blipFill>
        <p:spPr>
          <a:xfrm>
            <a:off x="365760" y="1005840"/>
            <a:ext cx="8412480" cy="2880360"/>
          </a:xfrm>
          <a:prstGeom prst="rect">
            <a:avLst/>
          </a:prstGeom>
        </p:spPr>
      </p:pic>
      <p:sp>
        <p:nvSpPr>
          <p:cNvPr id="6" name="Shape 3"/>
          <p:cNvSpPr/>
          <p:nvPr/>
        </p:nvSpPr>
        <p:spPr>
          <a:xfrm>
            <a:off x="256032" y="3364992"/>
            <a:ext cx="1627632" cy="1627632"/>
          </a:xfrm>
          <a:prstGeom prst="rect">
            <a:avLst/>
          </a:prstGeom>
          <a:solidFill>
            <a:srgbClr val="161B22"/>
          </a:solidFill>
          <a:ln w="10160">
            <a:solidFill>
              <a:srgbClr val="6366F1"/>
            </a:solidFill>
            <a:prstDash val="solid"/>
          </a:ln>
          <a:effectLst>
            <a:outerShdw blurRad="101600" dist="25400" dir="8100000" algn="bl" rotWithShape="0">
              <a:srgbClr val="000000">
                <a:alpha val="28000"/>
              </a:srgbClr>
            </a:outerShdw>
          </a:effectLst>
        </p:spPr>
        <p:txBody>
          <a:bodyPr/>
          <a:lstStyle/>
          <a:p>
            <a:endParaRPr lang="en-US"/>
          </a:p>
        </p:txBody>
      </p:sp>
      <p:pic>
        <p:nvPicPr>
          <p:cNvPr id="7" name="Image 1" descr="preencoded.png"/>
          <p:cNvPicPr>
            <a:picLocks noChangeAspect="1"/>
          </p:cNvPicPr>
          <p:nvPr/>
        </p:nvPicPr>
        <p:blipFill>
          <a:blip r:embed="rId4"/>
          <a:stretch>
            <a:fillRect/>
          </a:stretch>
        </p:blipFill>
        <p:spPr>
          <a:xfrm>
            <a:off x="512064" y="3456432"/>
            <a:ext cx="438912" cy="438912"/>
          </a:xfrm>
          <a:prstGeom prst="rect">
            <a:avLst/>
          </a:prstGeom>
        </p:spPr>
      </p:pic>
      <p:sp>
        <p:nvSpPr>
          <p:cNvPr id="8" name="Text 4"/>
          <p:cNvSpPr/>
          <p:nvPr/>
        </p:nvSpPr>
        <p:spPr>
          <a:xfrm>
            <a:off x="292608" y="3931920"/>
            <a:ext cx="1554480" cy="329184"/>
          </a:xfrm>
          <a:prstGeom prst="rect">
            <a:avLst/>
          </a:prstGeom>
          <a:noFill/>
          <a:ln/>
        </p:spPr>
        <p:txBody>
          <a:bodyPr wrap="square" lIns="0" tIns="0" rIns="0" bIns="0" rtlCol="0" anchor="ctr"/>
          <a:lstStyle/>
          <a:p>
            <a:pPr marL="0" indent="0" algn="ctr">
              <a:buNone/>
            </a:pPr>
            <a:r>
              <a:rPr lang="en-US" sz="1000" b="1" dirty="0">
                <a:solidFill>
                  <a:srgbClr val="6366F1"/>
                </a:solidFill>
                <a:latin typeface="Calibri" pitchFamily="34" charset="0"/>
                <a:ea typeface="Calibri" pitchFamily="34" charset="-122"/>
                <a:cs typeface="Calibri" pitchFamily="34" charset="-120"/>
              </a:rPr>
              <a:t>User selects file</a:t>
            </a:r>
            <a:endParaRPr lang="en-US" sz="1000" dirty="0"/>
          </a:p>
        </p:txBody>
      </p:sp>
      <p:sp>
        <p:nvSpPr>
          <p:cNvPr id="9" name="Text 5"/>
          <p:cNvSpPr/>
          <p:nvPr/>
        </p:nvSpPr>
        <p:spPr>
          <a:xfrm>
            <a:off x="292608" y="4261104"/>
            <a:ext cx="1554480" cy="658368"/>
          </a:xfrm>
          <a:prstGeom prst="rect">
            <a:avLst/>
          </a:prstGeom>
          <a:noFill/>
          <a:ln/>
        </p:spPr>
        <p:txBody>
          <a:bodyPr wrap="square" lIns="0" tIns="0" rIns="0" bIns="0"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React file input triggers onChange. File object passed to the upload handler function in the component.</a:t>
            </a:r>
            <a:endParaRPr lang="en-US" sz="850" dirty="0"/>
          </a:p>
        </p:txBody>
      </p:sp>
      <p:sp>
        <p:nvSpPr>
          <p:cNvPr id="10" name="Shape 6"/>
          <p:cNvSpPr/>
          <p:nvPr/>
        </p:nvSpPr>
        <p:spPr>
          <a:xfrm>
            <a:off x="2011680" y="3364992"/>
            <a:ext cx="1627632" cy="1627632"/>
          </a:xfrm>
          <a:prstGeom prst="rect">
            <a:avLst/>
          </a:prstGeom>
          <a:solidFill>
            <a:srgbClr val="161B22"/>
          </a:solidFill>
          <a:ln w="1016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pic>
        <p:nvPicPr>
          <p:cNvPr id="11" name="Image 2" descr="preencoded.png"/>
          <p:cNvPicPr>
            <a:picLocks noChangeAspect="1"/>
          </p:cNvPicPr>
          <p:nvPr/>
        </p:nvPicPr>
        <p:blipFill>
          <a:blip r:embed="rId5"/>
          <a:stretch>
            <a:fillRect/>
          </a:stretch>
        </p:blipFill>
        <p:spPr>
          <a:xfrm>
            <a:off x="2267712" y="3456432"/>
            <a:ext cx="438912" cy="438912"/>
          </a:xfrm>
          <a:prstGeom prst="rect">
            <a:avLst/>
          </a:prstGeom>
        </p:spPr>
      </p:pic>
      <p:sp>
        <p:nvSpPr>
          <p:cNvPr id="12" name="Text 7"/>
          <p:cNvSpPr/>
          <p:nvPr/>
        </p:nvSpPr>
        <p:spPr>
          <a:xfrm>
            <a:off x="2048256" y="3931920"/>
            <a:ext cx="1554480" cy="329184"/>
          </a:xfrm>
          <a:prstGeom prst="rect">
            <a:avLst/>
          </a:prstGeom>
          <a:noFill/>
          <a:ln/>
        </p:spPr>
        <p:txBody>
          <a:bodyPr wrap="square" lIns="0" tIns="0" rIns="0" bIns="0" rtlCol="0" anchor="ctr"/>
          <a:lstStyle/>
          <a:p>
            <a:pPr marL="0" indent="0" algn="ctr">
              <a:buNone/>
            </a:pPr>
            <a:r>
              <a:rPr lang="en-US" sz="1000" b="1" dirty="0">
                <a:solidFill>
                  <a:srgbClr val="8B5CF6"/>
                </a:solidFill>
                <a:latin typeface="Calibri" pitchFamily="34" charset="0"/>
                <a:ea typeface="Calibri" pitchFamily="34" charset="-122"/>
                <a:cs typeface="Calibri" pitchFamily="34" charset="-120"/>
              </a:rPr>
              <a:t>FormData constructed</a:t>
            </a:r>
            <a:endParaRPr lang="en-US" sz="1000" dirty="0"/>
          </a:p>
        </p:txBody>
      </p:sp>
      <p:sp>
        <p:nvSpPr>
          <p:cNvPr id="13" name="Text 8"/>
          <p:cNvSpPr/>
          <p:nvPr/>
        </p:nvSpPr>
        <p:spPr>
          <a:xfrm>
            <a:off x="2048256" y="4261104"/>
            <a:ext cx="1554480" cy="658368"/>
          </a:xfrm>
          <a:prstGeom prst="rect">
            <a:avLst/>
          </a:prstGeom>
          <a:noFill/>
          <a:ln/>
        </p:spPr>
        <p:txBody>
          <a:bodyPr wrap="square" lIns="0" tIns="0" rIns="0" bIns="0"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new FormData() with file appended. Axios POST request sent with Content-Type: multipart/form-data.</a:t>
            </a:r>
            <a:endParaRPr lang="en-US" sz="850" dirty="0"/>
          </a:p>
        </p:txBody>
      </p:sp>
      <p:sp>
        <p:nvSpPr>
          <p:cNvPr id="14" name="Shape 9"/>
          <p:cNvSpPr/>
          <p:nvPr/>
        </p:nvSpPr>
        <p:spPr>
          <a:xfrm>
            <a:off x="3767328" y="3364992"/>
            <a:ext cx="1627632" cy="1627632"/>
          </a:xfrm>
          <a:prstGeom prst="rect">
            <a:avLst/>
          </a:prstGeom>
          <a:solidFill>
            <a:srgbClr val="161B22"/>
          </a:solidFill>
          <a:ln w="10160">
            <a:solidFill>
              <a:srgbClr val="F59E0B"/>
            </a:solidFill>
            <a:prstDash val="solid"/>
          </a:ln>
          <a:effectLst>
            <a:outerShdw blurRad="101600" dist="25400" dir="8100000" algn="bl" rotWithShape="0">
              <a:srgbClr val="000000">
                <a:alpha val="28000"/>
              </a:srgbClr>
            </a:outerShdw>
          </a:effectLst>
        </p:spPr>
        <p:txBody>
          <a:bodyPr/>
          <a:lstStyle/>
          <a:p>
            <a:endParaRPr lang="en-US"/>
          </a:p>
        </p:txBody>
      </p:sp>
      <p:pic>
        <p:nvPicPr>
          <p:cNvPr id="15" name="Image 3" descr="preencoded.png"/>
          <p:cNvPicPr>
            <a:picLocks noChangeAspect="1"/>
          </p:cNvPicPr>
          <p:nvPr/>
        </p:nvPicPr>
        <p:blipFill>
          <a:blip r:embed="rId6"/>
          <a:stretch>
            <a:fillRect/>
          </a:stretch>
        </p:blipFill>
        <p:spPr>
          <a:xfrm>
            <a:off x="4023360" y="3456432"/>
            <a:ext cx="438912" cy="438912"/>
          </a:xfrm>
          <a:prstGeom prst="rect">
            <a:avLst/>
          </a:prstGeom>
        </p:spPr>
      </p:pic>
      <p:sp>
        <p:nvSpPr>
          <p:cNvPr id="16" name="Text 10"/>
          <p:cNvSpPr/>
          <p:nvPr/>
        </p:nvSpPr>
        <p:spPr>
          <a:xfrm>
            <a:off x="3803904" y="3931920"/>
            <a:ext cx="1554480" cy="329184"/>
          </a:xfrm>
          <a:prstGeom prst="rect">
            <a:avLst/>
          </a:prstGeom>
          <a:noFill/>
          <a:ln/>
        </p:spPr>
        <p:txBody>
          <a:bodyPr wrap="square" lIns="0" tIns="0" rIns="0" bIns="0" rtlCol="0" anchor="ctr"/>
          <a:lstStyle/>
          <a:p>
            <a:pPr marL="0" indent="0" algn="ctr">
              <a:buNone/>
            </a:pPr>
            <a:r>
              <a:rPr lang="en-US" sz="1000" b="1" dirty="0">
                <a:solidFill>
                  <a:srgbClr val="F59E0B"/>
                </a:solidFill>
                <a:latin typeface="Calibri" pitchFamily="34" charset="0"/>
                <a:ea typeface="Calibri" pitchFamily="34" charset="-122"/>
                <a:cs typeface="Calibri" pitchFamily="34" charset="-120"/>
              </a:rPr>
              <a:t>Multer middleware</a:t>
            </a:r>
            <a:endParaRPr lang="en-US" sz="1000" dirty="0"/>
          </a:p>
        </p:txBody>
      </p:sp>
      <p:sp>
        <p:nvSpPr>
          <p:cNvPr id="17" name="Text 11"/>
          <p:cNvSpPr/>
          <p:nvPr/>
        </p:nvSpPr>
        <p:spPr>
          <a:xfrm>
            <a:off x="3803904" y="4261104"/>
            <a:ext cx="1554480" cy="658368"/>
          </a:xfrm>
          <a:prstGeom prst="rect">
            <a:avLst/>
          </a:prstGeom>
          <a:noFill/>
          <a:ln/>
        </p:spPr>
        <p:txBody>
          <a:bodyPr wrap="square" lIns="0" tIns="0" rIns="0" bIns="0"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Multer parses the multipart body. Stores file in memory as a Buffer — never written to disk. Attaches to req.file.</a:t>
            </a:r>
            <a:endParaRPr lang="en-US" sz="850" dirty="0"/>
          </a:p>
        </p:txBody>
      </p:sp>
      <p:sp>
        <p:nvSpPr>
          <p:cNvPr id="18" name="Shape 12"/>
          <p:cNvSpPr/>
          <p:nvPr/>
        </p:nvSpPr>
        <p:spPr>
          <a:xfrm>
            <a:off x="5522976" y="3364992"/>
            <a:ext cx="1627632" cy="1627632"/>
          </a:xfrm>
          <a:prstGeom prst="rect">
            <a:avLst/>
          </a:prstGeom>
          <a:solidFill>
            <a:srgbClr val="161B22"/>
          </a:solidFill>
          <a:ln w="1016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pic>
        <p:nvPicPr>
          <p:cNvPr id="19" name="Image 4" descr="preencoded.png"/>
          <p:cNvPicPr>
            <a:picLocks noChangeAspect="1"/>
          </p:cNvPicPr>
          <p:nvPr/>
        </p:nvPicPr>
        <p:blipFill>
          <a:blip r:embed="rId7"/>
          <a:stretch>
            <a:fillRect/>
          </a:stretch>
        </p:blipFill>
        <p:spPr>
          <a:xfrm>
            <a:off x="5779008" y="3456432"/>
            <a:ext cx="438912" cy="438912"/>
          </a:xfrm>
          <a:prstGeom prst="rect">
            <a:avLst/>
          </a:prstGeom>
        </p:spPr>
      </p:pic>
      <p:sp>
        <p:nvSpPr>
          <p:cNvPr id="20" name="Text 13"/>
          <p:cNvSpPr/>
          <p:nvPr/>
        </p:nvSpPr>
        <p:spPr>
          <a:xfrm>
            <a:off x="5559552" y="3931920"/>
            <a:ext cx="1554480" cy="329184"/>
          </a:xfrm>
          <a:prstGeom prst="rect">
            <a:avLst/>
          </a:prstGeom>
          <a:noFill/>
          <a:ln/>
        </p:spPr>
        <p:txBody>
          <a:bodyPr wrap="square" lIns="0" tIns="0" rIns="0" bIns="0"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Supabase Storage</a:t>
            </a:r>
            <a:endParaRPr lang="en-US" sz="1000" dirty="0"/>
          </a:p>
        </p:txBody>
      </p:sp>
      <p:sp>
        <p:nvSpPr>
          <p:cNvPr id="21" name="Text 14"/>
          <p:cNvSpPr/>
          <p:nvPr/>
        </p:nvSpPr>
        <p:spPr>
          <a:xfrm>
            <a:off x="5559552" y="4261104"/>
            <a:ext cx="1554480" cy="658368"/>
          </a:xfrm>
          <a:prstGeom prst="rect">
            <a:avLst/>
          </a:prstGeom>
          <a:noFill/>
          <a:ln/>
        </p:spPr>
        <p:txBody>
          <a:bodyPr wrap="square" lIns="0" tIns="0" rIns="0" bIns="0"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supabase.storage.from('media').upload(path, buffer). Returns a public CDN URL for the uploaded object.</a:t>
            </a:r>
            <a:endParaRPr lang="en-US" sz="850" dirty="0"/>
          </a:p>
        </p:txBody>
      </p:sp>
      <p:sp>
        <p:nvSpPr>
          <p:cNvPr id="22" name="Shape 15"/>
          <p:cNvSpPr/>
          <p:nvPr/>
        </p:nvSpPr>
        <p:spPr>
          <a:xfrm>
            <a:off x="7278624" y="3364992"/>
            <a:ext cx="1627632" cy="1627632"/>
          </a:xfrm>
          <a:prstGeom prst="rect">
            <a:avLst/>
          </a:prstGeom>
          <a:solidFill>
            <a:srgbClr val="161B22"/>
          </a:solidFill>
          <a:ln w="1016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pic>
        <p:nvPicPr>
          <p:cNvPr id="23" name="Image 5" descr="preencoded.png"/>
          <p:cNvPicPr>
            <a:picLocks noChangeAspect="1"/>
          </p:cNvPicPr>
          <p:nvPr/>
        </p:nvPicPr>
        <p:blipFill>
          <a:blip r:embed="rId8"/>
          <a:stretch>
            <a:fillRect/>
          </a:stretch>
        </p:blipFill>
        <p:spPr>
          <a:xfrm>
            <a:off x="7534656" y="3456432"/>
            <a:ext cx="438912" cy="438912"/>
          </a:xfrm>
          <a:prstGeom prst="rect">
            <a:avLst/>
          </a:prstGeom>
        </p:spPr>
      </p:pic>
      <p:sp>
        <p:nvSpPr>
          <p:cNvPr id="24" name="Text 16"/>
          <p:cNvSpPr/>
          <p:nvPr/>
        </p:nvSpPr>
        <p:spPr>
          <a:xfrm>
            <a:off x="7315200" y="3931920"/>
            <a:ext cx="1554480" cy="329184"/>
          </a:xfrm>
          <a:prstGeom prst="rect">
            <a:avLst/>
          </a:prstGeom>
          <a:noFill/>
          <a:ln/>
        </p:spPr>
        <p:txBody>
          <a:bodyPr wrap="square" lIns="0" tIns="0" rIns="0" bIns="0" rtlCol="0" anchor="ctr"/>
          <a:lstStyle/>
          <a:p>
            <a:pPr marL="0" indent="0" algn="ctr">
              <a:buNone/>
            </a:pPr>
            <a:r>
              <a:rPr lang="en-US" sz="1000" b="1" dirty="0">
                <a:solidFill>
                  <a:srgbClr val="22D3EE"/>
                </a:solidFill>
                <a:latin typeface="Calibri" pitchFamily="34" charset="0"/>
                <a:ea typeface="Calibri" pitchFamily="34" charset="-122"/>
                <a:cs typeface="Calibri" pitchFamily="34" charset="-120"/>
              </a:rPr>
              <a:t>URL saved to DB</a:t>
            </a:r>
            <a:endParaRPr lang="en-US" sz="1000" dirty="0"/>
          </a:p>
        </p:txBody>
      </p:sp>
      <p:sp>
        <p:nvSpPr>
          <p:cNvPr id="25" name="Text 17"/>
          <p:cNvSpPr/>
          <p:nvPr/>
        </p:nvSpPr>
        <p:spPr>
          <a:xfrm>
            <a:off x="7315200" y="4261104"/>
            <a:ext cx="1554480" cy="658368"/>
          </a:xfrm>
          <a:prstGeom prst="rect">
            <a:avLst/>
          </a:prstGeom>
          <a:noFill/>
          <a:ln/>
        </p:spPr>
        <p:txBody>
          <a:bodyPr wrap="square" lIns="0" tIns="0" rIns="0" bIns="0" rtlCol="0" anchor="ctr"/>
          <a:lstStyle/>
          <a:p>
            <a:pPr marL="0" indent="0" algn="ctr">
              <a:buNone/>
            </a:pPr>
            <a:r>
              <a:rPr lang="en-US" sz="850" dirty="0">
                <a:solidFill>
                  <a:srgbClr val="8B949E"/>
                </a:solidFill>
                <a:latin typeface="Calibri" pitchFamily="34" charset="0"/>
                <a:ea typeface="Calibri" pitchFamily="34" charset="-122"/>
                <a:cs typeface="Calibri" pitchFamily="34" charset="-120"/>
              </a:rPr>
              <a:t>The public URL is saved in the message's image_url column (or avatar_url / media_url). Available instantly via Realtime.</a:t>
            </a:r>
            <a:endParaRPr lang="en-US" sz="850" dirty="0"/>
          </a:p>
        </p:txBody>
      </p:sp>
      <p:sp>
        <p:nvSpPr>
          <p:cNvPr id="26" name="Text 18"/>
          <p:cNvSpPr/>
          <p:nvPr/>
        </p:nvSpPr>
        <p:spPr>
          <a:xfrm>
            <a:off x="256032" y="4828032"/>
            <a:ext cx="1389888" cy="256032"/>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Storage Buckets:</a:t>
            </a:r>
            <a:endParaRPr lang="en-US" sz="1100" dirty="0"/>
          </a:p>
        </p:txBody>
      </p:sp>
      <p:sp>
        <p:nvSpPr>
          <p:cNvPr id="27" name="Shape 19"/>
          <p:cNvSpPr/>
          <p:nvPr/>
        </p:nvSpPr>
        <p:spPr>
          <a:xfrm>
            <a:off x="1719072" y="4809744"/>
            <a:ext cx="2286000" cy="292608"/>
          </a:xfrm>
          <a:prstGeom prst="roundRect">
            <a:avLst>
              <a:gd name="adj" fmla="val 25000"/>
            </a:avLst>
          </a:prstGeom>
          <a:solidFill>
            <a:srgbClr val="161B22"/>
          </a:solidFill>
          <a:ln w="8890">
            <a:solidFill>
              <a:srgbClr val="F59E0B"/>
            </a:solidFill>
            <a:prstDash val="solid"/>
          </a:ln>
        </p:spPr>
        <p:txBody>
          <a:bodyPr/>
          <a:lstStyle/>
          <a:p>
            <a:endParaRPr lang="en-US"/>
          </a:p>
        </p:txBody>
      </p:sp>
      <p:sp>
        <p:nvSpPr>
          <p:cNvPr id="28" name="Text 20"/>
          <p:cNvSpPr/>
          <p:nvPr/>
        </p:nvSpPr>
        <p:spPr>
          <a:xfrm>
            <a:off x="1719072" y="4809744"/>
            <a:ext cx="2286000" cy="292608"/>
          </a:xfrm>
          <a:prstGeom prst="rect">
            <a:avLst/>
          </a:prstGeom>
          <a:noFill/>
          <a:ln/>
        </p:spPr>
        <p:txBody>
          <a:bodyPr wrap="square" rtlCol="0" anchor="ctr"/>
          <a:lstStyle/>
          <a:p>
            <a:pPr marL="0" indent="0" algn="ctr">
              <a:buNone/>
            </a:pPr>
            <a:r>
              <a:rPr lang="en-US" sz="950" b="1" dirty="0">
                <a:solidFill>
                  <a:srgbClr val="F59E0B"/>
                </a:solidFill>
                <a:latin typeface="Calibri" pitchFamily="34" charset="0"/>
                <a:ea typeface="Calibri" pitchFamily="34" charset="-122"/>
                <a:cs typeface="Calibri" pitchFamily="34" charset="-120"/>
              </a:rPr>
              <a:t>avatars  (profile pictures)</a:t>
            </a:r>
            <a:endParaRPr lang="en-US" sz="950" dirty="0"/>
          </a:p>
        </p:txBody>
      </p:sp>
      <p:sp>
        <p:nvSpPr>
          <p:cNvPr id="29" name="Shape 21"/>
          <p:cNvSpPr/>
          <p:nvPr/>
        </p:nvSpPr>
        <p:spPr>
          <a:xfrm>
            <a:off x="4169664" y="4809744"/>
            <a:ext cx="2286000" cy="292608"/>
          </a:xfrm>
          <a:prstGeom prst="roundRect">
            <a:avLst>
              <a:gd name="adj" fmla="val 25000"/>
            </a:avLst>
          </a:prstGeom>
          <a:solidFill>
            <a:srgbClr val="161B22"/>
          </a:solidFill>
          <a:ln w="8890">
            <a:solidFill>
              <a:srgbClr val="F59E0B"/>
            </a:solidFill>
            <a:prstDash val="solid"/>
          </a:ln>
        </p:spPr>
        <p:txBody>
          <a:bodyPr/>
          <a:lstStyle/>
          <a:p>
            <a:endParaRPr lang="en-US"/>
          </a:p>
        </p:txBody>
      </p:sp>
      <p:sp>
        <p:nvSpPr>
          <p:cNvPr id="30" name="Text 22"/>
          <p:cNvSpPr/>
          <p:nvPr/>
        </p:nvSpPr>
        <p:spPr>
          <a:xfrm>
            <a:off x="4169664" y="4809744"/>
            <a:ext cx="2286000" cy="292608"/>
          </a:xfrm>
          <a:prstGeom prst="rect">
            <a:avLst/>
          </a:prstGeom>
          <a:noFill/>
          <a:ln/>
        </p:spPr>
        <p:txBody>
          <a:bodyPr wrap="square" rtlCol="0" anchor="ctr"/>
          <a:lstStyle/>
          <a:p>
            <a:pPr marL="0" indent="0" algn="ctr">
              <a:buNone/>
            </a:pPr>
            <a:r>
              <a:rPr lang="en-US" sz="950" b="1" dirty="0">
                <a:solidFill>
                  <a:srgbClr val="F59E0B"/>
                </a:solidFill>
                <a:latin typeface="Calibri" pitchFamily="34" charset="0"/>
                <a:ea typeface="Calibri" pitchFamily="34" charset="-122"/>
                <a:cs typeface="Calibri" pitchFamily="34" charset="-120"/>
              </a:rPr>
              <a:t>media  (chat images)</a:t>
            </a:r>
            <a:endParaRPr lang="en-US" sz="950" dirty="0"/>
          </a:p>
        </p:txBody>
      </p:sp>
      <p:sp>
        <p:nvSpPr>
          <p:cNvPr id="31" name="Shape 23"/>
          <p:cNvSpPr/>
          <p:nvPr/>
        </p:nvSpPr>
        <p:spPr>
          <a:xfrm>
            <a:off x="6620256" y="4809744"/>
            <a:ext cx="2286000" cy="292608"/>
          </a:xfrm>
          <a:prstGeom prst="roundRect">
            <a:avLst>
              <a:gd name="adj" fmla="val 25000"/>
            </a:avLst>
          </a:prstGeom>
          <a:solidFill>
            <a:srgbClr val="161B22"/>
          </a:solidFill>
          <a:ln w="8890">
            <a:solidFill>
              <a:srgbClr val="F59E0B"/>
            </a:solidFill>
            <a:prstDash val="solid"/>
          </a:ln>
        </p:spPr>
        <p:txBody>
          <a:bodyPr/>
          <a:lstStyle/>
          <a:p>
            <a:endParaRPr lang="en-US"/>
          </a:p>
        </p:txBody>
      </p:sp>
      <p:sp>
        <p:nvSpPr>
          <p:cNvPr id="32" name="Text 24"/>
          <p:cNvSpPr/>
          <p:nvPr/>
        </p:nvSpPr>
        <p:spPr>
          <a:xfrm>
            <a:off x="6620256" y="4809744"/>
            <a:ext cx="2286000" cy="292608"/>
          </a:xfrm>
          <a:prstGeom prst="rect">
            <a:avLst/>
          </a:prstGeom>
          <a:noFill/>
          <a:ln/>
        </p:spPr>
        <p:txBody>
          <a:bodyPr wrap="square" rtlCol="0" anchor="ctr"/>
          <a:lstStyle/>
          <a:p>
            <a:pPr marL="0" indent="0" algn="ctr">
              <a:buNone/>
            </a:pPr>
            <a:r>
              <a:rPr lang="en-US" sz="950" b="1" dirty="0">
                <a:solidFill>
                  <a:srgbClr val="F59E0B"/>
                </a:solidFill>
                <a:latin typeface="Calibri" pitchFamily="34" charset="0"/>
                <a:ea typeface="Calibri" pitchFamily="34" charset="-122"/>
                <a:cs typeface="Calibri" pitchFamily="34" charset="-120"/>
              </a:rPr>
              <a:t>statuses  (24-hr stories)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Feature Showcase</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10 production-grade features — what they are and how they work under the hood</a:t>
            </a:r>
            <a:endParaRPr lang="en-US" sz="1300" dirty="0"/>
          </a:p>
        </p:txBody>
      </p:sp>
      <p:pic>
        <p:nvPicPr>
          <p:cNvPr id="5" name="Image 0" descr="preencoded.png"/>
          <p:cNvPicPr>
            <a:picLocks noChangeAspect="1"/>
          </p:cNvPicPr>
          <p:nvPr/>
        </p:nvPicPr>
        <p:blipFill>
          <a:blip r:embed="rId3"/>
          <a:stretch>
            <a:fillRect/>
          </a:stretch>
        </p:blipFill>
        <p:spPr>
          <a:xfrm>
            <a:off x="8321040" y="914400"/>
            <a:ext cx="658368" cy="658368"/>
          </a:xfrm>
          <a:prstGeom prst="rect">
            <a:avLst/>
          </a:prstGeom>
        </p:spPr>
      </p:pic>
      <p:sp>
        <p:nvSpPr>
          <p:cNvPr id="6" name="Shape 3"/>
          <p:cNvSpPr/>
          <p:nvPr/>
        </p:nvSpPr>
        <p:spPr>
          <a:xfrm>
            <a:off x="256032" y="987552"/>
            <a:ext cx="4206240" cy="731520"/>
          </a:xfrm>
          <a:prstGeom prst="rect">
            <a:avLst/>
          </a:prstGeom>
          <a:solidFill>
            <a:srgbClr val="161B22"/>
          </a:solidFill>
          <a:ln w="8890">
            <a:solidFill>
              <a:srgbClr val="F43F5E"/>
            </a:solidFill>
            <a:prstDash val="solid"/>
          </a:ln>
          <a:effectLst>
            <a:outerShdw blurRad="101600" dist="25400" dir="8100000" algn="bl" rotWithShape="0">
              <a:srgbClr val="000000">
                <a:alpha val="28000"/>
              </a:srgbClr>
            </a:outerShdw>
          </a:effectLst>
        </p:spPr>
        <p:txBody>
          <a:bodyPr/>
          <a:lstStyle/>
          <a:p>
            <a:endParaRPr lang="en-US"/>
          </a:p>
        </p:txBody>
      </p:sp>
      <p:pic>
        <p:nvPicPr>
          <p:cNvPr id="7" name="Image 1" descr="preencoded.png"/>
          <p:cNvPicPr>
            <a:picLocks noChangeAspect="1"/>
          </p:cNvPicPr>
          <p:nvPr/>
        </p:nvPicPr>
        <p:blipFill>
          <a:blip r:embed="rId4"/>
          <a:stretch>
            <a:fillRect/>
          </a:stretch>
        </p:blipFill>
        <p:spPr>
          <a:xfrm>
            <a:off x="347472" y="1060704"/>
            <a:ext cx="384048" cy="384048"/>
          </a:xfrm>
          <a:prstGeom prst="rect">
            <a:avLst/>
          </a:prstGeom>
        </p:spPr>
      </p:pic>
      <p:sp>
        <p:nvSpPr>
          <p:cNvPr id="8" name="Text 4"/>
          <p:cNvSpPr/>
          <p:nvPr/>
        </p:nvSpPr>
        <p:spPr>
          <a:xfrm>
            <a:off x="822960" y="1042416"/>
            <a:ext cx="3520440" cy="256032"/>
          </a:xfrm>
          <a:prstGeom prst="rect">
            <a:avLst/>
          </a:prstGeom>
          <a:noFill/>
          <a:ln/>
        </p:spPr>
        <p:txBody>
          <a:bodyPr wrap="square" lIns="0" tIns="0" rIns="0" bIns="0" rtlCol="0" anchor="ctr"/>
          <a:lstStyle/>
          <a:p>
            <a:pPr marL="0" indent="0">
              <a:buNone/>
            </a:pPr>
            <a:r>
              <a:rPr lang="en-US" sz="1200" b="1" dirty="0">
                <a:solidFill>
                  <a:srgbClr val="F43F5E"/>
                </a:solidFill>
                <a:latin typeface="Calibri" pitchFamily="34" charset="0"/>
                <a:ea typeface="Calibri" pitchFamily="34" charset="-122"/>
                <a:cs typeface="Calibri" pitchFamily="34" charset="-120"/>
              </a:rPr>
              <a:t>Google OAuth</a:t>
            </a:r>
            <a:endParaRPr lang="en-US" sz="1200" dirty="0"/>
          </a:p>
        </p:txBody>
      </p:sp>
      <p:sp>
        <p:nvSpPr>
          <p:cNvPr id="9" name="Text 5"/>
          <p:cNvSpPr/>
          <p:nvPr/>
        </p:nvSpPr>
        <p:spPr>
          <a:xfrm>
            <a:off x="822960" y="1298448"/>
            <a:ext cx="35204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Firebase handles OAuth 2.0 flow. Backend Admin SDK verifies JWT — no passwords stored ever.</a:t>
            </a:r>
            <a:endParaRPr lang="en-US" sz="950" dirty="0"/>
          </a:p>
        </p:txBody>
      </p:sp>
      <p:sp>
        <p:nvSpPr>
          <p:cNvPr id="10" name="Shape 6"/>
          <p:cNvSpPr/>
          <p:nvPr/>
        </p:nvSpPr>
        <p:spPr>
          <a:xfrm>
            <a:off x="4718304" y="987552"/>
            <a:ext cx="4206240" cy="731520"/>
          </a:xfrm>
          <a:prstGeom prst="rect">
            <a:avLst/>
          </a:prstGeom>
          <a:solidFill>
            <a:srgbClr val="161B22"/>
          </a:solidFill>
          <a:ln w="889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pic>
        <p:nvPicPr>
          <p:cNvPr id="11" name="Image 2" descr="preencoded.png"/>
          <p:cNvPicPr>
            <a:picLocks noChangeAspect="1"/>
          </p:cNvPicPr>
          <p:nvPr/>
        </p:nvPicPr>
        <p:blipFill>
          <a:blip r:embed="rId5"/>
          <a:stretch>
            <a:fillRect/>
          </a:stretch>
        </p:blipFill>
        <p:spPr>
          <a:xfrm>
            <a:off x="4809744" y="1060704"/>
            <a:ext cx="384048" cy="384048"/>
          </a:xfrm>
          <a:prstGeom prst="rect">
            <a:avLst/>
          </a:prstGeom>
        </p:spPr>
      </p:pic>
      <p:sp>
        <p:nvSpPr>
          <p:cNvPr id="12" name="Text 7"/>
          <p:cNvSpPr/>
          <p:nvPr/>
        </p:nvSpPr>
        <p:spPr>
          <a:xfrm>
            <a:off x="5285232" y="1042416"/>
            <a:ext cx="3520440" cy="256032"/>
          </a:xfrm>
          <a:prstGeom prst="rect">
            <a:avLst/>
          </a:prstGeom>
          <a:noFill/>
          <a:ln/>
        </p:spPr>
        <p:txBody>
          <a:bodyPr wrap="square" lIns="0" tIns="0" rIns="0" bIns="0"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@Username System</a:t>
            </a:r>
            <a:endParaRPr lang="en-US" sz="1200" dirty="0"/>
          </a:p>
        </p:txBody>
      </p:sp>
      <p:sp>
        <p:nvSpPr>
          <p:cNvPr id="13" name="Text 8"/>
          <p:cNvSpPr/>
          <p:nvPr/>
        </p:nvSpPr>
        <p:spPr>
          <a:xfrm>
            <a:off x="5285232" y="1298448"/>
            <a:ext cx="35204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Unique username with live availability check via GET /users/search during ProfileSetup. Indexed in DB.</a:t>
            </a:r>
            <a:endParaRPr lang="en-US" sz="950" dirty="0"/>
          </a:p>
        </p:txBody>
      </p:sp>
      <p:sp>
        <p:nvSpPr>
          <p:cNvPr id="14" name="Shape 9"/>
          <p:cNvSpPr/>
          <p:nvPr/>
        </p:nvSpPr>
        <p:spPr>
          <a:xfrm>
            <a:off x="256032" y="1792224"/>
            <a:ext cx="4206240" cy="731520"/>
          </a:xfrm>
          <a:prstGeom prst="rect">
            <a:avLst/>
          </a:prstGeom>
          <a:solidFill>
            <a:srgbClr val="161B22"/>
          </a:solidFill>
          <a:ln w="8890">
            <a:solidFill>
              <a:srgbClr val="6366F1"/>
            </a:solidFill>
            <a:prstDash val="solid"/>
          </a:ln>
          <a:effectLst>
            <a:outerShdw blurRad="101600" dist="25400" dir="8100000" algn="bl" rotWithShape="0">
              <a:srgbClr val="000000">
                <a:alpha val="28000"/>
              </a:srgbClr>
            </a:outerShdw>
          </a:effectLst>
        </p:spPr>
        <p:txBody>
          <a:bodyPr/>
          <a:lstStyle/>
          <a:p>
            <a:endParaRPr lang="en-US"/>
          </a:p>
        </p:txBody>
      </p:sp>
      <p:pic>
        <p:nvPicPr>
          <p:cNvPr id="15" name="Image 3" descr="preencoded.png"/>
          <p:cNvPicPr>
            <a:picLocks noChangeAspect="1"/>
          </p:cNvPicPr>
          <p:nvPr/>
        </p:nvPicPr>
        <p:blipFill>
          <a:blip r:embed="rId6"/>
          <a:stretch>
            <a:fillRect/>
          </a:stretch>
        </p:blipFill>
        <p:spPr>
          <a:xfrm>
            <a:off x="347472" y="1865376"/>
            <a:ext cx="384048" cy="384048"/>
          </a:xfrm>
          <a:prstGeom prst="rect">
            <a:avLst/>
          </a:prstGeom>
        </p:spPr>
      </p:pic>
      <p:sp>
        <p:nvSpPr>
          <p:cNvPr id="16" name="Text 10"/>
          <p:cNvSpPr/>
          <p:nvPr/>
        </p:nvSpPr>
        <p:spPr>
          <a:xfrm>
            <a:off x="822960" y="1847088"/>
            <a:ext cx="3520440" cy="256032"/>
          </a:xfrm>
          <a:prstGeom prst="rect">
            <a:avLst/>
          </a:prstGeom>
          <a:noFill/>
          <a:ln/>
        </p:spPr>
        <p:txBody>
          <a:bodyPr wrap="square" lIns="0" tIns="0" rIns="0" bIns="0" rtlCol="0" anchor="ctr"/>
          <a:lstStyle/>
          <a:p>
            <a:pPr marL="0" indent="0">
              <a:buNone/>
            </a:pPr>
            <a:r>
              <a:rPr lang="en-US" sz="1200" b="1" dirty="0">
                <a:solidFill>
                  <a:srgbClr val="6366F1"/>
                </a:solidFill>
                <a:latin typeface="Calibri" pitchFamily="34" charset="0"/>
                <a:ea typeface="Calibri" pitchFamily="34" charset="-122"/>
                <a:cs typeface="Calibri" pitchFamily="34" charset="-120"/>
              </a:rPr>
              <a:t>Real-time Messaging</a:t>
            </a:r>
            <a:endParaRPr lang="en-US" sz="1200" dirty="0"/>
          </a:p>
        </p:txBody>
      </p:sp>
      <p:sp>
        <p:nvSpPr>
          <p:cNvPr id="17" name="Text 11"/>
          <p:cNvSpPr/>
          <p:nvPr/>
        </p:nvSpPr>
        <p:spPr>
          <a:xfrm>
            <a:off x="822960" y="2103120"/>
            <a:ext cx="35204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Supabase channel per conversation. INSERT events pushed to receiver. MessageBubble rendered instantly.</a:t>
            </a:r>
            <a:endParaRPr lang="en-US" sz="950" dirty="0"/>
          </a:p>
        </p:txBody>
      </p:sp>
      <p:sp>
        <p:nvSpPr>
          <p:cNvPr id="18" name="Shape 12"/>
          <p:cNvSpPr/>
          <p:nvPr/>
        </p:nvSpPr>
        <p:spPr>
          <a:xfrm>
            <a:off x="4718304" y="1792224"/>
            <a:ext cx="4206240" cy="731520"/>
          </a:xfrm>
          <a:prstGeom prst="rect">
            <a:avLst/>
          </a:prstGeom>
          <a:solidFill>
            <a:srgbClr val="161B22"/>
          </a:solidFill>
          <a:ln w="889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pic>
        <p:nvPicPr>
          <p:cNvPr id="19" name="Image 4" descr="preencoded.png"/>
          <p:cNvPicPr>
            <a:picLocks noChangeAspect="1"/>
          </p:cNvPicPr>
          <p:nvPr/>
        </p:nvPicPr>
        <p:blipFill>
          <a:blip r:embed="rId7"/>
          <a:stretch>
            <a:fillRect/>
          </a:stretch>
        </p:blipFill>
        <p:spPr>
          <a:xfrm>
            <a:off x="4809744" y="1865376"/>
            <a:ext cx="384048" cy="384048"/>
          </a:xfrm>
          <a:prstGeom prst="rect">
            <a:avLst/>
          </a:prstGeom>
        </p:spPr>
      </p:pic>
      <p:sp>
        <p:nvSpPr>
          <p:cNvPr id="20" name="Text 13"/>
          <p:cNvSpPr/>
          <p:nvPr/>
        </p:nvSpPr>
        <p:spPr>
          <a:xfrm>
            <a:off x="5285232" y="1847088"/>
            <a:ext cx="3520440" cy="256032"/>
          </a:xfrm>
          <a:prstGeom prst="rect">
            <a:avLst/>
          </a:prstGeom>
          <a:noFill/>
          <a:ln/>
        </p:spPr>
        <p:txBody>
          <a:bodyPr wrap="square" lIns="0" tIns="0" rIns="0" bIns="0"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Image Sharing</a:t>
            </a:r>
            <a:endParaRPr lang="en-US" sz="1200" dirty="0"/>
          </a:p>
        </p:txBody>
      </p:sp>
      <p:sp>
        <p:nvSpPr>
          <p:cNvPr id="21" name="Text 14"/>
          <p:cNvSpPr/>
          <p:nvPr/>
        </p:nvSpPr>
        <p:spPr>
          <a:xfrm>
            <a:off x="5285232" y="2103120"/>
            <a:ext cx="35204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Multer→Supabase Storage pipeline. Public CDN URL stored in image_url column. Displayed in MessageBubble.</a:t>
            </a:r>
            <a:endParaRPr lang="en-US" sz="950" dirty="0"/>
          </a:p>
        </p:txBody>
      </p:sp>
      <p:sp>
        <p:nvSpPr>
          <p:cNvPr id="22" name="Shape 15"/>
          <p:cNvSpPr/>
          <p:nvPr/>
        </p:nvSpPr>
        <p:spPr>
          <a:xfrm>
            <a:off x="256032" y="2596896"/>
            <a:ext cx="4206240" cy="731520"/>
          </a:xfrm>
          <a:prstGeom prst="rect">
            <a:avLst/>
          </a:prstGeom>
          <a:solidFill>
            <a:srgbClr val="161B22"/>
          </a:solidFill>
          <a:ln w="8890">
            <a:solidFill>
              <a:srgbClr val="F59E0B"/>
            </a:solidFill>
            <a:prstDash val="solid"/>
          </a:ln>
          <a:effectLst>
            <a:outerShdw blurRad="101600" dist="25400" dir="8100000" algn="bl" rotWithShape="0">
              <a:srgbClr val="000000">
                <a:alpha val="28000"/>
              </a:srgbClr>
            </a:outerShdw>
          </a:effectLst>
        </p:spPr>
        <p:txBody>
          <a:bodyPr/>
          <a:lstStyle/>
          <a:p>
            <a:endParaRPr lang="en-US"/>
          </a:p>
        </p:txBody>
      </p:sp>
      <p:pic>
        <p:nvPicPr>
          <p:cNvPr id="23" name="Image 5" descr="preencoded.png"/>
          <p:cNvPicPr>
            <a:picLocks noChangeAspect="1"/>
          </p:cNvPicPr>
          <p:nvPr/>
        </p:nvPicPr>
        <p:blipFill>
          <a:blip r:embed="rId8"/>
          <a:stretch>
            <a:fillRect/>
          </a:stretch>
        </p:blipFill>
        <p:spPr>
          <a:xfrm>
            <a:off x="347472" y="2670048"/>
            <a:ext cx="384048" cy="384048"/>
          </a:xfrm>
          <a:prstGeom prst="rect">
            <a:avLst/>
          </a:prstGeom>
        </p:spPr>
      </p:pic>
      <p:sp>
        <p:nvSpPr>
          <p:cNvPr id="24" name="Text 16"/>
          <p:cNvSpPr/>
          <p:nvPr/>
        </p:nvSpPr>
        <p:spPr>
          <a:xfrm>
            <a:off x="822960" y="2651760"/>
            <a:ext cx="3520440" cy="25603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Delete for Everyone</a:t>
            </a:r>
            <a:endParaRPr lang="en-US" sz="1200" dirty="0"/>
          </a:p>
        </p:txBody>
      </p:sp>
      <p:sp>
        <p:nvSpPr>
          <p:cNvPr id="25" name="Text 17"/>
          <p:cNvSpPr/>
          <p:nvPr/>
        </p:nvSpPr>
        <p:spPr>
          <a:xfrm>
            <a:off x="822960" y="2907792"/>
            <a:ext cx="35204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deleted_for_everyone BOOL flag set to true. All clients re-render with 'Message deleted' placeholder.</a:t>
            </a:r>
            <a:endParaRPr lang="en-US" sz="950" dirty="0"/>
          </a:p>
        </p:txBody>
      </p:sp>
      <p:sp>
        <p:nvSpPr>
          <p:cNvPr id="26" name="Shape 18"/>
          <p:cNvSpPr/>
          <p:nvPr/>
        </p:nvSpPr>
        <p:spPr>
          <a:xfrm>
            <a:off x="4718304" y="2596896"/>
            <a:ext cx="4206240" cy="731520"/>
          </a:xfrm>
          <a:prstGeom prst="rect">
            <a:avLst/>
          </a:prstGeom>
          <a:solidFill>
            <a:srgbClr val="161B22"/>
          </a:solidFill>
          <a:ln w="889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pic>
        <p:nvPicPr>
          <p:cNvPr id="27" name="Image 6" descr="preencoded.png"/>
          <p:cNvPicPr>
            <a:picLocks noChangeAspect="1"/>
          </p:cNvPicPr>
          <p:nvPr/>
        </p:nvPicPr>
        <p:blipFill>
          <a:blip r:embed="rId5"/>
          <a:stretch>
            <a:fillRect/>
          </a:stretch>
        </p:blipFill>
        <p:spPr>
          <a:xfrm>
            <a:off x="4809744" y="2670048"/>
            <a:ext cx="384048" cy="384048"/>
          </a:xfrm>
          <a:prstGeom prst="rect">
            <a:avLst/>
          </a:prstGeom>
        </p:spPr>
      </p:pic>
      <p:sp>
        <p:nvSpPr>
          <p:cNvPr id="28" name="Text 19"/>
          <p:cNvSpPr/>
          <p:nvPr/>
        </p:nvSpPr>
        <p:spPr>
          <a:xfrm>
            <a:off x="5285232" y="2651760"/>
            <a:ext cx="3520440" cy="256032"/>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Group Chats</a:t>
            </a:r>
            <a:endParaRPr lang="en-US" sz="1200" dirty="0"/>
          </a:p>
        </p:txBody>
      </p:sp>
      <p:sp>
        <p:nvSpPr>
          <p:cNvPr id="29" name="Text 20"/>
          <p:cNvSpPr/>
          <p:nvPr/>
        </p:nvSpPr>
        <p:spPr>
          <a:xfrm>
            <a:off x="5285232" y="2907792"/>
            <a:ext cx="35204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is_group conversations with participants TEXT[], group_admin, custom avatar. group_members junction table.</a:t>
            </a:r>
            <a:endParaRPr lang="en-US" sz="950" dirty="0"/>
          </a:p>
        </p:txBody>
      </p:sp>
      <p:sp>
        <p:nvSpPr>
          <p:cNvPr id="30" name="Shape 21"/>
          <p:cNvSpPr/>
          <p:nvPr/>
        </p:nvSpPr>
        <p:spPr>
          <a:xfrm>
            <a:off x="256032" y="3401568"/>
            <a:ext cx="4206240" cy="731520"/>
          </a:xfrm>
          <a:prstGeom prst="rect">
            <a:avLst/>
          </a:prstGeom>
          <a:solidFill>
            <a:srgbClr val="161B22"/>
          </a:solidFill>
          <a:ln w="8890">
            <a:solidFill>
              <a:srgbClr val="F43F5E"/>
            </a:solidFill>
            <a:prstDash val="solid"/>
          </a:ln>
          <a:effectLst>
            <a:outerShdw blurRad="101600" dist="25400" dir="8100000" algn="bl" rotWithShape="0">
              <a:srgbClr val="000000">
                <a:alpha val="28000"/>
              </a:srgbClr>
            </a:outerShdw>
          </a:effectLst>
        </p:spPr>
        <p:txBody>
          <a:bodyPr/>
          <a:lstStyle/>
          <a:p>
            <a:endParaRPr lang="en-US"/>
          </a:p>
        </p:txBody>
      </p:sp>
      <p:pic>
        <p:nvPicPr>
          <p:cNvPr id="31" name="Image 7" descr="preencoded.png"/>
          <p:cNvPicPr>
            <a:picLocks noChangeAspect="1"/>
          </p:cNvPicPr>
          <p:nvPr/>
        </p:nvPicPr>
        <p:blipFill>
          <a:blip r:embed="rId9"/>
          <a:stretch>
            <a:fillRect/>
          </a:stretch>
        </p:blipFill>
        <p:spPr>
          <a:xfrm>
            <a:off x="347472" y="3474720"/>
            <a:ext cx="384048" cy="384048"/>
          </a:xfrm>
          <a:prstGeom prst="rect">
            <a:avLst/>
          </a:prstGeom>
        </p:spPr>
      </p:pic>
      <p:sp>
        <p:nvSpPr>
          <p:cNvPr id="32" name="Text 22"/>
          <p:cNvSpPr/>
          <p:nvPr/>
        </p:nvSpPr>
        <p:spPr>
          <a:xfrm>
            <a:off x="822960" y="3456432"/>
            <a:ext cx="3520440" cy="256032"/>
          </a:xfrm>
          <a:prstGeom prst="rect">
            <a:avLst/>
          </a:prstGeom>
          <a:noFill/>
          <a:ln/>
        </p:spPr>
        <p:txBody>
          <a:bodyPr wrap="square" lIns="0" tIns="0" rIns="0" bIns="0" rtlCol="0" anchor="ctr"/>
          <a:lstStyle/>
          <a:p>
            <a:pPr marL="0" indent="0">
              <a:buNone/>
            </a:pPr>
            <a:r>
              <a:rPr lang="en-US" sz="1200" b="1" dirty="0">
                <a:solidFill>
                  <a:srgbClr val="F43F5E"/>
                </a:solidFill>
                <a:latin typeface="Calibri" pitchFamily="34" charset="0"/>
                <a:ea typeface="Calibri" pitchFamily="34" charset="-122"/>
                <a:cs typeface="Calibri" pitchFamily="34" charset="-120"/>
              </a:rPr>
              <a:t>Status Stories</a:t>
            </a:r>
            <a:endParaRPr lang="en-US" sz="1200" dirty="0"/>
          </a:p>
        </p:txBody>
      </p:sp>
      <p:sp>
        <p:nvSpPr>
          <p:cNvPr id="33" name="Text 23"/>
          <p:cNvSpPr/>
          <p:nvPr/>
        </p:nvSpPr>
        <p:spPr>
          <a:xfrm>
            <a:off x="822960" y="3712464"/>
            <a:ext cx="35204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24-hour auto-expiring (expires_at = now()+24h). Full-screen viewer. viewed_by tracking in JSON.</a:t>
            </a:r>
            <a:endParaRPr lang="en-US" sz="950" dirty="0"/>
          </a:p>
        </p:txBody>
      </p:sp>
      <p:sp>
        <p:nvSpPr>
          <p:cNvPr id="34" name="Shape 24"/>
          <p:cNvSpPr/>
          <p:nvPr/>
        </p:nvSpPr>
        <p:spPr>
          <a:xfrm>
            <a:off x="4718304" y="3401568"/>
            <a:ext cx="4206240" cy="731520"/>
          </a:xfrm>
          <a:prstGeom prst="rect">
            <a:avLst/>
          </a:prstGeom>
          <a:solidFill>
            <a:srgbClr val="161B22"/>
          </a:solidFill>
          <a:ln w="889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pic>
        <p:nvPicPr>
          <p:cNvPr id="35" name="Image 8" descr="preencoded.png"/>
          <p:cNvPicPr>
            <a:picLocks noChangeAspect="1"/>
          </p:cNvPicPr>
          <p:nvPr/>
        </p:nvPicPr>
        <p:blipFill>
          <a:blip r:embed="rId10"/>
          <a:stretch>
            <a:fillRect/>
          </a:stretch>
        </p:blipFill>
        <p:spPr>
          <a:xfrm>
            <a:off x="4809744" y="3474720"/>
            <a:ext cx="384048" cy="384048"/>
          </a:xfrm>
          <a:prstGeom prst="rect">
            <a:avLst/>
          </a:prstGeom>
        </p:spPr>
      </p:pic>
      <p:sp>
        <p:nvSpPr>
          <p:cNvPr id="36" name="Text 25"/>
          <p:cNvSpPr/>
          <p:nvPr/>
        </p:nvSpPr>
        <p:spPr>
          <a:xfrm>
            <a:off x="5285232" y="3456432"/>
            <a:ext cx="3520440" cy="256032"/>
          </a:xfrm>
          <a:prstGeom prst="rect">
            <a:avLst/>
          </a:prstGeom>
          <a:noFill/>
          <a:ln/>
        </p:spPr>
        <p:txBody>
          <a:bodyPr wrap="square" lIns="0" tIns="0" rIns="0" bIns="0"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Audio/Video Calls</a:t>
            </a:r>
            <a:endParaRPr lang="en-US" sz="1200" dirty="0"/>
          </a:p>
        </p:txBody>
      </p:sp>
      <p:sp>
        <p:nvSpPr>
          <p:cNvPr id="37" name="Text 26"/>
          <p:cNvSpPr/>
          <p:nvPr/>
        </p:nvSpPr>
        <p:spPr>
          <a:xfrm>
            <a:off x="5285232" y="3712464"/>
            <a:ext cx="35204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WebRTC P2P via STUN. SDP via call_signals table. Mute/camera toggle. Duration logged to call_history.</a:t>
            </a:r>
            <a:endParaRPr lang="en-US" sz="950" dirty="0"/>
          </a:p>
        </p:txBody>
      </p:sp>
      <p:sp>
        <p:nvSpPr>
          <p:cNvPr id="38" name="Shape 27"/>
          <p:cNvSpPr/>
          <p:nvPr/>
        </p:nvSpPr>
        <p:spPr>
          <a:xfrm>
            <a:off x="256032" y="4206240"/>
            <a:ext cx="4206240" cy="731520"/>
          </a:xfrm>
          <a:prstGeom prst="rect">
            <a:avLst/>
          </a:prstGeom>
          <a:solidFill>
            <a:srgbClr val="161B22"/>
          </a:solidFill>
          <a:ln w="889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pic>
        <p:nvPicPr>
          <p:cNvPr id="39" name="Image 9" descr="preencoded.png"/>
          <p:cNvPicPr>
            <a:picLocks noChangeAspect="1"/>
          </p:cNvPicPr>
          <p:nvPr/>
        </p:nvPicPr>
        <p:blipFill>
          <a:blip r:embed="rId11"/>
          <a:stretch>
            <a:fillRect/>
          </a:stretch>
        </p:blipFill>
        <p:spPr>
          <a:xfrm>
            <a:off x="347472" y="4279392"/>
            <a:ext cx="384048" cy="384048"/>
          </a:xfrm>
          <a:prstGeom prst="rect">
            <a:avLst/>
          </a:prstGeom>
        </p:spPr>
      </p:pic>
      <p:sp>
        <p:nvSpPr>
          <p:cNvPr id="40" name="Text 28"/>
          <p:cNvSpPr/>
          <p:nvPr/>
        </p:nvSpPr>
        <p:spPr>
          <a:xfrm>
            <a:off x="822960" y="4261104"/>
            <a:ext cx="3520440" cy="256032"/>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Online Presence</a:t>
            </a:r>
            <a:endParaRPr lang="en-US" sz="1200" dirty="0"/>
          </a:p>
        </p:txBody>
      </p:sp>
      <p:sp>
        <p:nvSpPr>
          <p:cNvPr id="41" name="Text 29"/>
          <p:cNvSpPr/>
          <p:nvPr/>
        </p:nvSpPr>
        <p:spPr>
          <a:xfrm>
            <a:off x="822960" y="4517136"/>
            <a:ext cx="35204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is_online BOOL updated when user connects/disconnects. last_seen timestamp for 'last seen' display.</a:t>
            </a:r>
            <a:endParaRPr lang="en-US" sz="950" dirty="0"/>
          </a:p>
        </p:txBody>
      </p:sp>
      <p:sp>
        <p:nvSpPr>
          <p:cNvPr id="42" name="Shape 30"/>
          <p:cNvSpPr/>
          <p:nvPr/>
        </p:nvSpPr>
        <p:spPr>
          <a:xfrm>
            <a:off x="4718304" y="4206240"/>
            <a:ext cx="4206240" cy="731520"/>
          </a:xfrm>
          <a:prstGeom prst="rect">
            <a:avLst/>
          </a:prstGeom>
          <a:solidFill>
            <a:srgbClr val="161B22"/>
          </a:solidFill>
          <a:ln w="889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pic>
        <p:nvPicPr>
          <p:cNvPr id="43" name="Image 10" descr="preencoded.png"/>
          <p:cNvPicPr>
            <a:picLocks noChangeAspect="1"/>
          </p:cNvPicPr>
          <p:nvPr/>
        </p:nvPicPr>
        <p:blipFill>
          <a:blip r:embed="rId12"/>
          <a:stretch>
            <a:fillRect/>
          </a:stretch>
        </p:blipFill>
        <p:spPr>
          <a:xfrm>
            <a:off x="4809744" y="4279392"/>
            <a:ext cx="384048" cy="384048"/>
          </a:xfrm>
          <a:prstGeom prst="rect">
            <a:avLst/>
          </a:prstGeom>
        </p:spPr>
      </p:pic>
      <p:sp>
        <p:nvSpPr>
          <p:cNvPr id="44" name="Text 31"/>
          <p:cNvSpPr/>
          <p:nvPr/>
        </p:nvSpPr>
        <p:spPr>
          <a:xfrm>
            <a:off x="5285232" y="4261104"/>
            <a:ext cx="3520440" cy="256032"/>
          </a:xfrm>
          <a:prstGeom prst="rect">
            <a:avLst/>
          </a:prstGeom>
          <a:noFill/>
          <a:ln/>
        </p:spPr>
        <p:txBody>
          <a:bodyPr wrap="square" lIns="0" tIns="0" rIns="0" bIns="0"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Typing Indicators</a:t>
            </a:r>
            <a:endParaRPr lang="en-US" sz="1200" dirty="0"/>
          </a:p>
        </p:txBody>
      </p:sp>
      <p:sp>
        <p:nvSpPr>
          <p:cNvPr id="45" name="Text 32"/>
          <p:cNvSpPr/>
          <p:nvPr/>
        </p:nvSpPr>
        <p:spPr>
          <a:xfrm>
            <a:off x="5285232" y="4517136"/>
            <a:ext cx="35204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Real-time typing_status broadcast on Supabase channel. Subscriber renders typing dots in ChatWindow.</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Security Architecture</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How Chatify protects data — JWT verification, RLS, CORS, and key separation</a:t>
            </a:r>
            <a:endParaRPr lang="en-US" sz="1300" dirty="0"/>
          </a:p>
        </p:txBody>
      </p:sp>
      <p:pic>
        <p:nvPicPr>
          <p:cNvPr id="5" name="Image 0" descr="preencoded.png"/>
          <p:cNvPicPr>
            <a:picLocks noChangeAspect="1"/>
          </p:cNvPicPr>
          <p:nvPr/>
        </p:nvPicPr>
        <p:blipFill>
          <a:blip r:embed="rId3"/>
          <a:stretch>
            <a:fillRect/>
          </a:stretch>
        </p:blipFill>
        <p:spPr>
          <a:xfrm>
            <a:off x="8229600" y="914400"/>
            <a:ext cx="658368" cy="658368"/>
          </a:xfrm>
          <a:prstGeom prst="rect">
            <a:avLst/>
          </a:prstGeom>
        </p:spPr>
      </p:pic>
      <p:sp>
        <p:nvSpPr>
          <p:cNvPr id="6" name="Shape 3"/>
          <p:cNvSpPr/>
          <p:nvPr/>
        </p:nvSpPr>
        <p:spPr>
          <a:xfrm>
            <a:off x="256032" y="987552"/>
            <a:ext cx="8631936" cy="768096"/>
          </a:xfrm>
          <a:prstGeom prst="rect">
            <a:avLst/>
          </a:prstGeom>
          <a:solidFill>
            <a:srgbClr val="161B22"/>
          </a:solidFill>
          <a:ln w="10160">
            <a:solidFill>
              <a:srgbClr val="F43F5E"/>
            </a:solidFill>
            <a:prstDash val="solid"/>
          </a:ln>
          <a:effectLst>
            <a:outerShdw blurRad="101600" dist="25400" dir="8100000" algn="bl" rotWithShape="0">
              <a:srgbClr val="000000">
                <a:alpha val="28000"/>
              </a:srgbClr>
            </a:outerShdw>
          </a:effectLst>
        </p:spPr>
        <p:txBody>
          <a:bodyPr/>
          <a:lstStyle/>
          <a:p>
            <a:endParaRPr lang="en-US"/>
          </a:p>
        </p:txBody>
      </p:sp>
      <p:sp>
        <p:nvSpPr>
          <p:cNvPr id="7" name="Shape 4"/>
          <p:cNvSpPr/>
          <p:nvPr/>
        </p:nvSpPr>
        <p:spPr>
          <a:xfrm>
            <a:off x="256032" y="987552"/>
            <a:ext cx="50292" cy="768096"/>
          </a:xfrm>
          <a:prstGeom prst="rect">
            <a:avLst/>
          </a:prstGeom>
          <a:solidFill>
            <a:srgbClr val="F43F5E"/>
          </a:solidFill>
          <a:ln w="12700">
            <a:solidFill>
              <a:srgbClr val="F43F5E"/>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365760" y="1097280"/>
            <a:ext cx="384048" cy="384048"/>
          </a:xfrm>
          <a:prstGeom prst="rect">
            <a:avLst/>
          </a:prstGeom>
        </p:spPr>
      </p:pic>
      <p:sp>
        <p:nvSpPr>
          <p:cNvPr id="9" name="Text 5"/>
          <p:cNvSpPr/>
          <p:nvPr/>
        </p:nvSpPr>
        <p:spPr>
          <a:xfrm>
            <a:off x="859536" y="1042416"/>
            <a:ext cx="7863840" cy="256032"/>
          </a:xfrm>
          <a:prstGeom prst="rect">
            <a:avLst/>
          </a:prstGeom>
          <a:noFill/>
          <a:ln/>
        </p:spPr>
        <p:txBody>
          <a:bodyPr wrap="square" lIns="0" tIns="0" rIns="0" bIns="0" rtlCol="0" anchor="ctr"/>
          <a:lstStyle/>
          <a:p>
            <a:pPr marL="0" indent="0">
              <a:buNone/>
            </a:pPr>
            <a:r>
              <a:rPr lang="en-US" sz="1200" b="1" dirty="0">
                <a:solidFill>
                  <a:srgbClr val="F43F5E"/>
                </a:solidFill>
                <a:latin typeface="Calibri" pitchFamily="34" charset="0"/>
                <a:ea typeface="Calibri" pitchFamily="34" charset="-122"/>
                <a:cs typeface="Calibri" pitchFamily="34" charset="-120"/>
              </a:rPr>
              <a:t>Firebase JWT Verification (Server-Side)</a:t>
            </a:r>
            <a:endParaRPr lang="en-US" sz="1200" dirty="0"/>
          </a:p>
        </p:txBody>
      </p:sp>
      <p:sp>
        <p:nvSpPr>
          <p:cNvPr id="10" name="Text 6"/>
          <p:cNvSpPr/>
          <p:nvPr/>
        </p:nvSpPr>
        <p:spPr>
          <a:xfrm>
            <a:off x="859536" y="1316736"/>
            <a:ext cx="786384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Every API endpoint is protected by the authenticate() middleware. It extracts the Bearer token, calls admin.auth().verifyIdToken() to validate signature, expiry, and issuer. This happens on the server — the client cannot forge a token. On expiry (1hr), a 401 response triggers re-login.</a:t>
            </a:r>
            <a:endParaRPr lang="en-US" sz="950" dirty="0"/>
          </a:p>
        </p:txBody>
      </p:sp>
      <p:sp>
        <p:nvSpPr>
          <p:cNvPr id="11" name="Shape 7"/>
          <p:cNvSpPr/>
          <p:nvPr/>
        </p:nvSpPr>
        <p:spPr>
          <a:xfrm>
            <a:off x="256032" y="1810512"/>
            <a:ext cx="8631936" cy="768096"/>
          </a:xfrm>
          <a:prstGeom prst="rect">
            <a:avLst/>
          </a:prstGeom>
          <a:solidFill>
            <a:srgbClr val="161B22"/>
          </a:solidFill>
          <a:ln w="1016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sp>
        <p:nvSpPr>
          <p:cNvPr id="12" name="Shape 8"/>
          <p:cNvSpPr/>
          <p:nvPr/>
        </p:nvSpPr>
        <p:spPr>
          <a:xfrm>
            <a:off x="256032" y="1810512"/>
            <a:ext cx="50292" cy="768096"/>
          </a:xfrm>
          <a:prstGeom prst="rect">
            <a:avLst/>
          </a:prstGeom>
          <a:solidFill>
            <a:srgbClr val="8B5CF6"/>
          </a:solidFill>
          <a:ln w="12700">
            <a:solidFill>
              <a:srgbClr val="8B5CF6"/>
            </a:solidFill>
            <a:prstDash val="solid"/>
          </a:ln>
        </p:spPr>
        <p:txBody>
          <a:bodyPr/>
          <a:lstStyle/>
          <a:p>
            <a:endParaRPr lang="en-US"/>
          </a:p>
        </p:txBody>
      </p:sp>
      <p:pic>
        <p:nvPicPr>
          <p:cNvPr id="13" name="Image 2" descr="preencoded.png"/>
          <p:cNvPicPr>
            <a:picLocks noChangeAspect="1"/>
          </p:cNvPicPr>
          <p:nvPr/>
        </p:nvPicPr>
        <p:blipFill>
          <a:blip r:embed="rId3"/>
          <a:stretch>
            <a:fillRect/>
          </a:stretch>
        </p:blipFill>
        <p:spPr>
          <a:xfrm>
            <a:off x="365760" y="1920240"/>
            <a:ext cx="384048" cy="384048"/>
          </a:xfrm>
          <a:prstGeom prst="rect">
            <a:avLst/>
          </a:prstGeom>
        </p:spPr>
      </p:pic>
      <p:sp>
        <p:nvSpPr>
          <p:cNvPr id="14" name="Text 9"/>
          <p:cNvSpPr/>
          <p:nvPr/>
        </p:nvSpPr>
        <p:spPr>
          <a:xfrm>
            <a:off x="859536" y="1865376"/>
            <a:ext cx="7863840" cy="256032"/>
          </a:xfrm>
          <a:prstGeom prst="rect">
            <a:avLst/>
          </a:prstGeom>
          <a:noFill/>
          <a:ln/>
        </p:spPr>
        <p:txBody>
          <a:bodyPr wrap="square" lIns="0" tIns="0" rIns="0" bIns="0"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Row-Level Security (Supabase RLS)</a:t>
            </a:r>
            <a:endParaRPr lang="en-US" sz="1200" dirty="0"/>
          </a:p>
        </p:txBody>
      </p:sp>
      <p:sp>
        <p:nvSpPr>
          <p:cNvPr id="15" name="Text 10"/>
          <p:cNvSpPr/>
          <p:nvPr/>
        </p:nvSpPr>
        <p:spPr>
          <a:xfrm>
            <a:off x="859536" y="2139696"/>
            <a:ext cx="786384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RLS is ENABLED on all 8 database tables. The backend uses the service role key (bypasses RLS for trusted server operations), while the frontend anon key is subject to RLS policies. This means even if someone intercepts the anon key, they cannot access unauthorized data rows.</a:t>
            </a:r>
            <a:endParaRPr lang="en-US" sz="950" dirty="0"/>
          </a:p>
        </p:txBody>
      </p:sp>
      <p:sp>
        <p:nvSpPr>
          <p:cNvPr id="16" name="Shape 11"/>
          <p:cNvSpPr/>
          <p:nvPr/>
        </p:nvSpPr>
        <p:spPr>
          <a:xfrm>
            <a:off x="256032" y="2633472"/>
            <a:ext cx="8631936" cy="768096"/>
          </a:xfrm>
          <a:prstGeom prst="rect">
            <a:avLst/>
          </a:prstGeom>
          <a:solidFill>
            <a:srgbClr val="161B22"/>
          </a:solidFill>
          <a:ln w="10160">
            <a:solidFill>
              <a:srgbClr val="F59E0B"/>
            </a:solidFill>
            <a:prstDash val="solid"/>
          </a:ln>
          <a:effectLst>
            <a:outerShdw blurRad="101600" dist="25400" dir="8100000" algn="bl" rotWithShape="0">
              <a:srgbClr val="000000">
                <a:alpha val="28000"/>
              </a:srgbClr>
            </a:outerShdw>
          </a:effectLst>
        </p:spPr>
        <p:txBody>
          <a:bodyPr/>
          <a:lstStyle/>
          <a:p>
            <a:endParaRPr lang="en-US"/>
          </a:p>
        </p:txBody>
      </p:sp>
      <p:sp>
        <p:nvSpPr>
          <p:cNvPr id="17" name="Shape 12"/>
          <p:cNvSpPr/>
          <p:nvPr/>
        </p:nvSpPr>
        <p:spPr>
          <a:xfrm>
            <a:off x="256032" y="2633472"/>
            <a:ext cx="50292" cy="768096"/>
          </a:xfrm>
          <a:prstGeom prst="rect">
            <a:avLst/>
          </a:prstGeom>
          <a:solidFill>
            <a:srgbClr val="F59E0B"/>
          </a:solidFill>
          <a:ln w="12700">
            <a:solidFill>
              <a:srgbClr val="F59E0B"/>
            </a:solidFill>
            <a:prstDash val="solid"/>
          </a:ln>
        </p:spPr>
        <p:txBody>
          <a:bodyPr/>
          <a:lstStyle/>
          <a:p>
            <a:endParaRPr lang="en-US"/>
          </a:p>
        </p:txBody>
      </p:sp>
      <p:pic>
        <p:nvPicPr>
          <p:cNvPr id="18" name="Image 3" descr="preencoded.png"/>
          <p:cNvPicPr>
            <a:picLocks noChangeAspect="1"/>
          </p:cNvPicPr>
          <p:nvPr/>
        </p:nvPicPr>
        <p:blipFill>
          <a:blip r:embed="rId5"/>
          <a:stretch>
            <a:fillRect/>
          </a:stretch>
        </p:blipFill>
        <p:spPr>
          <a:xfrm>
            <a:off x="365760" y="2743200"/>
            <a:ext cx="384048" cy="384048"/>
          </a:xfrm>
          <a:prstGeom prst="rect">
            <a:avLst/>
          </a:prstGeom>
        </p:spPr>
      </p:pic>
      <p:sp>
        <p:nvSpPr>
          <p:cNvPr id="19" name="Text 13"/>
          <p:cNvSpPr/>
          <p:nvPr/>
        </p:nvSpPr>
        <p:spPr>
          <a:xfrm>
            <a:off x="859536" y="2688336"/>
            <a:ext cx="7863840" cy="25603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CORS Configuration</a:t>
            </a:r>
            <a:endParaRPr lang="en-US" sz="1200" dirty="0"/>
          </a:p>
        </p:txBody>
      </p:sp>
      <p:sp>
        <p:nvSpPr>
          <p:cNvPr id="20" name="Text 14"/>
          <p:cNvSpPr/>
          <p:nvPr/>
        </p:nvSpPr>
        <p:spPr>
          <a:xfrm>
            <a:off x="859536" y="2962656"/>
            <a:ext cx="786384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CORS is configured with an allowedOrigins array containing localhost:5173 and the FRONTEND_URL env variable. Currently set permissive (callback returns true) as a dev default — the README explicitly notes this must be tightened before production deployment.</a:t>
            </a:r>
            <a:endParaRPr lang="en-US" sz="950" dirty="0"/>
          </a:p>
        </p:txBody>
      </p:sp>
      <p:sp>
        <p:nvSpPr>
          <p:cNvPr id="21" name="Shape 15"/>
          <p:cNvSpPr/>
          <p:nvPr/>
        </p:nvSpPr>
        <p:spPr>
          <a:xfrm>
            <a:off x="256032" y="3456432"/>
            <a:ext cx="8631936" cy="768096"/>
          </a:xfrm>
          <a:prstGeom prst="rect">
            <a:avLst/>
          </a:prstGeom>
          <a:solidFill>
            <a:srgbClr val="161B22"/>
          </a:solidFill>
          <a:ln w="1016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sp>
        <p:nvSpPr>
          <p:cNvPr id="22" name="Shape 16"/>
          <p:cNvSpPr/>
          <p:nvPr/>
        </p:nvSpPr>
        <p:spPr>
          <a:xfrm>
            <a:off x="256032" y="3456432"/>
            <a:ext cx="50292" cy="768096"/>
          </a:xfrm>
          <a:prstGeom prst="rect">
            <a:avLst/>
          </a:prstGeom>
          <a:solidFill>
            <a:srgbClr val="10B981"/>
          </a:solidFill>
          <a:ln w="12700">
            <a:solidFill>
              <a:srgbClr val="10B981"/>
            </a:solidFill>
            <a:prstDash val="solid"/>
          </a:ln>
        </p:spPr>
        <p:txBody>
          <a:bodyPr/>
          <a:lstStyle/>
          <a:p>
            <a:endParaRPr lang="en-US"/>
          </a:p>
        </p:txBody>
      </p:sp>
      <p:pic>
        <p:nvPicPr>
          <p:cNvPr id="23" name="Image 4" descr="preencoded.png"/>
          <p:cNvPicPr>
            <a:picLocks noChangeAspect="1"/>
          </p:cNvPicPr>
          <p:nvPr/>
        </p:nvPicPr>
        <p:blipFill>
          <a:blip r:embed="rId6"/>
          <a:stretch>
            <a:fillRect/>
          </a:stretch>
        </p:blipFill>
        <p:spPr>
          <a:xfrm>
            <a:off x="365760" y="3566160"/>
            <a:ext cx="384048" cy="384048"/>
          </a:xfrm>
          <a:prstGeom prst="rect">
            <a:avLst/>
          </a:prstGeom>
        </p:spPr>
      </p:pic>
      <p:sp>
        <p:nvSpPr>
          <p:cNvPr id="24" name="Text 17"/>
          <p:cNvSpPr/>
          <p:nvPr/>
        </p:nvSpPr>
        <p:spPr>
          <a:xfrm>
            <a:off x="859536" y="3511296"/>
            <a:ext cx="7863840" cy="256032"/>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Key Separation &amp; Environment Variables</a:t>
            </a:r>
            <a:endParaRPr lang="en-US" sz="1200" dirty="0"/>
          </a:p>
        </p:txBody>
      </p:sp>
      <p:sp>
        <p:nvSpPr>
          <p:cNvPr id="25" name="Text 18"/>
          <p:cNvSpPr/>
          <p:nvPr/>
        </p:nvSpPr>
        <p:spPr>
          <a:xfrm>
            <a:off x="859536" y="3785616"/>
            <a:ext cx="786384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Firebase service account JSON and Supabase service role key are ONLY in backend .env. Frontend uses VITE_SUPABASE_ANON_KEY (public, limited by RLS) and VITE_FIREBASE_API_KEY (identifies app, not user). No secret keys are ever exposed to the browser.</a:t>
            </a:r>
            <a:endParaRPr lang="en-US" sz="950" dirty="0"/>
          </a:p>
        </p:txBody>
      </p:sp>
      <p:sp>
        <p:nvSpPr>
          <p:cNvPr id="26" name="Shape 19"/>
          <p:cNvSpPr/>
          <p:nvPr/>
        </p:nvSpPr>
        <p:spPr>
          <a:xfrm>
            <a:off x="256032" y="4279392"/>
            <a:ext cx="8631936" cy="768096"/>
          </a:xfrm>
          <a:prstGeom prst="rect">
            <a:avLst/>
          </a:prstGeom>
          <a:solidFill>
            <a:srgbClr val="161B22"/>
          </a:solidFill>
          <a:ln w="1016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sp>
        <p:nvSpPr>
          <p:cNvPr id="27" name="Shape 20"/>
          <p:cNvSpPr/>
          <p:nvPr/>
        </p:nvSpPr>
        <p:spPr>
          <a:xfrm>
            <a:off x="256032" y="4279392"/>
            <a:ext cx="50292" cy="768096"/>
          </a:xfrm>
          <a:prstGeom prst="rect">
            <a:avLst/>
          </a:prstGeom>
          <a:solidFill>
            <a:srgbClr val="22D3EE"/>
          </a:solidFill>
          <a:ln w="12700">
            <a:solidFill>
              <a:srgbClr val="22D3EE"/>
            </a:solidFill>
            <a:prstDash val="solid"/>
          </a:ln>
        </p:spPr>
        <p:txBody>
          <a:bodyPr/>
          <a:lstStyle/>
          <a:p>
            <a:endParaRPr lang="en-US"/>
          </a:p>
        </p:txBody>
      </p:sp>
      <p:pic>
        <p:nvPicPr>
          <p:cNvPr id="28" name="Image 5" descr="preencoded.png"/>
          <p:cNvPicPr>
            <a:picLocks noChangeAspect="1"/>
          </p:cNvPicPr>
          <p:nvPr/>
        </p:nvPicPr>
        <p:blipFill>
          <a:blip r:embed="rId4"/>
          <a:stretch>
            <a:fillRect/>
          </a:stretch>
        </p:blipFill>
        <p:spPr>
          <a:xfrm>
            <a:off x="365760" y="4389120"/>
            <a:ext cx="384048" cy="384048"/>
          </a:xfrm>
          <a:prstGeom prst="rect">
            <a:avLst/>
          </a:prstGeom>
        </p:spPr>
      </p:pic>
      <p:sp>
        <p:nvSpPr>
          <p:cNvPr id="29" name="Text 21"/>
          <p:cNvSpPr/>
          <p:nvPr/>
        </p:nvSpPr>
        <p:spPr>
          <a:xfrm>
            <a:off x="859536" y="4334256"/>
            <a:ext cx="7863840" cy="256032"/>
          </a:xfrm>
          <a:prstGeom prst="rect">
            <a:avLst/>
          </a:prstGeom>
          <a:noFill/>
          <a:ln/>
        </p:spPr>
        <p:txBody>
          <a:bodyPr wrap="square" lIns="0" tIns="0" rIns="0" bIns="0"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Token Expiry Handling</a:t>
            </a:r>
            <a:endParaRPr lang="en-US" sz="1200" dirty="0"/>
          </a:p>
        </p:txBody>
      </p:sp>
      <p:sp>
        <p:nvSpPr>
          <p:cNvPr id="30" name="Text 22"/>
          <p:cNvSpPr/>
          <p:nvPr/>
        </p:nvSpPr>
        <p:spPr>
          <a:xfrm>
            <a:off x="859536" y="4608576"/>
            <a:ext cx="786384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auth.js middleware catches auth/id-token-expired Firebase error code and returns 401 with a clear 'Please re-authenticate' message. The frontend Axios interceptor can hook this to trigger a silent token refresh via Firebase's built-in token renewal.</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Performance Optimizations</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Frontend build, database query, realtime filtering, and upload strategies</a:t>
            </a:r>
            <a:endParaRPr lang="en-US" sz="1300" dirty="0"/>
          </a:p>
        </p:txBody>
      </p:sp>
      <p:pic>
        <p:nvPicPr>
          <p:cNvPr id="5" name="Image 0" descr="preencoded.png"/>
          <p:cNvPicPr>
            <a:picLocks noChangeAspect="1"/>
          </p:cNvPicPr>
          <p:nvPr/>
        </p:nvPicPr>
        <p:blipFill>
          <a:blip r:embed="rId3"/>
          <a:stretch>
            <a:fillRect/>
          </a:stretch>
        </p:blipFill>
        <p:spPr>
          <a:xfrm>
            <a:off x="8229600" y="914400"/>
            <a:ext cx="658368" cy="658368"/>
          </a:xfrm>
          <a:prstGeom prst="rect">
            <a:avLst/>
          </a:prstGeom>
        </p:spPr>
      </p:pic>
      <p:sp>
        <p:nvSpPr>
          <p:cNvPr id="6" name="Shape 3"/>
          <p:cNvSpPr/>
          <p:nvPr/>
        </p:nvSpPr>
        <p:spPr>
          <a:xfrm>
            <a:off x="256032" y="987552"/>
            <a:ext cx="4206240" cy="4041648"/>
          </a:xfrm>
          <a:prstGeom prst="rect">
            <a:avLst/>
          </a:prstGeom>
          <a:solidFill>
            <a:srgbClr val="161B22"/>
          </a:solidFill>
          <a:ln w="1016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sp>
        <p:nvSpPr>
          <p:cNvPr id="7" name="Shape 4"/>
          <p:cNvSpPr/>
          <p:nvPr/>
        </p:nvSpPr>
        <p:spPr>
          <a:xfrm>
            <a:off x="256032" y="987552"/>
            <a:ext cx="4206240" cy="329184"/>
          </a:xfrm>
          <a:prstGeom prst="rect">
            <a:avLst/>
          </a:prstGeom>
          <a:solidFill>
            <a:srgbClr val="22D3EE"/>
          </a:solidFill>
          <a:ln w="12700">
            <a:solidFill>
              <a:srgbClr val="22D3EE"/>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347472" y="1005840"/>
            <a:ext cx="292608" cy="292608"/>
          </a:xfrm>
          <a:prstGeom prst="rect">
            <a:avLst/>
          </a:prstGeom>
        </p:spPr>
      </p:pic>
      <p:sp>
        <p:nvSpPr>
          <p:cNvPr id="9" name="Text 5"/>
          <p:cNvSpPr/>
          <p:nvPr/>
        </p:nvSpPr>
        <p:spPr>
          <a:xfrm>
            <a:off x="694944" y="1005840"/>
            <a:ext cx="3566160" cy="292608"/>
          </a:xfrm>
          <a:prstGeom prst="rect">
            <a:avLst/>
          </a:prstGeom>
          <a:noFill/>
          <a:ln/>
        </p:spPr>
        <p:txBody>
          <a:bodyPr wrap="square" lIns="0" tIns="0" rIns="0" bIns="0" rtlCol="0" anchor="ctr"/>
          <a:lstStyle/>
          <a:p>
            <a:pPr marL="0" indent="0">
              <a:buNone/>
            </a:pPr>
            <a:r>
              <a:rPr lang="en-US" sz="1400" b="1" dirty="0">
                <a:solidFill>
                  <a:srgbClr val="0D1117"/>
                </a:solidFill>
                <a:latin typeface="Calibri" pitchFamily="34" charset="0"/>
                <a:ea typeface="Calibri" pitchFamily="34" charset="-122"/>
                <a:cs typeface="Calibri" pitchFamily="34" charset="-120"/>
              </a:rPr>
              <a:t>Frontend</a:t>
            </a:r>
            <a:endParaRPr lang="en-US" sz="1400" dirty="0"/>
          </a:p>
        </p:txBody>
      </p:sp>
      <p:sp>
        <p:nvSpPr>
          <p:cNvPr id="10" name="Text 6"/>
          <p:cNvSpPr/>
          <p:nvPr/>
        </p:nvSpPr>
        <p:spPr>
          <a:xfrm>
            <a:off x="384048" y="1426464"/>
            <a:ext cx="3931920" cy="256032"/>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 Vite 8 Build</a:t>
            </a:r>
            <a:endParaRPr lang="en-US" sz="1150" dirty="0"/>
          </a:p>
        </p:txBody>
      </p:sp>
      <p:sp>
        <p:nvSpPr>
          <p:cNvPr id="11" name="Text 7"/>
          <p:cNvSpPr/>
          <p:nvPr/>
        </p:nvSpPr>
        <p:spPr>
          <a:xfrm>
            <a:off x="384048" y="1682496"/>
            <a:ext cx="3931920" cy="45720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Tree-shaking, code-splitting, and ES module bundling. Sub-100ms HMR refresh. Production builds are minified and chunked.</a:t>
            </a:r>
            <a:endParaRPr lang="en-US" sz="1000" dirty="0"/>
          </a:p>
        </p:txBody>
      </p:sp>
      <p:sp>
        <p:nvSpPr>
          <p:cNvPr id="12" name="Text 8"/>
          <p:cNvSpPr/>
          <p:nvPr/>
        </p:nvSpPr>
        <p:spPr>
          <a:xfrm>
            <a:off x="384048" y="2322576"/>
            <a:ext cx="3931920" cy="256032"/>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 React Context Memos</a:t>
            </a:r>
            <a:endParaRPr lang="en-US" sz="1150" dirty="0"/>
          </a:p>
        </p:txBody>
      </p:sp>
      <p:sp>
        <p:nvSpPr>
          <p:cNvPr id="13" name="Text 9"/>
          <p:cNvSpPr/>
          <p:nvPr/>
        </p:nvSpPr>
        <p:spPr>
          <a:xfrm>
            <a:off x="384048" y="2578608"/>
            <a:ext cx="3931920" cy="45720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useCallback() on CallContext handlers (initiateCall, endCall, acceptCall). useRef for streams/connections avoids re-renders.</a:t>
            </a:r>
            <a:endParaRPr lang="en-US" sz="1000" dirty="0"/>
          </a:p>
        </p:txBody>
      </p:sp>
      <p:sp>
        <p:nvSpPr>
          <p:cNvPr id="14" name="Text 10"/>
          <p:cNvSpPr/>
          <p:nvPr/>
        </p:nvSpPr>
        <p:spPr>
          <a:xfrm>
            <a:off x="384048" y="3218688"/>
            <a:ext cx="3931920" cy="256032"/>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 GSAP GPU Animations</a:t>
            </a:r>
            <a:endParaRPr lang="en-US" sz="1150" dirty="0"/>
          </a:p>
        </p:txBody>
      </p:sp>
      <p:sp>
        <p:nvSpPr>
          <p:cNvPr id="15" name="Text 11"/>
          <p:cNvSpPr/>
          <p:nvPr/>
        </p:nvSpPr>
        <p:spPr>
          <a:xfrm>
            <a:off x="384048" y="3474720"/>
            <a:ext cx="3931920" cy="45720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All Chatify animations use transform/opacity — GPU composited properties. No layout thrashing. requestAnimationFrame-based.</a:t>
            </a:r>
            <a:endParaRPr lang="en-US" sz="1000" dirty="0"/>
          </a:p>
        </p:txBody>
      </p:sp>
      <p:sp>
        <p:nvSpPr>
          <p:cNvPr id="16" name="Text 12"/>
          <p:cNvSpPr/>
          <p:nvPr/>
        </p:nvSpPr>
        <p:spPr>
          <a:xfrm>
            <a:off x="384048" y="4114800"/>
            <a:ext cx="3931920" cy="256032"/>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 Vite Lazy Loading</a:t>
            </a:r>
            <a:endParaRPr lang="en-US" sz="1150" dirty="0"/>
          </a:p>
        </p:txBody>
      </p:sp>
      <p:sp>
        <p:nvSpPr>
          <p:cNvPr id="17" name="Text 13"/>
          <p:cNvSpPr/>
          <p:nvPr/>
        </p:nvSpPr>
        <p:spPr>
          <a:xfrm>
            <a:off x="384048" y="4370832"/>
            <a:ext cx="3931920" cy="45720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Features (call, chat, auth) can be lazy-loaded with React.lazy() + Suspense. Bundle only loads what the current route needs.</a:t>
            </a:r>
            <a:endParaRPr lang="en-US" sz="1000" dirty="0"/>
          </a:p>
        </p:txBody>
      </p:sp>
      <p:sp>
        <p:nvSpPr>
          <p:cNvPr id="18" name="Shape 14"/>
          <p:cNvSpPr/>
          <p:nvPr/>
        </p:nvSpPr>
        <p:spPr>
          <a:xfrm>
            <a:off x="4663440" y="987552"/>
            <a:ext cx="4224528" cy="4041648"/>
          </a:xfrm>
          <a:prstGeom prst="rect">
            <a:avLst/>
          </a:prstGeom>
          <a:solidFill>
            <a:srgbClr val="161B22"/>
          </a:solidFill>
          <a:ln w="1016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sp>
        <p:nvSpPr>
          <p:cNvPr id="19" name="Shape 15"/>
          <p:cNvSpPr/>
          <p:nvPr/>
        </p:nvSpPr>
        <p:spPr>
          <a:xfrm>
            <a:off x="4663440" y="987552"/>
            <a:ext cx="4224528" cy="329184"/>
          </a:xfrm>
          <a:prstGeom prst="rect">
            <a:avLst/>
          </a:prstGeom>
          <a:solidFill>
            <a:srgbClr val="10B981"/>
          </a:solidFill>
          <a:ln w="12700">
            <a:solidFill>
              <a:srgbClr val="10B981"/>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4754880" y="1005840"/>
            <a:ext cx="292608" cy="292608"/>
          </a:xfrm>
          <a:prstGeom prst="rect">
            <a:avLst/>
          </a:prstGeom>
        </p:spPr>
      </p:pic>
      <p:sp>
        <p:nvSpPr>
          <p:cNvPr id="21" name="Text 16"/>
          <p:cNvSpPr/>
          <p:nvPr/>
        </p:nvSpPr>
        <p:spPr>
          <a:xfrm>
            <a:off x="5102352" y="1005840"/>
            <a:ext cx="3657600" cy="292608"/>
          </a:xfrm>
          <a:prstGeom prst="rect">
            <a:avLst/>
          </a:prstGeom>
          <a:noFill/>
          <a:ln/>
        </p:spPr>
        <p:txBody>
          <a:bodyPr wrap="square" lIns="0" tIns="0" rIns="0" bIns="0" rtlCol="0" anchor="ctr"/>
          <a:lstStyle/>
          <a:p>
            <a:pPr marL="0" indent="0">
              <a:buNone/>
            </a:pPr>
            <a:r>
              <a:rPr lang="en-US" sz="1400" b="1" dirty="0">
                <a:solidFill>
                  <a:srgbClr val="0D1117"/>
                </a:solidFill>
                <a:latin typeface="Calibri" pitchFamily="34" charset="0"/>
                <a:ea typeface="Calibri" pitchFamily="34" charset="-122"/>
                <a:cs typeface="Calibri" pitchFamily="34" charset="-120"/>
              </a:rPr>
              <a:t>Backend &amp; Database</a:t>
            </a:r>
            <a:endParaRPr lang="en-US" sz="1400" dirty="0"/>
          </a:p>
        </p:txBody>
      </p:sp>
      <p:sp>
        <p:nvSpPr>
          <p:cNvPr id="22" name="Text 17"/>
          <p:cNvSpPr/>
          <p:nvPr/>
        </p:nvSpPr>
        <p:spPr>
          <a:xfrm>
            <a:off x="4791456" y="1426464"/>
            <a:ext cx="3968496" cy="256032"/>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 14+ DB Indexes</a:t>
            </a:r>
            <a:endParaRPr lang="en-US" sz="1150" dirty="0"/>
          </a:p>
        </p:txBody>
      </p:sp>
      <p:sp>
        <p:nvSpPr>
          <p:cNvPr id="23" name="Text 18"/>
          <p:cNvSpPr/>
          <p:nvPr/>
        </p:nvSpPr>
        <p:spPr>
          <a:xfrm>
            <a:off x="4791456" y="1682496"/>
            <a:ext cx="3968496" cy="45720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idx_messages_conversation, idx_calls_caller, idx_profiles_username, idx_status_expires etc. Zero full-table scans on hot queries.</a:t>
            </a:r>
            <a:endParaRPr lang="en-US" sz="1000" dirty="0"/>
          </a:p>
        </p:txBody>
      </p:sp>
      <p:sp>
        <p:nvSpPr>
          <p:cNvPr id="24" name="Text 19"/>
          <p:cNvSpPr/>
          <p:nvPr/>
        </p:nvSpPr>
        <p:spPr>
          <a:xfrm>
            <a:off x="4791456" y="2322576"/>
            <a:ext cx="3968496" cy="256032"/>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 Realtime Channel Filters</a:t>
            </a:r>
            <a:endParaRPr lang="en-US" sz="1150" dirty="0"/>
          </a:p>
        </p:txBody>
      </p:sp>
      <p:sp>
        <p:nvSpPr>
          <p:cNvPr id="25" name="Text 20"/>
          <p:cNvSpPr/>
          <p:nvPr/>
        </p:nvSpPr>
        <p:spPr>
          <a:xfrm>
            <a:off x="4791456" y="2578608"/>
            <a:ext cx="3968496" cy="45720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Supabase channels use filter: 'callee_id=eq.{uid}' so only relevant rows trigger client events. No over-fetching.</a:t>
            </a:r>
            <a:endParaRPr lang="en-US" sz="1000" dirty="0"/>
          </a:p>
        </p:txBody>
      </p:sp>
      <p:sp>
        <p:nvSpPr>
          <p:cNvPr id="26" name="Text 21"/>
          <p:cNvSpPr/>
          <p:nvPr/>
        </p:nvSpPr>
        <p:spPr>
          <a:xfrm>
            <a:off x="4791456" y="3218688"/>
            <a:ext cx="3968496" cy="256032"/>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 Multer Memory Buffer</a:t>
            </a:r>
            <a:endParaRPr lang="en-US" sz="1150" dirty="0"/>
          </a:p>
        </p:txBody>
      </p:sp>
      <p:sp>
        <p:nvSpPr>
          <p:cNvPr id="27" name="Text 22"/>
          <p:cNvSpPr/>
          <p:nvPr/>
        </p:nvSpPr>
        <p:spPr>
          <a:xfrm>
            <a:off x="4791456" y="3474720"/>
            <a:ext cx="3968496" cy="45720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Files stay in memory (never hit disk I/O). Buffer piped directly to Supabase Storage upload stream.</a:t>
            </a:r>
            <a:endParaRPr lang="en-US" sz="1000" dirty="0"/>
          </a:p>
        </p:txBody>
      </p:sp>
      <p:sp>
        <p:nvSpPr>
          <p:cNvPr id="28" name="Text 23"/>
          <p:cNvSpPr/>
          <p:nvPr/>
        </p:nvSpPr>
        <p:spPr>
          <a:xfrm>
            <a:off x="4791456" y="4114800"/>
            <a:ext cx="3968496" cy="256032"/>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 Firebase Verify Cache</a:t>
            </a:r>
            <a:endParaRPr lang="en-US" sz="1150" dirty="0"/>
          </a:p>
        </p:txBody>
      </p:sp>
      <p:sp>
        <p:nvSpPr>
          <p:cNvPr id="29" name="Text 24"/>
          <p:cNvSpPr/>
          <p:nvPr/>
        </p:nvSpPr>
        <p:spPr>
          <a:xfrm>
            <a:off x="4791456" y="4370832"/>
            <a:ext cx="3968496" cy="45720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Firebase Admin SDK caches Google's public keys (5-min TTL). verifyIdToken() is a local crypto operation after cache warm-up.</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Version Evolution — v1 → v2 Overhaul</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What changed, what was removed, and why — with technical reasoning</a:t>
            </a:r>
            <a:endParaRPr lang="en-US" sz="1300" dirty="0"/>
          </a:p>
        </p:txBody>
      </p:sp>
      <p:sp>
        <p:nvSpPr>
          <p:cNvPr id="5" name="Shape 3"/>
          <p:cNvSpPr/>
          <p:nvPr/>
        </p:nvSpPr>
        <p:spPr>
          <a:xfrm>
            <a:off x="256032" y="987552"/>
            <a:ext cx="3977640" cy="4041648"/>
          </a:xfrm>
          <a:prstGeom prst="rect">
            <a:avLst/>
          </a:prstGeom>
          <a:solidFill>
            <a:srgbClr val="161B22"/>
          </a:solidFill>
          <a:ln w="10160">
            <a:solidFill>
              <a:srgbClr val="8B949E"/>
            </a:solidFill>
            <a:prstDash val="solid"/>
          </a:ln>
          <a:effectLst>
            <a:outerShdw blurRad="101600" dist="25400" dir="8100000" algn="bl" rotWithShape="0">
              <a:srgbClr val="000000">
                <a:alpha val="28000"/>
              </a:srgbClr>
            </a:outerShdw>
          </a:effectLst>
        </p:spPr>
        <p:txBody>
          <a:bodyPr/>
          <a:lstStyle/>
          <a:p>
            <a:endParaRPr lang="en-US"/>
          </a:p>
        </p:txBody>
      </p:sp>
      <p:sp>
        <p:nvSpPr>
          <p:cNvPr id="6" name="Shape 4"/>
          <p:cNvSpPr/>
          <p:nvPr/>
        </p:nvSpPr>
        <p:spPr>
          <a:xfrm>
            <a:off x="256032" y="987552"/>
            <a:ext cx="3977640" cy="310896"/>
          </a:xfrm>
          <a:prstGeom prst="rect">
            <a:avLst/>
          </a:prstGeom>
          <a:solidFill>
            <a:srgbClr val="8B949E"/>
          </a:solidFill>
          <a:ln w="12700">
            <a:solidFill>
              <a:srgbClr val="8B949E"/>
            </a:solidFill>
            <a:prstDash val="solid"/>
          </a:ln>
        </p:spPr>
        <p:txBody>
          <a:bodyPr/>
          <a:lstStyle/>
          <a:p>
            <a:endParaRPr lang="en-US"/>
          </a:p>
        </p:txBody>
      </p:sp>
      <p:sp>
        <p:nvSpPr>
          <p:cNvPr id="7" name="Text 5"/>
          <p:cNvSpPr/>
          <p:nvPr/>
        </p:nvSpPr>
        <p:spPr>
          <a:xfrm>
            <a:off x="384048" y="996696"/>
            <a:ext cx="3657600" cy="274320"/>
          </a:xfrm>
          <a:prstGeom prst="rect">
            <a:avLst/>
          </a:prstGeom>
          <a:noFill/>
          <a:ln/>
        </p:spPr>
        <p:txBody>
          <a:bodyPr wrap="square" lIns="0" tIns="0" rIns="0" bIns="0" rtlCol="0" anchor="ctr"/>
          <a:lstStyle/>
          <a:p>
            <a:pPr marL="0" indent="0">
              <a:buNone/>
            </a:pPr>
            <a:r>
              <a:rPr lang="en-US" sz="1300" b="1" dirty="0">
                <a:solidFill>
                  <a:srgbClr val="0D1117"/>
                </a:solidFill>
                <a:latin typeface="Calibri" pitchFamily="34" charset="0"/>
                <a:ea typeface="Calibri" pitchFamily="34" charset="-122"/>
                <a:cs typeface="Calibri" pitchFamily="34" charset="-120"/>
              </a:rPr>
              <a:t>v1  ·  Initial Release</a:t>
            </a:r>
            <a:endParaRPr lang="en-US" sz="1300" dirty="0"/>
          </a:p>
        </p:txBody>
      </p:sp>
      <p:sp>
        <p:nvSpPr>
          <p:cNvPr id="8" name="Text 6"/>
          <p:cNvSpPr/>
          <p:nvPr/>
        </p:nvSpPr>
        <p:spPr>
          <a:xfrm>
            <a:off x="384048" y="1389888"/>
            <a:ext cx="3657600" cy="201168"/>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  Phone OTP Auth</a:t>
            </a:r>
            <a:endParaRPr lang="en-US" sz="1100" dirty="0"/>
          </a:p>
        </p:txBody>
      </p:sp>
      <p:sp>
        <p:nvSpPr>
          <p:cNvPr id="9" name="Text 7"/>
          <p:cNvSpPr/>
          <p:nvPr/>
        </p:nvSpPr>
        <p:spPr>
          <a:xfrm>
            <a:off x="384048" y="1591056"/>
            <a:ext cx="3657600" cy="182880"/>
          </a:xfrm>
          <a:prstGeom prst="rect">
            <a:avLst/>
          </a:prstGeom>
          <a:noFill/>
          <a:ln/>
        </p:spPr>
        <p:txBody>
          <a:bodyPr wrap="square" lIns="0" tIns="0" rIns="0" bIns="0" rtlCol="0" anchor="ctr"/>
          <a:lstStyle/>
          <a:p>
            <a:pPr marL="0" indent="0">
              <a:buNone/>
            </a:pPr>
            <a:r>
              <a:rPr lang="en-US" sz="950" dirty="0">
                <a:solidFill>
                  <a:srgbClr val="606060"/>
                </a:solidFill>
                <a:latin typeface="Calibri" pitchFamily="34" charset="0"/>
                <a:ea typeface="Calibri" pitchFamily="34" charset="-122"/>
                <a:cs typeface="Calibri" pitchFamily="34" charset="-120"/>
              </a:rPr>
              <a:t>Firebase Phone Auth via SMS OTP. Removed because OTP delivery is unreliable and adds per-message SMS cost.</a:t>
            </a:r>
            <a:endParaRPr lang="en-US" sz="950" dirty="0"/>
          </a:p>
        </p:txBody>
      </p:sp>
      <p:sp>
        <p:nvSpPr>
          <p:cNvPr id="10" name="Text 8"/>
          <p:cNvSpPr/>
          <p:nvPr/>
        </p:nvSpPr>
        <p:spPr>
          <a:xfrm>
            <a:off x="384048" y="1792224"/>
            <a:ext cx="3657600" cy="201168"/>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  phone as Primary Key</a:t>
            </a:r>
            <a:endParaRPr lang="en-US" sz="1100" dirty="0"/>
          </a:p>
        </p:txBody>
      </p:sp>
      <p:sp>
        <p:nvSpPr>
          <p:cNvPr id="11" name="Text 9"/>
          <p:cNvSpPr/>
          <p:nvPr/>
        </p:nvSpPr>
        <p:spPr>
          <a:xfrm>
            <a:off x="384048" y="1993392"/>
            <a:ext cx="3657600" cy="182880"/>
          </a:xfrm>
          <a:prstGeom prst="rect">
            <a:avLst/>
          </a:prstGeom>
          <a:noFill/>
          <a:ln/>
        </p:spPr>
        <p:txBody>
          <a:bodyPr wrap="square" lIns="0" tIns="0" rIns="0" bIns="0" rtlCol="0" anchor="ctr"/>
          <a:lstStyle/>
          <a:p>
            <a:pPr marL="0" indent="0">
              <a:buNone/>
            </a:pPr>
            <a:r>
              <a:rPr lang="en-US" sz="950" dirty="0">
                <a:solidFill>
                  <a:srgbClr val="606060"/>
                </a:solidFill>
                <a:latin typeface="Calibri" pitchFamily="34" charset="0"/>
                <a:ea typeface="Calibri" pitchFamily="34" charset="-122"/>
                <a:cs typeface="Calibri" pitchFamily="34" charset="-120"/>
              </a:rPr>
              <a:t>profiles.phone was NOT NULL and the PK. Limited to phone users. No email or username identity.</a:t>
            </a:r>
            <a:endParaRPr lang="en-US" sz="950" dirty="0"/>
          </a:p>
        </p:txBody>
      </p:sp>
      <p:sp>
        <p:nvSpPr>
          <p:cNvPr id="12" name="Text 10"/>
          <p:cNvSpPr/>
          <p:nvPr/>
        </p:nvSpPr>
        <p:spPr>
          <a:xfrm>
            <a:off x="384048" y="2194560"/>
            <a:ext cx="3657600" cy="201168"/>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  1-on-1 chats only</a:t>
            </a:r>
            <a:endParaRPr lang="en-US" sz="1100" dirty="0"/>
          </a:p>
        </p:txBody>
      </p:sp>
      <p:sp>
        <p:nvSpPr>
          <p:cNvPr id="13" name="Text 11"/>
          <p:cNvSpPr/>
          <p:nvPr/>
        </p:nvSpPr>
        <p:spPr>
          <a:xfrm>
            <a:off x="384048" y="2395728"/>
            <a:ext cx="3657600" cy="182880"/>
          </a:xfrm>
          <a:prstGeom prst="rect">
            <a:avLst/>
          </a:prstGeom>
          <a:noFill/>
          <a:ln/>
        </p:spPr>
        <p:txBody>
          <a:bodyPr wrap="square" lIns="0" tIns="0" rIns="0" bIns="0" rtlCol="0" anchor="ctr"/>
          <a:lstStyle/>
          <a:p>
            <a:pPr marL="0" indent="0">
              <a:buNone/>
            </a:pPr>
            <a:r>
              <a:rPr lang="en-US" sz="950" dirty="0">
                <a:solidFill>
                  <a:srgbClr val="606060"/>
                </a:solidFill>
                <a:latin typeface="Calibri" pitchFamily="34" charset="0"/>
                <a:ea typeface="Calibri" pitchFamily="34" charset="-122"/>
                <a:cs typeface="Calibri" pitchFamily="34" charset="-120"/>
              </a:rPr>
              <a:t>conversations table had no is_group column. All chats were strictly two-participant.</a:t>
            </a:r>
            <a:endParaRPr lang="en-US" sz="950" dirty="0"/>
          </a:p>
        </p:txBody>
      </p:sp>
      <p:sp>
        <p:nvSpPr>
          <p:cNvPr id="14" name="Text 12"/>
          <p:cNvSpPr/>
          <p:nvPr/>
        </p:nvSpPr>
        <p:spPr>
          <a:xfrm>
            <a:off x="384048" y="2596896"/>
            <a:ext cx="3657600" cy="201168"/>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  is_read boolean</a:t>
            </a:r>
            <a:endParaRPr lang="en-US" sz="1100" dirty="0"/>
          </a:p>
        </p:txBody>
      </p:sp>
      <p:sp>
        <p:nvSpPr>
          <p:cNvPr id="15" name="Text 13"/>
          <p:cNvSpPr/>
          <p:nvPr/>
        </p:nvSpPr>
        <p:spPr>
          <a:xfrm>
            <a:off x="384048" y="2798064"/>
            <a:ext cx="3657600" cy="182880"/>
          </a:xfrm>
          <a:prstGeom prst="rect">
            <a:avLst/>
          </a:prstGeom>
          <a:noFill/>
          <a:ln/>
        </p:spPr>
        <p:txBody>
          <a:bodyPr wrap="square" lIns="0" tIns="0" rIns="0" bIns="0" rtlCol="0" anchor="ctr"/>
          <a:lstStyle/>
          <a:p>
            <a:pPr marL="0" indent="0">
              <a:buNone/>
            </a:pPr>
            <a:r>
              <a:rPr lang="en-US" sz="950" dirty="0">
                <a:solidFill>
                  <a:srgbClr val="606060"/>
                </a:solidFill>
                <a:latin typeface="Calibri" pitchFamily="34" charset="0"/>
                <a:ea typeface="Calibri" pitchFamily="34" charset="-122"/>
                <a:cs typeface="Calibri" pitchFamily="34" charset="-120"/>
              </a:rPr>
              <a:t>Simple boolean read flag. Couldn't support multi-participant read tracking.</a:t>
            </a:r>
            <a:endParaRPr lang="en-US" sz="950" dirty="0"/>
          </a:p>
        </p:txBody>
      </p:sp>
      <p:sp>
        <p:nvSpPr>
          <p:cNvPr id="16" name="Text 14"/>
          <p:cNvSpPr/>
          <p:nvPr/>
        </p:nvSpPr>
        <p:spPr>
          <a:xfrm>
            <a:off x="384048" y="2999232"/>
            <a:ext cx="3657600" cy="201168"/>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  No media sharing</a:t>
            </a:r>
            <a:endParaRPr lang="en-US" sz="1100" dirty="0"/>
          </a:p>
        </p:txBody>
      </p:sp>
      <p:sp>
        <p:nvSpPr>
          <p:cNvPr id="17" name="Text 15"/>
          <p:cNvSpPr/>
          <p:nvPr/>
        </p:nvSpPr>
        <p:spPr>
          <a:xfrm>
            <a:off x="384048" y="3200400"/>
            <a:ext cx="3657600" cy="182880"/>
          </a:xfrm>
          <a:prstGeom prst="rect">
            <a:avLst/>
          </a:prstGeom>
          <a:noFill/>
          <a:ln/>
        </p:spPr>
        <p:txBody>
          <a:bodyPr wrap="square" lIns="0" tIns="0" rIns="0" bIns="0" rtlCol="0" anchor="ctr"/>
          <a:lstStyle/>
          <a:p>
            <a:pPr marL="0" indent="0">
              <a:buNone/>
            </a:pPr>
            <a:r>
              <a:rPr lang="en-US" sz="950" dirty="0">
                <a:solidFill>
                  <a:srgbClr val="606060"/>
                </a:solidFill>
                <a:latin typeface="Calibri" pitchFamily="34" charset="0"/>
                <a:ea typeface="Calibri" pitchFamily="34" charset="-122"/>
                <a:cs typeface="Calibri" pitchFamily="34" charset="-120"/>
              </a:rPr>
              <a:t>No Multer, no Supabase Storage, no image_url column. Text only.</a:t>
            </a:r>
            <a:endParaRPr lang="en-US" sz="950" dirty="0"/>
          </a:p>
        </p:txBody>
      </p:sp>
      <p:sp>
        <p:nvSpPr>
          <p:cNvPr id="18" name="Text 16"/>
          <p:cNvSpPr/>
          <p:nvPr/>
        </p:nvSpPr>
        <p:spPr>
          <a:xfrm>
            <a:off x="384048" y="3401568"/>
            <a:ext cx="3657600" cy="201168"/>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  No call history</a:t>
            </a:r>
            <a:endParaRPr lang="en-US" sz="1100" dirty="0"/>
          </a:p>
        </p:txBody>
      </p:sp>
      <p:sp>
        <p:nvSpPr>
          <p:cNvPr id="19" name="Text 17"/>
          <p:cNvSpPr/>
          <p:nvPr/>
        </p:nvSpPr>
        <p:spPr>
          <a:xfrm>
            <a:off x="384048" y="3602736"/>
            <a:ext cx="3657600" cy="182880"/>
          </a:xfrm>
          <a:prstGeom prst="rect">
            <a:avLst/>
          </a:prstGeom>
          <a:noFill/>
          <a:ln/>
        </p:spPr>
        <p:txBody>
          <a:bodyPr wrap="square" lIns="0" tIns="0" rIns="0" bIns="0" rtlCol="0" anchor="ctr"/>
          <a:lstStyle/>
          <a:p>
            <a:pPr marL="0" indent="0">
              <a:buNone/>
            </a:pPr>
            <a:r>
              <a:rPr lang="en-US" sz="950" dirty="0">
                <a:solidFill>
                  <a:srgbClr val="606060"/>
                </a:solidFill>
                <a:latin typeface="Calibri" pitchFamily="34" charset="0"/>
                <a:ea typeface="Calibri" pitchFamily="34" charset="-122"/>
                <a:cs typeface="Calibri" pitchFamily="34" charset="-120"/>
              </a:rPr>
              <a:t>call_signals existed but no call_history table. No duration or status tracking.</a:t>
            </a:r>
            <a:endParaRPr lang="en-US" sz="950" dirty="0"/>
          </a:p>
        </p:txBody>
      </p:sp>
      <p:sp>
        <p:nvSpPr>
          <p:cNvPr id="20" name="Text 18"/>
          <p:cNvSpPr/>
          <p:nvPr/>
        </p:nvSpPr>
        <p:spPr>
          <a:xfrm>
            <a:off x="384048" y="3803904"/>
            <a:ext cx="3657600" cy="201168"/>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  No status stories</a:t>
            </a:r>
            <a:endParaRPr lang="en-US" sz="1100" dirty="0"/>
          </a:p>
        </p:txBody>
      </p:sp>
      <p:sp>
        <p:nvSpPr>
          <p:cNvPr id="21" name="Text 19"/>
          <p:cNvSpPr/>
          <p:nvPr/>
        </p:nvSpPr>
        <p:spPr>
          <a:xfrm>
            <a:off x="384048" y="4005072"/>
            <a:ext cx="3657600" cy="182880"/>
          </a:xfrm>
          <a:prstGeom prst="rect">
            <a:avLst/>
          </a:prstGeom>
          <a:noFill/>
          <a:ln/>
        </p:spPr>
        <p:txBody>
          <a:bodyPr wrap="square" lIns="0" tIns="0" rIns="0" bIns="0" rtlCol="0" anchor="ctr"/>
          <a:lstStyle/>
          <a:p>
            <a:pPr marL="0" indent="0">
              <a:buNone/>
            </a:pPr>
            <a:r>
              <a:rPr lang="en-US" sz="950" dirty="0">
                <a:solidFill>
                  <a:srgbClr val="606060"/>
                </a:solidFill>
                <a:latin typeface="Calibri" pitchFamily="34" charset="0"/>
                <a:ea typeface="Calibri" pitchFamily="34" charset="-122"/>
                <a:cs typeface="Calibri" pitchFamily="34" charset="-120"/>
              </a:rPr>
              <a:t>No status_stories table, no 24-hour expiry logic, no viewer tracking.</a:t>
            </a:r>
            <a:endParaRPr lang="en-US" sz="950" dirty="0"/>
          </a:p>
        </p:txBody>
      </p:sp>
      <p:sp>
        <p:nvSpPr>
          <p:cNvPr id="22" name="Shape 20"/>
          <p:cNvSpPr/>
          <p:nvPr/>
        </p:nvSpPr>
        <p:spPr>
          <a:xfrm>
            <a:off x="4315968" y="2816352"/>
            <a:ext cx="530352" cy="0"/>
          </a:xfrm>
          <a:prstGeom prst="line">
            <a:avLst/>
          </a:prstGeom>
          <a:noFill/>
          <a:ln w="31750">
            <a:solidFill>
              <a:srgbClr val="6366F1"/>
            </a:solidFill>
            <a:prstDash val="solid"/>
            <a:tailEnd type="arrow"/>
          </a:ln>
        </p:spPr>
        <p:txBody>
          <a:bodyPr/>
          <a:lstStyle/>
          <a:p>
            <a:endParaRPr lang="en-US"/>
          </a:p>
        </p:txBody>
      </p:sp>
      <p:sp>
        <p:nvSpPr>
          <p:cNvPr id="23" name="Text 21"/>
          <p:cNvSpPr/>
          <p:nvPr/>
        </p:nvSpPr>
        <p:spPr>
          <a:xfrm>
            <a:off x="4242816" y="2523744"/>
            <a:ext cx="731520" cy="237744"/>
          </a:xfrm>
          <a:prstGeom prst="rect">
            <a:avLst/>
          </a:prstGeom>
          <a:noFill/>
          <a:ln/>
        </p:spPr>
        <p:txBody>
          <a:bodyPr wrap="square" rtlCol="0" anchor="ctr"/>
          <a:lstStyle/>
          <a:p>
            <a:pPr marL="0" indent="0" algn="ctr">
              <a:buNone/>
            </a:pPr>
            <a:r>
              <a:rPr lang="en-US" sz="900" b="1" dirty="0">
                <a:solidFill>
                  <a:srgbClr val="6366F1"/>
                </a:solidFill>
                <a:latin typeface="Calibri" pitchFamily="34" charset="0"/>
                <a:ea typeface="Calibri" pitchFamily="34" charset="-122"/>
                <a:cs typeface="Calibri" pitchFamily="34" charset="-120"/>
              </a:rPr>
              <a:t>UPGRADE</a:t>
            </a:r>
            <a:endParaRPr lang="en-US" sz="900" dirty="0"/>
          </a:p>
        </p:txBody>
      </p:sp>
      <p:sp>
        <p:nvSpPr>
          <p:cNvPr id="24" name="Shape 22"/>
          <p:cNvSpPr/>
          <p:nvPr/>
        </p:nvSpPr>
        <p:spPr>
          <a:xfrm>
            <a:off x="4910328" y="987552"/>
            <a:ext cx="3977640" cy="4041648"/>
          </a:xfrm>
          <a:prstGeom prst="rect">
            <a:avLst/>
          </a:prstGeom>
          <a:solidFill>
            <a:srgbClr val="161B22"/>
          </a:solidFill>
          <a:ln w="1016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sp>
        <p:nvSpPr>
          <p:cNvPr id="25" name="Shape 23"/>
          <p:cNvSpPr/>
          <p:nvPr/>
        </p:nvSpPr>
        <p:spPr>
          <a:xfrm>
            <a:off x="4910328" y="987552"/>
            <a:ext cx="3977640" cy="310896"/>
          </a:xfrm>
          <a:prstGeom prst="rect">
            <a:avLst/>
          </a:prstGeom>
          <a:solidFill>
            <a:srgbClr val="10B981"/>
          </a:solidFill>
          <a:ln w="12700">
            <a:solidFill>
              <a:srgbClr val="10B981"/>
            </a:solidFill>
            <a:prstDash val="solid"/>
          </a:ln>
        </p:spPr>
        <p:txBody>
          <a:bodyPr/>
          <a:lstStyle/>
          <a:p>
            <a:endParaRPr lang="en-US"/>
          </a:p>
        </p:txBody>
      </p:sp>
      <p:sp>
        <p:nvSpPr>
          <p:cNvPr id="26" name="Text 24"/>
          <p:cNvSpPr/>
          <p:nvPr/>
        </p:nvSpPr>
        <p:spPr>
          <a:xfrm>
            <a:off x="5038344" y="996696"/>
            <a:ext cx="3657600" cy="274320"/>
          </a:xfrm>
          <a:prstGeom prst="rect">
            <a:avLst/>
          </a:prstGeom>
          <a:noFill/>
          <a:ln/>
        </p:spPr>
        <p:txBody>
          <a:bodyPr wrap="square" lIns="0" tIns="0" rIns="0" bIns="0" rtlCol="0" anchor="ctr"/>
          <a:lstStyle/>
          <a:p>
            <a:pPr marL="0" indent="0">
              <a:buNone/>
            </a:pPr>
            <a:r>
              <a:rPr lang="en-US" sz="1300" b="1" dirty="0">
                <a:solidFill>
                  <a:srgbClr val="0D1117"/>
                </a:solidFill>
                <a:latin typeface="Calibri" pitchFamily="34" charset="0"/>
                <a:ea typeface="Calibri" pitchFamily="34" charset="-122"/>
                <a:cs typeface="Calibri" pitchFamily="34" charset="-120"/>
              </a:rPr>
              <a:t>v2  ·  Production Overhaul</a:t>
            </a:r>
            <a:endParaRPr lang="en-US" sz="1300" dirty="0"/>
          </a:p>
        </p:txBody>
      </p:sp>
      <p:sp>
        <p:nvSpPr>
          <p:cNvPr id="27" name="Text 25"/>
          <p:cNvSpPr/>
          <p:nvPr/>
        </p:nvSpPr>
        <p:spPr>
          <a:xfrm>
            <a:off x="5038344" y="1389888"/>
            <a:ext cx="3657600" cy="201168"/>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Google OAuth (Firebase)</a:t>
            </a:r>
            <a:endParaRPr lang="en-US" sz="1100" dirty="0"/>
          </a:p>
        </p:txBody>
      </p:sp>
      <p:sp>
        <p:nvSpPr>
          <p:cNvPr id="28" name="Text 26"/>
          <p:cNvSpPr/>
          <p:nvPr/>
        </p:nvSpPr>
        <p:spPr>
          <a:xfrm>
            <a:off x="5038344" y="1591056"/>
            <a:ext cx="3657600" cy="18288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Zero SMS cost. Instant auth. Firebase ID token verified server-side with Admin SDK.</a:t>
            </a:r>
            <a:endParaRPr lang="en-US" sz="950" dirty="0"/>
          </a:p>
        </p:txBody>
      </p:sp>
      <p:sp>
        <p:nvSpPr>
          <p:cNvPr id="29" name="Text 27"/>
          <p:cNvSpPr/>
          <p:nvPr/>
        </p:nvSpPr>
        <p:spPr>
          <a:xfrm>
            <a:off x="5038344" y="1792224"/>
            <a:ext cx="3657600" cy="201168"/>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@Username + email + bio</a:t>
            </a:r>
            <a:endParaRPr lang="en-US" sz="1100" dirty="0"/>
          </a:p>
        </p:txBody>
      </p:sp>
      <p:sp>
        <p:nvSpPr>
          <p:cNvPr id="30" name="Text 28"/>
          <p:cNvSpPr/>
          <p:nvPr/>
        </p:nvSpPr>
        <p:spPr>
          <a:xfrm>
            <a:off x="5038344" y="1993392"/>
            <a:ext cx="3657600" cy="18288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Unique username system with live availability check. profiles.phone made nullable.</a:t>
            </a:r>
            <a:endParaRPr lang="en-US" sz="950" dirty="0"/>
          </a:p>
        </p:txBody>
      </p:sp>
      <p:sp>
        <p:nvSpPr>
          <p:cNvPr id="31" name="Text 29"/>
          <p:cNvSpPr/>
          <p:nvPr/>
        </p:nvSpPr>
        <p:spPr>
          <a:xfrm>
            <a:off x="5038344" y="2194560"/>
            <a:ext cx="3657600" cy="201168"/>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Group Chats</a:t>
            </a:r>
            <a:endParaRPr lang="en-US" sz="1100" dirty="0"/>
          </a:p>
        </p:txBody>
      </p:sp>
      <p:sp>
        <p:nvSpPr>
          <p:cNvPr id="32" name="Text 30"/>
          <p:cNvSpPr/>
          <p:nvPr/>
        </p:nvSpPr>
        <p:spPr>
          <a:xfrm>
            <a:off x="5038344" y="2395728"/>
            <a:ext cx="3657600" cy="18288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is_group, group_name, group_admin, participants[] added to conversations. group_members table added.</a:t>
            </a:r>
            <a:endParaRPr lang="en-US" sz="950" dirty="0"/>
          </a:p>
        </p:txBody>
      </p:sp>
      <p:sp>
        <p:nvSpPr>
          <p:cNvPr id="33" name="Text 31"/>
          <p:cNvSpPr/>
          <p:nvPr/>
        </p:nvSpPr>
        <p:spPr>
          <a:xfrm>
            <a:off x="5038344" y="2596896"/>
            <a:ext cx="3657600" cy="201168"/>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read_by UUID[]</a:t>
            </a:r>
            <a:endParaRPr lang="en-US" sz="1100" dirty="0"/>
          </a:p>
        </p:txBody>
      </p:sp>
      <p:sp>
        <p:nvSpPr>
          <p:cNvPr id="34" name="Text 32"/>
          <p:cNvSpPr/>
          <p:nvPr/>
        </p:nvSpPr>
        <p:spPr>
          <a:xfrm>
            <a:off x="5038344" y="2798064"/>
            <a:ext cx="3657600" cy="18288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Array of user IDs who've read the message. Supports multi-participant read receipts.</a:t>
            </a:r>
            <a:endParaRPr lang="en-US" sz="950" dirty="0"/>
          </a:p>
        </p:txBody>
      </p:sp>
      <p:sp>
        <p:nvSpPr>
          <p:cNvPr id="35" name="Text 33"/>
          <p:cNvSpPr/>
          <p:nvPr/>
        </p:nvSpPr>
        <p:spPr>
          <a:xfrm>
            <a:off x="5038344" y="2999232"/>
            <a:ext cx="3657600" cy="201168"/>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Image sharing</a:t>
            </a:r>
            <a:endParaRPr lang="en-US" sz="1100" dirty="0"/>
          </a:p>
        </p:txBody>
      </p:sp>
      <p:sp>
        <p:nvSpPr>
          <p:cNvPr id="36" name="Text 34"/>
          <p:cNvSpPr/>
          <p:nvPr/>
        </p:nvSpPr>
        <p:spPr>
          <a:xfrm>
            <a:off x="5038344" y="3200400"/>
            <a:ext cx="3657600" cy="18288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Multer + Supabase Storage pipeline. 3 buckets: avatars, media, statuses.</a:t>
            </a:r>
            <a:endParaRPr lang="en-US" sz="950" dirty="0"/>
          </a:p>
        </p:txBody>
      </p:sp>
      <p:sp>
        <p:nvSpPr>
          <p:cNvPr id="37" name="Text 35"/>
          <p:cNvSpPr/>
          <p:nvPr/>
        </p:nvSpPr>
        <p:spPr>
          <a:xfrm>
            <a:off x="5038344" y="3401568"/>
            <a:ext cx="3657600" cy="201168"/>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call_history table</a:t>
            </a:r>
            <a:endParaRPr lang="en-US" sz="1100" dirty="0"/>
          </a:p>
        </p:txBody>
      </p:sp>
      <p:sp>
        <p:nvSpPr>
          <p:cNvPr id="38" name="Text 36"/>
          <p:cNvSpPr/>
          <p:nvPr/>
        </p:nvSpPr>
        <p:spPr>
          <a:xfrm>
            <a:off x="5038344" y="3602736"/>
            <a:ext cx="3657600" cy="18288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caller_id, callee_id, call_type, status, duration. Both sides log via /calls/end.</a:t>
            </a:r>
            <a:endParaRPr lang="en-US" sz="950" dirty="0"/>
          </a:p>
        </p:txBody>
      </p:sp>
      <p:sp>
        <p:nvSpPr>
          <p:cNvPr id="39" name="Text 37"/>
          <p:cNvSpPr/>
          <p:nvPr/>
        </p:nvSpPr>
        <p:spPr>
          <a:xfrm>
            <a:off x="5038344" y="3803904"/>
            <a:ext cx="3657600" cy="201168"/>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status_stories table</a:t>
            </a:r>
            <a:endParaRPr lang="en-US" sz="1100" dirty="0"/>
          </a:p>
        </p:txBody>
      </p:sp>
      <p:sp>
        <p:nvSpPr>
          <p:cNvPr id="40" name="Text 38"/>
          <p:cNvSpPr/>
          <p:nvPr/>
        </p:nvSpPr>
        <p:spPr>
          <a:xfrm>
            <a:off x="5038344" y="4005072"/>
            <a:ext cx="3657600" cy="18288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24h expiry, caption, user_id FK. Realtime enabled. Auto-purge with expires_at index.</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Engineering Assessment &amp; Roadmap</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Honest strengths, real gaps found in code review, and concrete next steps</a:t>
            </a:r>
            <a:endParaRPr lang="en-US" sz="1300" dirty="0"/>
          </a:p>
        </p:txBody>
      </p:sp>
      <p:sp>
        <p:nvSpPr>
          <p:cNvPr id="5" name="Shape 3"/>
          <p:cNvSpPr/>
          <p:nvPr/>
        </p:nvSpPr>
        <p:spPr>
          <a:xfrm>
            <a:off x="256032" y="987552"/>
            <a:ext cx="2834640" cy="4041648"/>
          </a:xfrm>
          <a:prstGeom prst="rect">
            <a:avLst/>
          </a:prstGeom>
          <a:solidFill>
            <a:srgbClr val="161B22"/>
          </a:solidFill>
          <a:ln w="1016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sp>
        <p:nvSpPr>
          <p:cNvPr id="6" name="Shape 4"/>
          <p:cNvSpPr/>
          <p:nvPr/>
        </p:nvSpPr>
        <p:spPr>
          <a:xfrm>
            <a:off x="256032" y="987552"/>
            <a:ext cx="2834640" cy="329184"/>
          </a:xfrm>
          <a:prstGeom prst="rect">
            <a:avLst/>
          </a:prstGeom>
          <a:solidFill>
            <a:srgbClr val="10B981"/>
          </a:solidFill>
          <a:ln w="12700">
            <a:solidFill>
              <a:srgbClr val="10B981"/>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347472" y="1014984"/>
            <a:ext cx="274320" cy="274320"/>
          </a:xfrm>
          <a:prstGeom prst="rect">
            <a:avLst/>
          </a:prstGeom>
        </p:spPr>
      </p:pic>
      <p:sp>
        <p:nvSpPr>
          <p:cNvPr id="8" name="Text 5"/>
          <p:cNvSpPr/>
          <p:nvPr/>
        </p:nvSpPr>
        <p:spPr>
          <a:xfrm>
            <a:off x="676656" y="1005840"/>
            <a:ext cx="2304288" cy="292608"/>
          </a:xfrm>
          <a:prstGeom prst="rect">
            <a:avLst/>
          </a:prstGeom>
          <a:noFill/>
          <a:ln/>
        </p:spPr>
        <p:txBody>
          <a:bodyPr wrap="square" lIns="0" tIns="0" rIns="0" bIns="0" rtlCol="0" anchor="ctr"/>
          <a:lstStyle/>
          <a:p>
            <a:pPr marL="0" indent="0">
              <a:buNone/>
            </a:pPr>
            <a:r>
              <a:rPr lang="en-US" sz="1250" b="1" dirty="0">
                <a:solidFill>
                  <a:srgbClr val="0D1117"/>
                </a:solidFill>
                <a:latin typeface="Calibri" pitchFamily="34" charset="0"/>
                <a:ea typeface="Calibri" pitchFamily="34" charset="-122"/>
                <a:cs typeface="Calibri" pitchFamily="34" charset="-120"/>
              </a:rPr>
              <a:t>✦  Strengths</a:t>
            </a:r>
            <a:endParaRPr lang="en-US" sz="1250" dirty="0"/>
          </a:p>
        </p:txBody>
      </p:sp>
      <p:sp>
        <p:nvSpPr>
          <p:cNvPr id="9" name="Text 6"/>
          <p:cNvSpPr/>
          <p:nvPr/>
        </p:nvSpPr>
        <p:spPr>
          <a:xfrm>
            <a:off x="420624" y="1408176"/>
            <a:ext cx="2542032" cy="338328"/>
          </a:xfrm>
          <a:prstGeom prst="rect">
            <a:avLst/>
          </a:prstGeom>
          <a:noFill/>
          <a:ln/>
        </p:spPr>
        <p:txBody>
          <a:bodyPr wrap="square" lIns="0" tIns="0" rIns="0" bIns="0" rtlCol="0" anchor="ctr"/>
          <a:lstStyle/>
          <a:p>
            <a:pPr marL="0" indent="0">
              <a:buNone/>
            </a:pPr>
            <a:r>
              <a:rPr lang="en-US" sz="980" dirty="0">
                <a:solidFill>
                  <a:srgbClr val="10B981"/>
                </a:solidFill>
                <a:latin typeface="Calibri" pitchFamily="34" charset="0"/>
                <a:ea typeface="Calibri" pitchFamily="34" charset="-122"/>
                <a:cs typeface="Calibri" pitchFamily="34" charset="-120"/>
              </a:rPr>
              <a:t>✓ Feature-based, scalable folder structure</a:t>
            </a:r>
            <a:endParaRPr lang="en-US" sz="980" dirty="0"/>
          </a:p>
        </p:txBody>
      </p:sp>
      <p:sp>
        <p:nvSpPr>
          <p:cNvPr id="10" name="Text 7"/>
          <p:cNvSpPr/>
          <p:nvPr/>
        </p:nvSpPr>
        <p:spPr>
          <a:xfrm>
            <a:off x="420624" y="1766621"/>
            <a:ext cx="2542032" cy="338328"/>
          </a:xfrm>
          <a:prstGeom prst="rect">
            <a:avLst/>
          </a:prstGeom>
          <a:noFill/>
          <a:ln/>
        </p:spPr>
        <p:txBody>
          <a:bodyPr wrap="square" lIns="0" tIns="0" rIns="0" bIns="0" rtlCol="0" anchor="ctr"/>
          <a:lstStyle/>
          <a:p>
            <a:pPr marL="0" indent="0">
              <a:buNone/>
            </a:pPr>
            <a:r>
              <a:rPr lang="en-US" sz="980" dirty="0">
                <a:solidFill>
                  <a:srgbClr val="10B981"/>
                </a:solidFill>
                <a:latin typeface="Calibri" pitchFamily="34" charset="0"/>
                <a:ea typeface="Calibri" pitchFamily="34" charset="-122"/>
                <a:cs typeface="Calibri" pitchFamily="34" charset="-120"/>
              </a:rPr>
              <a:t>✓ JWT auth with zero client trust</a:t>
            </a:r>
            <a:endParaRPr lang="en-US" sz="980" dirty="0"/>
          </a:p>
        </p:txBody>
      </p:sp>
      <p:sp>
        <p:nvSpPr>
          <p:cNvPr id="11" name="Text 8"/>
          <p:cNvSpPr/>
          <p:nvPr/>
        </p:nvSpPr>
        <p:spPr>
          <a:xfrm>
            <a:off x="420624" y="2125066"/>
            <a:ext cx="2542032" cy="338328"/>
          </a:xfrm>
          <a:prstGeom prst="rect">
            <a:avLst/>
          </a:prstGeom>
          <a:noFill/>
          <a:ln/>
        </p:spPr>
        <p:txBody>
          <a:bodyPr wrap="square" lIns="0" tIns="0" rIns="0" bIns="0" rtlCol="0" anchor="ctr"/>
          <a:lstStyle/>
          <a:p>
            <a:pPr marL="0" indent="0">
              <a:buNone/>
            </a:pPr>
            <a:r>
              <a:rPr lang="en-US" sz="980" dirty="0">
                <a:solidFill>
                  <a:srgbClr val="10B981"/>
                </a:solidFill>
                <a:latin typeface="Calibri" pitchFamily="34" charset="0"/>
                <a:ea typeface="Calibri" pitchFamily="34" charset="-122"/>
                <a:cs typeface="Calibri" pitchFamily="34" charset="-120"/>
              </a:rPr>
              <a:t>✓ RLS on all 8 database tables</a:t>
            </a:r>
            <a:endParaRPr lang="en-US" sz="980" dirty="0"/>
          </a:p>
        </p:txBody>
      </p:sp>
      <p:sp>
        <p:nvSpPr>
          <p:cNvPr id="12" name="Text 9"/>
          <p:cNvSpPr/>
          <p:nvPr/>
        </p:nvSpPr>
        <p:spPr>
          <a:xfrm>
            <a:off x="420624" y="2483510"/>
            <a:ext cx="2542032" cy="338328"/>
          </a:xfrm>
          <a:prstGeom prst="rect">
            <a:avLst/>
          </a:prstGeom>
          <a:noFill/>
          <a:ln/>
        </p:spPr>
        <p:txBody>
          <a:bodyPr wrap="square" lIns="0" tIns="0" rIns="0" bIns="0" rtlCol="0" anchor="ctr"/>
          <a:lstStyle/>
          <a:p>
            <a:pPr marL="0" indent="0">
              <a:buNone/>
            </a:pPr>
            <a:r>
              <a:rPr lang="en-US" sz="980" dirty="0">
                <a:solidFill>
                  <a:srgbClr val="10B981"/>
                </a:solidFill>
                <a:latin typeface="Calibri" pitchFamily="34" charset="0"/>
                <a:ea typeface="Calibri" pitchFamily="34" charset="-122"/>
                <a:cs typeface="Calibri" pitchFamily="34" charset="-120"/>
              </a:rPr>
              <a:t>✓ WebRTC P2P — no media server cost</a:t>
            </a:r>
            <a:endParaRPr lang="en-US" sz="980" dirty="0"/>
          </a:p>
        </p:txBody>
      </p:sp>
      <p:sp>
        <p:nvSpPr>
          <p:cNvPr id="13" name="Text 10"/>
          <p:cNvSpPr/>
          <p:nvPr/>
        </p:nvSpPr>
        <p:spPr>
          <a:xfrm>
            <a:off x="420624" y="2841955"/>
            <a:ext cx="2542032" cy="338328"/>
          </a:xfrm>
          <a:prstGeom prst="rect">
            <a:avLst/>
          </a:prstGeom>
          <a:noFill/>
          <a:ln/>
        </p:spPr>
        <p:txBody>
          <a:bodyPr wrap="square" lIns="0" tIns="0" rIns="0" bIns="0" rtlCol="0" anchor="ctr"/>
          <a:lstStyle/>
          <a:p>
            <a:pPr marL="0" indent="0">
              <a:buNone/>
            </a:pPr>
            <a:r>
              <a:rPr lang="en-US" sz="980" dirty="0">
                <a:solidFill>
                  <a:srgbClr val="10B981"/>
                </a:solidFill>
                <a:latin typeface="Calibri" pitchFamily="34" charset="0"/>
                <a:ea typeface="Calibri" pitchFamily="34" charset="-122"/>
                <a:cs typeface="Calibri" pitchFamily="34" charset="-120"/>
              </a:rPr>
              <a:t>✓ Additive, non-breaking SQL migrations</a:t>
            </a:r>
            <a:endParaRPr lang="en-US" sz="980" dirty="0"/>
          </a:p>
        </p:txBody>
      </p:sp>
      <p:sp>
        <p:nvSpPr>
          <p:cNvPr id="14" name="Text 11"/>
          <p:cNvSpPr/>
          <p:nvPr/>
        </p:nvSpPr>
        <p:spPr>
          <a:xfrm>
            <a:off x="420624" y="3200400"/>
            <a:ext cx="2542032" cy="338328"/>
          </a:xfrm>
          <a:prstGeom prst="rect">
            <a:avLst/>
          </a:prstGeom>
          <a:noFill/>
          <a:ln/>
        </p:spPr>
        <p:txBody>
          <a:bodyPr wrap="square" lIns="0" tIns="0" rIns="0" bIns="0" rtlCol="0" anchor="ctr"/>
          <a:lstStyle/>
          <a:p>
            <a:pPr marL="0" indent="0">
              <a:buNone/>
            </a:pPr>
            <a:r>
              <a:rPr lang="en-US" sz="980" dirty="0">
                <a:solidFill>
                  <a:srgbClr val="10B981"/>
                </a:solidFill>
                <a:latin typeface="Calibri" pitchFamily="34" charset="0"/>
                <a:ea typeface="Calibri" pitchFamily="34" charset="-122"/>
                <a:cs typeface="Calibri" pitchFamily="34" charset="-120"/>
              </a:rPr>
              <a:t>✓ Context API well-scoped (Auth + Call)</a:t>
            </a:r>
            <a:endParaRPr lang="en-US" sz="980" dirty="0"/>
          </a:p>
        </p:txBody>
      </p:sp>
      <p:sp>
        <p:nvSpPr>
          <p:cNvPr id="15" name="Text 12"/>
          <p:cNvSpPr/>
          <p:nvPr/>
        </p:nvSpPr>
        <p:spPr>
          <a:xfrm>
            <a:off x="420624" y="3558845"/>
            <a:ext cx="2542032" cy="338328"/>
          </a:xfrm>
          <a:prstGeom prst="rect">
            <a:avLst/>
          </a:prstGeom>
          <a:noFill/>
          <a:ln/>
        </p:spPr>
        <p:txBody>
          <a:bodyPr wrap="square" lIns="0" tIns="0" rIns="0" bIns="0" rtlCol="0" anchor="ctr"/>
          <a:lstStyle/>
          <a:p>
            <a:pPr marL="0" indent="0">
              <a:buNone/>
            </a:pPr>
            <a:r>
              <a:rPr lang="en-US" sz="980" dirty="0">
                <a:solidFill>
                  <a:srgbClr val="10B981"/>
                </a:solidFill>
                <a:latin typeface="Calibri" pitchFamily="34" charset="0"/>
                <a:ea typeface="Calibri" pitchFamily="34" charset="-122"/>
                <a:cs typeface="Calibri" pitchFamily="34" charset="-120"/>
              </a:rPr>
              <a:t>✓ Custom hooks decouple RT logic cleanly</a:t>
            </a:r>
            <a:endParaRPr lang="en-US" sz="980" dirty="0"/>
          </a:p>
        </p:txBody>
      </p:sp>
      <p:sp>
        <p:nvSpPr>
          <p:cNvPr id="16" name="Text 13"/>
          <p:cNvSpPr/>
          <p:nvPr/>
        </p:nvSpPr>
        <p:spPr>
          <a:xfrm>
            <a:off x="420624" y="3917290"/>
            <a:ext cx="2542032" cy="338328"/>
          </a:xfrm>
          <a:prstGeom prst="rect">
            <a:avLst/>
          </a:prstGeom>
          <a:noFill/>
          <a:ln/>
        </p:spPr>
        <p:txBody>
          <a:bodyPr wrap="square" lIns="0" tIns="0" rIns="0" bIns="0" rtlCol="0" anchor="ctr"/>
          <a:lstStyle/>
          <a:p>
            <a:pPr marL="0" indent="0">
              <a:buNone/>
            </a:pPr>
            <a:r>
              <a:rPr lang="en-US" sz="980" dirty="0">
                <a:solidFill>
                  <a:srgbClr val="10B981"/>
                </a:solidFill>
                <a:latin typeface="Calibri" pitchFamily="34" charset="0"/>
                <a:ea typeface="Calibri" pitchFamily="34" charset="-122"/>
                <a:cs typeface="Calibri" pitchFamily="34" charset="-120"/>
              </a:rPr>
              <a:t>✓ Multer→Storage pipeline: no disk I/O</a:t>
            </a:r>
            <a:endParaRPr lang="en-US" sz="980" dirty="0"/>
          </a:p>
        </p:txBody>
      </p:sp>
      <p:sp>
        <p:nvSpPr>
          <p:cNvPr id="17" name="Text 14"/>
          <p:cNvSpPr/>
          <p:nvPr/>
        </p:nvSpPr>
        <p:spPr>
          <a:xfrm>
            <a:off x="420624" y="4275734"/>
            <a:ext cx="2542032" cy="338328"/>
          </a:xfrm>
          <a:prstGeom prst="rect">
            <a:avLst/>
          </a:prstGeom>
          <a:noFill/>
          <a:ln/>
        </p:spPr>
        <p:txBody>
          <a:bodyPr wrap="square" lIns="0" tIns="0" rIns="0" bIns="0" rtlCol="0" anchor="ctr"/>
          <a:lstStyle/>
          <a:p>
            <a:pPr marL="0" indent="0">
              <a:buNone/>
            </a:pPr>
            <a:r>
              <a:rPr lang="en-US" sz="980" dirty="0">
                <a:solidFill>
                  <a:srgbClr val="10B981"/>
                </a:solidFill>
                <a:latin typeface="Calibri" pitchFamily="34" charset="0"/>
                <a:ea typeface="Calibri" pitchFamily="34" charset="-122"/>
                <a:cs typeface="Calibri" pitchFamily="34" charset="-120"/>
              </a:rPr>
              <a:t>✓ Realtime channel filters (not broadcast-all)</a:t>
            </a:r>
            <a:endParaRPr lang="en-US" sz="980" dirty="0"/>
          </a:p>
        </p:txBody>
      </p:sp>
      <p:sp>
        <p:nvSpPr>
          <p:cNvPr id="18" name="Text 15"/>
          <p:cNvSpPr/>
          <p:nvPr/>
        </p:nvSpPr>
        <p:spPr>
          <a:xfrm>
            <a:off x="420624" y="4634179"/>
            <a:ext cx="2542032" cy="338328"/>
          </a:xfrm>
          <a:prstGeom prst="rect">
            <a:avLst/>
          </a:prstGeom>
          <a:noFill/>
          <a:ln/>
        </p:spPr>
        <p:txBody>
          <a:bodyPr wrap="square" lIns="0" tIns="0" rIns="0" bIns="0" rtlCol="0" anchor="ctr"/>
          <a:lstStyle/>
          <a:p>
            <a:pPr marL="0" indent="0">
              <a:buNone/>
            </a:pPr>
            <a:r>
              <a:rPr lang="en-US" sz="980" dirty="0">
                <a:solidFill>
                  <a:srgbClr val="10B981"/>
                </a:solidFill>
                <a:latin typeface="Calibri" pitchFamily="34" charset="0"/>
                <a:ea typeface="Calibri" pitchFamily="34" charset="-122"/>
                <a:cs typeface="Calibri" pitchFamily="34" charset="-120"/>
              </a:rPr>
              <a:t>✓ GSAP for premium animation quality</a:t>
            </a:r>
            <a:endParaRPr lang="en-US" sz="980" dirty="0"/>
          </a:p>
        </p:txBody>
      </p:sp>
      <p:sp>
        <p:nvSpPr>
          <p:cNvPr id="19" name="Shape 16"/>
          <p:cNvSpPr/>
          <p:nvPr/>
        </p:nvSpPr>
        <p:spPr>
          <a:xfrm>
            <a:off x="3200400" y="987552"/>
            <a:ext cx="2834640" cy="4041648"/>
          </a:xfrm>
          <a:prstGeom prst="rect">
            <a:avLst/>
          </a:prstGeom>
          <a:solidFill>
            <a:srgbClr val="161B22"/>
          </a:solidFill>
          <a:ln w="10160">
            <a:solidFill>
              <a:srgbClr val="F43F5E"/>
            </a:solidFill>
            <a:prstDash val="solid"/>
          </a:ln>
          <a:effectLst>
            <a:outerShdw blurRad="101600" dist="25400" dir="8100000" algn="bl" rotWithShape="0">
              <a:srgbClr val="000000">
                <a:alpha val="28000"/>
              </a:srgbClr>
            </a:outerShdw>
          </a:effectLst>
        </p:spPr>
        <p:txBody>
          <a:bodyPr/>
          <a:lstStyle/>
          <a:p>
            <a:endParaRPr lang="en-US"/>
          </a:p>
        </p:txBody>
      </p:sp>
      <p:sp>
        <p:nvSpPr>
          <p:cNvPr id="20" name="Shape 17"/>
          <p:cNvSpPr/>
          <p:nvPr/>
        </p:nvSpPr>
        <p:spPr>
          <a:xfrm>
            <a:off x="3200400" y="987552"/>
            <a:ext cx="2834640" cy="329184"/>
          </a:xfrm>
          <a:prstGeom prst="rect">
            <a:avLst/>
          </a:prstGeom>
          <a:solidFill>
            <a:srgbClr val="F43F5E"/>
          </a:solidFill>
          <a:ln w="12700">
            <a:solidFill>
              <a:srgbClr val="F43F5E"/>
            </a:solidFill>
            <a:prstDash val="solid"/>
          </a:ln>
        </p:spPr>
        <p:txBody>
          <a:bodyPr/>
          <a:lstStyle/>
          <a:p>
            <a:endParaRPr lang="en-US"/>
          </a:p>
        </p:txBody>
      </p:sp>
      <p:pic>
        <p:nvPicPr>
          <p:cNvPr id="21" name="Image 1" descr="preencoded.png"/>
          <p:cNvPicPr>
            <a:picLocks noChangeAspect="1"/>
          </p:cNvPicPr>
          <p:nvPr/>
        </p:nvPicPr>
        <p:blipFill>
          <a:blip r:embed="rId3"/>
          <a:stretch>
            <a:fillRect/>
          </a:stretch>
        </p:blipFill>
        <p:spPr>
          <a:xfrm>
            <a:off x="3291840" y="1014984"/>
            <a:ext cx="274320" cy="274320"/>
          </a:xfrm>
          <a:prstGeom prst="rect">
            <a:avLst/>
          </a:prstGeom>
        </p:spPr>
      </p:pic>
      <p:sp>
        <p:nvSpPr>
          <p:cNvPr id="22" name="Text 18"/>
          <p:cNvSpPr/>
          <p:nvPr/>
        </p:nvSpPr>
        <p:spPr>
          <a:xfrm>
            <a:off x="3621024" y="1005840"/>
            <a:ext cx="2304288" cy="292608"/>
          </a:xfrm>
          <a:prstGeom prst="rect">
            <a:avLst/>
          </a:prstGeom>
          <a:noFill/>
          <a:ln/>
        </p:spPr>
        <p:txBody>
          <a:bodyPr wrap="square" lIns="0" tIns="0" rIns="0" bIns="0" rtlCol="0" anchor="ctr"/>
          <a:lstStyle/>
          <a:p>
            <a:pPr marL="0" indent="0">
              <a:buNone/>
            </a:pPr>
            <a:r>
              <a:rPr lang="en-US" sz="1250" b="1" dirty="0">
                <a:solidFill>
                  <a:srgbClr val="0D1117"/>
                </a:solidFill>
                <a:latin typeface="Calibri" pitchFamily="34" charset="0"/>
                <a:ea typeface="Calibri" pitchFamily="34" charset="-122"/>
                <a:cs typeface="Calibri" pitchFamily="34" charset="-120"/>
              </a:rPr>
              <a:t>⚠  Gaps Found</a:t>
            </a:r>
            <a:endParaRPr lang="en-US" sz="1250" dirty="0"/>
          </a:p>
        </p:txBody>
      </p:sp>
      <p:sp>
        <p:nvSpPr>
          <p:cNvPr id="23" name="Text 19"/>
          <p:cNvSpPr/>
          <p:nvPr/>
        </p:nvSpPr>
        <p:spPr>
          <a:xfrm>
            <a:off x="3364992" y="1408176"/>
            <a:ext cx="2542032" cy="338328"/>
          </a:xfrm>
          <a:prstGeom prst="rect">
            <a:avLst/>
          </a:prstGeom>
          <a:noFill/>
          <a:ln/>
        </p:spPr>
        <p:txBody>
          <a:bodyPr wrap="square" lIns="0" tIns="0" rIns="0" bIns="0" rtlCol="0" anchor="ctr"/>
          <a:lstStyle/>
          <a:p>
            <a:pPr marL="0" indent="0">
              <a:buNone/>
            </a:pPr>
            <a:r>
              <a:rPr lang="en-US" sz="980" dirty="0">
                <a:solidFill>
                  <a:srgbClr val="F43F5E"/>
                </a:solidFill>
                <a:latin typeface="Calibri" pitchFamily="34" charset="0"/>
                <a:ea typeface="Calibri" pitchFamily="34" charset="-122"/>
                <a:cs typeface="Calibri" pitchFamily="34" charset="-120"/>
              </a:rPr>
              <a:t>✕ CORS still permissive (callback: true)</a:t>
            </a:r>
            <a:endParaRPr lang="en-US" sz="980" dirty="0"/>
          </a:p>
        </p:txBody>
      </p:sp>
      <p:sp>
        <p:nvSpPr>
          <p:cNvPr id="24" name="Text 20"/>
          <p:cNvSpPr/>
          <p:nvPr/>
        </p:nvSpPr>
        <p:spPr>
          <a:xfrm>
            <a:off x="3364992" y="1766621"/>
            <a:ext cx="2542032" cy="338328"/>
          </a:xfrm>
          <a:prstGeom prst="rect">
            <a:avLst/>
          </a:prstGeom>
          <a:noFill/>
          <a:ln/>
        </p:spPr>
        <p:txBody>
          <a:bodyPr wrap="square" lIns="0" tIns="0" rIns="0" bIns="0" rtlCol="0" anchor="ctr"/>
          <a:lstStyle/>
          <a:p>
            <a:pPr marL="0" indent="0">
              <a:buNone/>
            </a:pPr>
            <a:r>
              <a:rPr lang="en-US" sz="980" dirty="0">
                <a:solidFill>
                  <a:srgbClr val="F43F5E"/>
                </a:solidFill>
                <a:latin typeface="Calibri" pitchFamily="34" charset="0"/>
                <a:ea typeface="Calibri" pitchFamily="34" charset="-122"/>
                <a:cs typeface="Calibri" pitchFamily="34" charset="-120"/>
              </a:rPr>
              <a:t>✕ No TURN server — strict NATs will fail calls</a:t>
            </a:r>
            <a:endParaRPr lang="en-US" sz="980" dirty="0"/>
          </a:p>
        </p:txBody>
      </p:sp>
      <p:sp>
        <p:nvSpPr>
          <p:cNvPr id="25" name="Text 21"/>
          <p:cNvSpPr/>
          <p:nvPr/>
        </p:nvSpPr>
        <p:spPr>
          <a:xfrm>
            <a:off x="3364992" y="2125066"/>
            <a:ext cx="2542032" cy="338328"/>
          </a:xfrm>
          <a:prstGeom prst="rect">
            <a:avLst/>
          </a:prstGeom>
          <a:noFill/>
          <a:ln/>
        </p:spPr>
        <p:txBody>
          <a:bodyPr wrap="square" lIns="0" tIns="0" rIns="0" bIns="0" rtlCol="0" anchor="ctr"/>
          <a:lstStyle/>
          <a:p>
            <a:pPr marL="0" indent="0">
              <a:buNone/>
            </a:pPr>
            <a:r>
              <a:rPr lang="en-US" sz="980" dirty="0">
                <a:solidFill>
                  <a:srgbClr val="F43F5E"/>
                </a:solidFill>
                <a:latin typeface="Calibri" pitchFamily="34" charset="0"/>
                <a:ea typeface="Calibri" pitchFamily="34" charset="-122"/>
                <a:cs typeface="Calibri" pitchFamily="34" charset="-120"/>
              </a:rPr>
              <a:t>✕ No rate limiting on any API endpoint</a:t>
            </a:r>
            <a:endParaRPr lang="en-US" sz="980" dirty="0"/>
          </a:p>
        </p:txBody>
      </p:sp>
      <p:sp>
        <p:nvSpPr>
          <p:cNvPr id="26" name="Text 22"/>
          <p:cNvSpPr/>
          <p:nvPr/>
        </p:nvSpPr>
        <p:spPr>
          <a:xfrm>
            <a:off x="3364992" y="2483510"/>
            <a:ext cx="2542032" cy="338328"/>
          </a:xfrm>
          <a:prstGeom prst="rect">
            <a:avLst/>
          </a:prstGeom>
          <a:noFill/>
          <a:ln/>
        </p:spPr>
        <p:txBody>
          <a:bodyPr wrap="square" lIns="0" tIns="0" rIns="0" bIns="0" rtlCol="0" anchor="ctr"/>
          <a:lstStyle/>
          <a:p>
            <a:pPr marL="0" indent="0">
              <a:buNone/>
            </a:pPr>
            <a:r>
              <a:rPr lang="en-US" sz="980" dirty="0">
                <a:solidFill>
                  <a:srgbClr val="F43F5E"/>
                </a:solidFill>
                <a:latin typeface="Calibri" pitchFamily="34" charset="0"/>
                <a:ea typeface="Calibri" pitchFamily="34" charset="-122"/>
                <a:cs typeface="Calibri" pitchFamily="34" charset="-120"/>
              </a:rPr>
              <a:t>✕ Firebase JWT verified on every request (no cache)</a:t>
            </a:r>
            <a:endParaRPr lang="en-US" sz="980" dirty="0"/>
          </a:p>
        </p:txBody>
      </p:sp>
      <p:sp>
        <p:nvSpPr>
          <p:cNvPr id="27" name="Text 23"/>
          <p:cNvSpPr/>
          <p:nvPr/>
        </p:nvSpPr>
        <p:spPr>
          <a:xfrm>
            <a:off x="3364992" y="2841955"/>
            <a:ext cx="2542032" cy="338328"/>
          </a:xfrm>
          <a:prstGeom prst="rect">
            <a:avLst/>
          </a:prstGeom>
          <a:noFill/>
          <a:ln/>
        </p:spPr>
        <p:txBody>
          <a:bodyPr wrap="square" lIns="0" tIns="0" rIns="0" bIns="0" rtlCol="0" anchor="ctr"/>
          <a:lstStyle/>
          <a:p>
            <a:pPr marL="0" indent="0">
              <a:buNone/>
            </a:pPr>
            <a:r>
              <a:rPr lang="en-US" sz="980" dirty="0">
                <a:solidFill>
                  <a:srgbClr val="F43F5E"/>
                </a:solidFill>
                <a:latin typeface="Calibri" pitchFamily="34" charset="0"/>
                <a:ea typeface="Calibri" pitchFamily="34" charset="-122"/>
                <a:cs typeface="Calibri" pitchFamily="34" charset="-120"/>
              </a:rPr>
              <a:t>✕ No message pagination (full history loaded)</a:t>
            </a:r>
            <a:endParaRPr lang="en-US" sz="980" dirty="0"/>
          </a:p>
        </p:txBody>
      </p:sp>
      <p:sp>
        <p:nvSpPr>
          <p:cNvPr id="28" name="Text 24"/>
          <p:cNvSpPr/>
          <p:nvPr/>
        </p:nvSpPr>
        <p:spPr>
          <a:xfrm>
            <a:off x="3364992" y="3200400"/>
            <a:ext cx="2542032" cy="338328"/>
          </a:xfrm>
          <a:prstGeom prst="rect">
            <a:avLst/>
          </a:prstGeom>
          <a:noFill/>
          <a:ln/>
        </p:spPr>
        <p:txBody>
          <a:bodyPr wrap="square" lIns="0" tIns="0" rIns="0" bIns="0" rtlCol="0" anchor="ctr"/>
          <a:lstStyle/>
          <a:p>
            <a:pPr marL="0" indent="0">
              <a:buNone/>
            </a:pPr>
            <a:r>
              <a:rPr lang="en-US" sz="980" dirty="0">
                <a:solidFill>
                  <a:srgbClr val="F43F5E"/>
                </a:solidFill>
                <a:latin typeface="Calibri" pitchFamily="34" charset="0"/>
                <a:ea typeface="Calibri" pitchFamily="34" charset="-122"/>
                <a:cs typeface="Calibri" pitchFamily="34" charset="-120"/>
              </a:rPr>
              <a:t>✕ RLS policies use USING(true) — too open</a:t>
            </a:r>
            <a:endParaRPr lang="en-US" sz="980" dirty="0"/>
          </a:p>
        </p:txBody>
      </p:sp>
      <p:sp>
        <p:nvSpPr>
          <p:cNvPr id="29" name="Text 25"/>
          <p:cNvSpPr/>
          <p:nvPr/>
        </p:nvSpPr>
        <p:spPr>
          <a:xfrm>
            <a:off x="3364992" y="3558845"/>
            <a:ext cx="2542032" cy="338328"/>
          </a:xfrm>
          <a:prstGeom prst="rect">
            <a:avLst/>
          </a:prstGeom>
          <a:noFill/>
          <a:ln/>
        </p:spPr>
        <p:txBody>
          <a:bodyPr wrap="square" lIns="0" tIns="0" rIns="0" bIns="0" rtlCol="0" anchor="ctr"/>
          <a:lstStyle/>
          <a:p>
            <a:pPr marL="0" indent="0">
              <a:buNone/>
            </a:pPr>
            <a:r>
              <a:rPr lang="en-US" sz="980" dirty="0">
                <a:solidFill>
                  <a:srgbClr val="F43F5E"/>
                </a:solidFill>
                <a:latin typeface="Calibri" pitchFamily="34" charset="0"/>
                <a:ea typeface="Calibri" pitchFamily="34" charset="-122"/>
                <a:cs typeface="Calibri" pitchFamily="34" charset="-120"/>
              </a:rPr>
              <a:t>✕ No E2E message encryption</a:t>
            </a:r>
            <a:endParaRPr lang="en-US" sz="980" dirty="0"/>
          </a:p>
        </p:txBody>
      </p:sp>
      <p:sp>
        <p:nvSpPr>
          <p:cNvPr id="30" name="Text 26"/>
          <p:cNvSpPr/>
          <p:nvPr/>
        </p:nvSpPr>
        <p:spPr>
          <a:xfrm>
            <a:off x="3364992" y="3917290"/>
            <a:ext cx="2542032" cy="338328"/>
          </a:xfrm>
          <a:prstGeom prst="rect">
            <a:avLst/>
          </a:prstGeom>
          <a:noFill/>
          <a:ln/>
        </p:spPr>
        <p:txBody>
          <a:bodyPr wrap="square" lIns="0" tIns="0" rIns="0" bIns="0" rtlCol="0" anchor="ctr"/>
          <a:lstStyle/>
          <a:p>
            <a:pPr marL="0" indent="0">
              <a:buNone/>
            </a:pPr>
            <a:r>
              <a:rPr lang="en-US" sz="980" dirty="0">
                <a:solidFill>
                  <a:srgbClr val="F43F5E"/>
                </a:solidFill>
                <a:latin typeface="Calibri" pitchFamily="34" charset="0"/>
                <a:ea typeface="Calibri" pitchFamily="34" charset="-122"/>
                <a:cs typeface="Calibri" pitchFamily="34" charset="-120"/>
              </a:rPr>
              <a:t>✕ No push notifications (FCM/PWA)</a:t>
            </a:r>
            <a:endParaRPr lang="en-US" sz="980" dirty="0"/>
          </a:p>
        </p:txBody>
      </p:sp>
      <p:sp>
        <p:nvSpPr>
          <p:cNvPr id="31" name="Text 27"/>
          <p:cNvSpPr/>
          <p:nvPr/>
        </p:nvSpPr>
        <p:spPr>
          <a:xfrm>
            <a:off x="3364992" y="4275734"/>
            <a:ext cx="2542032" cy="338328"/>
          </a:xfrm>
          <a:prstGeom prst="rect">
            <a:avLst/>
          </a:prstGeom>
          <a:noFill/>
          <a:ln/>
        </p:spPr>
        <p:txBody>
          <a:bodyPr wrap="square" lIns="0" tIns="0" rIns="0" bIns="0" rtlCol="0" anchor="ctr"/>
          <a:lstStyle/>
          <a:p>
            <a:pPr marL="0" indent="0">
              <a:buNone/>
            </a:pPr>
            <a:r>
              <a:rPr lang="en-US" sz="980" dirty="0">
                <a:solidFill>
                  <a:srgbClr val="F43F5E"/>
                </a:solidFill>
                <a:latin typeface="Calibri" pitchFamily="34" charset="0"/>
                <a:ea typeface="Calibri" pitchFamily="34" charset="-122"/>
                <a:cs typeface="Calibri" pitchFamily="34" charset="-120"/>
              </a:rPr>
              <a:t>✕ call_signals table grows unboundedly</a:t>
            </a:r>
            <a:endParaRPr lang="en-US" sz="980" dirty="0"/>
          </a:p>
        </p:txBody>
      </p:sp>
      <p:sp>
        <p:nvSpPr>
          <p:cNvPr id="32" name="Text 28"/>
          <p:cNvSpPr/>
          <p:nvPr/>
        </p:nvSpPr>
        <p:spPr>
          <a:xfrm>
            <a:off x="3364992" y="4634179"/>
            <a:ext cx="2542032" cy="338328"/>
          </a:xfrm>
          <a:prstGeom prst="rect">
            <a:avLst/>
          </a:prstGeom>
          <a:noFill/>
          <a:ln/>
        </p:spPr>
        <p:txBody>
          <a:bodyPr wrap="square" lIns="0" tIns="0" rIns="0" bIns="0" rtlCol="0" anchor="ctr"/>
          <a:lstStyle/>
          <a:p>
            <a:pPr marL="0" indent="0">
              <a:buNone/>
            </a:pPr>
            <a:r>
              <a:rPr lang="en-US" sz="980" dirty="0">
                <a:solidFill>
                  <a:srgbClr val="F43F5E"/>
                </a:solidFill>
                <a:latin typeface="Calibri" pitchFamily="34" charset="0"/>
                <a:ea typeface="Calibri" pitchFamily="34" charset="-122"/>
                <a:cs typeface="Calibri" pitchFamily="34" charset="-120"/>
              </a:rPr>
              <a:t>✕ Zero unit or integration tests</a:t>
            </a:r>
            <a:endParaRPr lang="en-US" sz="980" dirty="0"/>
          </a:p>
        </p:txBody>
      </p:sp>
      <p:sp>
        <p:nvSpPr>
          <p:cNvPr id="33" name="Shape 29"/>
          <p:cNvSpPr/>
          <p:nvPr/>
        </p:nvSpPr>
        <p:spPr>
          <a:xfrm>
            <a:off x="6144768" y="987552"/>
            <a:ext cx="2834640" cy="4041648"/>
          </a:xfrm>
          <a:prstGeom prst="rect">
            <a:avLst/>
          </a:prstGeom>
          <a:solidFill>
            <a:srgbClr val="161B22"/>
          </a:solidFill>
          <a:ln w="10160">
            <a:solidFill>
              <a:srgbClr val="F59E0B"/>
            </a:solidFill>
            <a:prstDash val="solid"/>
          </a:ln>
          <a:effectLst>
            <a:outerShdw blurRad="101600" dist="25400" dir="8100000" algn="bl" rotWithShape="0">
              <a:srgbClr val="000000">
                <a:alpha val="28000"/>
              </a:srgbClr>
            </a:outerShdw>
          </a:effectLst>
        </p:spPr>
        <p:txBody>
          <a:bodyPr/>
          <a:lstStyle/>
          <a:p>
            <a:endParaRPr lang="en-US"/>
          </a:p>
        </p:txBody>
      </p:sp>
      <p:sp>
        <p:nvSpPr>
          <p:cNvPr id="34" name="Shape 30"/>
          <p:cNvSpPr/>
          <p:nvPr/>
        </p:nvSpPr>
        <p:spPr>
          <a:xfrm>
            <a:off x="6144768" y="987552"/>
            <a:ext cx="2834640" cy="329184"/>
          </a:xfrm>
          <a:prstGeom prst="rect">
            <a:avLst/>
          </a:prstGeom>
          <a:solidFill>
            <a:srgbClr val="F59E0B"/>
          </a:solidFill>
          <a:ln w="12700">
            <a:solidFill>
              <a:srgbClr val="F59E0B"/>
            </a:solidFill>
            <a:prstDash val="solid"/>
          </a:ln>
        </p:spPr>
        <p:txBody>
          <a:bodyPr/>
          <a:lstStyle/>
          <a:p>
            <a:endParaRPr lang="en-US"/>
          </a:p>
        </p:txBody>
      </p:sp>
      <p:pic>
        <p:nvPicPr>
          <p:cNvPr id="35" name="Image 2" descr="preencoded.png"/>
          <p:cNvPicPr>
            <a:picLocks noChangeAspect="1"/>
          </p:cNvPicPr>
          <p:nvPr/>
        </p:nvPicPr>
        <p:blipFill>
          <a:blip r:embed="rId4"/>
          <a:stretch>
            <a:fillRect/>
          </a:stretch>
        </p:blipFill>
        <p:spPr>
          <a:xfrm>
            <a:off x="6236208" y="1014984"/>
            <a:ext cx="274320" cy="274320"/>
          </a:xfrm>
          <a:prstGeom prst="rect">
            <a:avLst/>
          </a:prstGeom>
        </p:spPr>
      </p:pic>
      <p:sp>
        <p:nvSpPr>
          <p:cNvPr id="36" name="Text 31"/>
          <p:cNvSpPr/>
          <p:nvPr/>
        </p:nvSpPr>
        <p:spPr>
          <a:xfrm>
            <a:off x="6565392" y="1005840"/>
            <a:ext cx="2304288" cy="292608"/>
          </a:xfrm>
          <a:prstGeom prst="rect">
            <a:avLst/>
          </a:prstGeom>
          <a:noFill/>
          <a:ln/>
        </p:spPr>
        <p:txBody>
          <a:bodyPr wrap="square" lIns="0" tIns="0" rIns="0" bIns="0" rtlCol="0" anchor="ctr"/>
          <a:lstStyle/>
          <a:p>
            <a:pPr marL="0" indent="0">
              <a:buNone/>
            </a:pPr>
            <a:r>
              <a:rPr lang="en-US" sz="1250" b="1" dirty="0">
                <a:solidFill>
                  <a:srgbClr val="0D1117"/>
                </a:solidFill>
                <a:latin typeface="Calibri" pitchFamily="34" charset="0"/>
                <a:ea typeface="Calibri" pitchFamily="34" charset="-122"/>
                <a:cs typeface="Calibri" pitchFamily="34" charset="-120"/>
              </a:rPr>
              <a:t>🚀  Roadmap</a:t>
            </a:r>
            <a:endParaRPr lang="en-US" sz="1250" dirty="0"/>
          </a:p>
        </p:txBody>
      </p:sp>
      <p:sp>
        <p:nvSpPr>
          <p:cNvPr id="37" name="Text 32"/>
          <p:cNvSpPr/>
          <p:nvPr/>
        </p:nvSpPr>
        <p:spPr>
          <a:xfrm>
            <a:off x="6309360" y="1408176"/>
            <a:ext cx="2542032" cy="338328"/>
          </a:xfrm>
          <a:prstGeom prst="rect">
            <a:avLst/>
          </a:prstGeom>
          <a:noFill/>
          <a:ln/>
        </p:spPr>
        <p:txBody>
          <a:bodyPr wrap="square" lIns="0" tIns="0" rIns="0" bIns="0" rtlCol="0" anchor="ctr"/>
          <a:lstStyle/>
          <a:p>
            <a:pPr marL="0" indent="0">
              <a:buNone/>
            </a:pPr>
            <a:r>
              <a:rPr lang="en-US" sz="980" dirty="0">
                <a:solidFill>
                  <a:srgbClr val="F59E0B"/>
                </a:solidFill>
                <a:latin typeface="Calibri" pitchFamily="34" charset="0"/>
                <a:ea typeface="Calibri" pitchFamily="34" charset="-122"/>
                <a:cs typeface="Calibri" pitchFamily="34" charset="-120"/>
              </a:rPr>
              <a:t>→ Add Twilio/Coturn TURN server</a:t>
            </a:r>
            <a:endParaRPr lang="en-US" sz="980" dirty="0"/>
          </a:p>
        </p:txBody>
      </p:sp>
      <p:sp>
        <p:nvSpPr>
          <p:cNvPr id="38" name="Text 33"/>
          <p:cNvSpPr/>
          <p:nvPr/>
        </p:nvSpPr>
        <p:spPr>
          <a:xfrm>
            <a:off x="6309360" y="1766621"/>
            <a:ext cx="2542032" cy="338328"/>
          </a:xfrm>
          <a:prstGeom prst="rect">
            <a:avLst/>
          </a:prstGeom>
          <a:noFill/>
          <a:ln/>
        </p:spPr>
        <p:txBody>
          <a:bodyPr wrap="square" lIns="0" tIns="0" rIns="0" bIns="0" rtlCol="0" anchor="ctr"/>
          <a:lstStyle/>
          <a:p>
            <a:pPr marL="0" indent="0">
              <a:buNone/>
            </a:pPr>
            <a:r>
              <a:rPr lang="en-US" sz="980" dirty="0">
                <a:solidFill>
                  <a:srgbClr val="F59E0B"/>
                </a:solidFill>
                <a:latin typeface="Calibri" pitchFamily="34" charset="0"/>
                <a:ea typeface="Calibri" pitchFamily="34" charset="-122"/>
                <a:cs typeface="Calibri" pitchFamily="34" charset="-120"/>
              </a:rPr>
              <a:t>→ Tighten CORS to production domain only</a:t>
            </a:r>
            <a:endParaRPr lang="en-US" sz="980" dirty="0"/>
          </a:p>
        </p:txBody>
      </p:sp>
      <p:sp>
        <p:nvSpPr>
          <p:cNvPr id="39" name="Text 34"/>
          <p:cNvSpPr/>
          <p:nvPr/>
        </p:nvSpPr>
        <p:spPr>
          <a:xfrm>
            <a:off x="6309360" y="2125066"/>
            <a:ext cx="2542032" cy="338328"/>
          </a:xfrm>
          <a:prstGeom prst="rect">
            <a:avLst/>
          </a:prstGeom>
          <a:noFill/>
          <a:ln/>
        </p:spPr>
        <p:txBody>
          <a:bodyPr wrap="square" lIns="0" tIns="0" rIns="0" bIns="0" rtlCol="0" anchor="ctr"/>
          <a:lstStyle/>
          <a:p>
            <a:pPr marL="0" indent="0">
              <a:buNone/>
            </a:pPr>
            <a:r>
              <a:rPr lang="en-US" sz="980" dirty="0">
                <a:solidFill>
                  <a:srgbClr val="F59E0B"/>
                </a:solidFill>
                <a:latin typeface="Calibri" pitchFamily="34" charset="0"/>
                <a:ea typeface="Calibri" pitchFamily="34" charset="-122"/>
                <a:cs typeface="Calibri" pitchFamily="34" charset="-120"/>
              </a:rPr>
              <a:t>→ Add express-rate-limit middleware</a:t>
            </a:r>
            <a:endParaRPr lang="en-US" sz="980" dirty="0"/>
          </a:p>
        </p:txBody>
      </p:sp>
      <p:sp>
        <p:nvSpPr>
          <p:cNvPr id="40" name="Text 35"/>
          <p:cNvSpPr/>
          <p:nvPr/>
        </p:nvSpPr>
        <p:spPr>
          <a:xfrm>
            <a:off x="6309360" y="2483510"/>
            <a:ext cx="2542032" cy="338328"/>
          </a:xfrm>
          <a:prstGeom prst="rect">
            <a:avLst/>
          </a:prstGeom>
          <a:noFill/>
          <a:ln/>
        </p:spPr>
        <p:txBody>
          <a:bodyPr wrap="square" lIns="0" tIns="0" rIns="0" bIns="0" rtlCol="0" anchor="ctr"/>
          <a:lstStyle/>
          <a:p>
            <a:pPr marL="0" indent="0">
              <a:buNone/>
            </a:pPr>
            <a:r>
              <a:rPr lang="en-US" sz="980" dirty="0">
                <a:solidFill>
                  <a:srgbClr val="F59E0B"/>
                </a:solidFill>
                <a:latin typeface="Calibri" pitchFamily="34" charset="0"/>
                <a:ea typeface="Calibri" pitchFamily="34" charset="-122"/>
                <a:cs typeface="Calibri" pitchFamily="34" charset="-120"/>
              </a:rPr>
              <a:t>→ Cache Firebase public keys (5-min TTL)</a:t>
            </a:r>
            <a:endParaRPr lang="en-US" sz="980" dirty="0"/>
          </a:p>
        </p:txBody>
      </p:sp>
      <p:sp>
        <p:nvSpPr>
          <p:cNvPr id="41" name="Text 36"/>
          <p:cNvSpPr/>
          <p:nvPr/>
        </p:nvSpPr>
        <p:spPr>
          <a:xfrm>
            <a:off x="6309360" y="2841955"/>
            <a:ext cx="2542032" cy="338328"/>
          </a:xfrm>
          <a:prstGeom prst="rect">
            <a:avLst/>
          </a:prstGeom>
          <a:noFill/>
          <a:ln/>
        </p:spPr>
        <p:txBody>
          <a:bodyPr wrap="square" lIns="0" tIns="0" rIns="0" bIns="0" rtlCol="0" anchor="ctr"/>
          <a:lstStyle/>
          <a:p>
            <a:pPr marL="0" indent="0">
              <a:buNone/>
            </a:pPr>
            <a:r>
              <a:rPr lang="en-US" sz="980" dirty="0">
                <a:solidFill>
                  <a:srgbClr val="F59E0B"/>
                </a:solidFill>
                <a:latin typeface="Calibri" pitchFamily="34" charset="0"/>
                <a:ea typeface="Calibri" pitchFamily="34" charset="-122"/>
                <a:cs typeface="Calibri" pitchFamily="34" charset="-120"/>
              </a:rPr>
              <a:t>→ Cursor-based message pagination</a:t>
            </a:r>
            <a:endParaRPr lang="en-US" sz="980" dirty="0"/>
          </a:p>
        </p:txBody>
      </p:sp>
      <p:sp>
        <p:nvSpPr>
          <p:cNvPr id="42" name="Text 37"/>
          <p:cNvSpPr/>
          <p:nvPr/>
        </p:nvSpPr>
        <p:spPr>
          <a:xfrm>
            <a:off x="6309360" y="3200400"/>
            <a:ext cx="2542032" cy="338328"/>
          </a:xfrm>
          <a:prstGeom prst="rect">
            <a:avLst/>
          </a:prstGeom>
          <a:noFill/>
          <a:ln/>
        </p:spPr>
        <p:txBody>
          <a:bodyPr wrap="square" lIns="0" tIns="0" rIns="0" bIns="0" rtlCol="0" anchor="ctr"/>
          <a:lstStyle/>
          <a:p>
            <a:pPr marL="0" indent="0">
              <a:buNone/>
            </a:pPr>
            <a:r>
              <a:rPr lang="en-US" sz="980" dirty="0">
                <a:solidFill>
                  <a:srgbClr val="F59E0B"/>
                </a:solidFill>
                <a:latin typeface="Calibri" pitchFamily="34" charset="0"/>
                <a:ea typeface="Calibri" pitchFamily="34" charset="-122"/>
                <a:cs typeface="Calibri" pitchFamily="34" charset="-120"/>
              </a:rPr>
              <a:t>→ Proper per-user RLS policies</a:t>
            </a:r>
            <a:endParaRPr lang="en-US" sz="980" dirty="0"/>
          </a:p>
        </p:txBody>
      </p:sp>
      <p:sp>
        <p:nvSpPr>
          <p:cNvPr id="43" name="Text 38"/>
          <p:cNvSpPr/>
          <p:nvPr/>
        </p:nvSpPr>
        <p:spPr>
          <a:xfrm>
            <a:off x="6309360" y="3558845"/>
            <a:ext cx="2542032" cy="338328"/>
          </a:xfrm>
          <a:prstGeom prst="rect">
            <a:avLst/>
          </a:prstGeom>
          <a:noFill/>
          <a:ln/>
        </p:spPr>
        <p:txBody>
          <a:bodyPr wrap="square" lIns="0" tIns="0" rIns="0" bIns="0" rtlCol="0" anchor="ctr"/>
          <a:lstStyle/>
          <a:p>
            <a:pPr marL="0" indent="0">
              <a:buNone/>
            </a:pPr>
            <a:r>
              <a:rPr lang="en-US" sz="980" dirty="0">
                <a:solidFill>
                  <a:srgbClr val="F59E0B"/>
                </a:solidFill>
                <a:latin typeface="Calibri" pitchFamily="34" charset="0"/>
                <a:ea typeface="Calibri" pitchFamily="34" charset="-122"/>
                <a:cs typeface="Calibri" pitchFamily="34" charset="-120"/>
              </a:rPr>
              <a:t>→ E2E encryption via libsodium</a:t>
            </a:r>
            <a:endParaRPr lang="en-US" sz="980" dirty="0"/>
          </a:p>
        </p:txBody>
      </p:sp>
      <p:sp>
        <p:nvSpPr>
          <p:cNvPr id="44" name="Text 39"/>
          <p:cNvSpPr/>
          <p:nvPr/>
        </p:nvSpPr>
        <p:spPr>
          <a:xfrm>
            <a:off x="6309360" y="3917290"/>
            <a:ext cx="2542032" cy="338328"/>
          </a:xfrm>
          <a:prstGeom prst="rect">
            <a:avLst/>
          </a:prstGeom>
          <a:noFill/>
          <a:ln/>
        </p:spPr>
        <p:txBody>
          <a:bodyPr wrap="square" lIns="0" tIns="0" rIns="0" bIns="0" rtlCol="0" anchor="ctr"/>
          <a:lstStyle/>
          <a:p>
            <a:pPr marL="0" indent="0">
              <a:buNone/>
            </a:pPr>
            <a:r>
              <a:rPr lang="en-US" sz="980" dirty="0">
                <a:solidFill>
                  <a:srgbClr val="F59E0B"/>
                </a:solidFill>
                <a:latin typeface="Calibri" pitchFamily="34" charset="0"/>
                <a:ea typeface="Calibri" pitchFamily="34" charset="-122"/>
                <a:cs typeface="Calibri" pitchFamily="34" charset="-120"/>
              </a:rPr>
              <a:t>→ FCM push notifications</a:t>
            </a:r>
            <a:endParaRPr lang="en-US" sz="980" dirty="0"/>
          </a:p>
        </p:txBody>
      </p:sp>
      <p:sp>
        <p:nvSpPr>
          <p:cNvPr id="45" name="Text 40"/>
          <p:cNvSpPr/>
          <p:nvPr/>
        </p:nvSpPr>
        <p:spPr>
          <a:xfrm>
            <a:off x="6309360" y="4275734"/>
            <a:ext cx="2542032" cy="338328"/>
          </a:xfrm>
          <a:prstGeom prst="rect">
            <a:avLst/>
          </a:prstGeom>
          <a:noFill/>
          <a:ln/>
        </p:spPr>
        <p:txBody>
          <a:bodyPr wrap="square" lIns="0" tIns="0" rIns="0" bIns="0" rtlCol="0" anchor="ctr"/>
          <a:lstStyle/>
          <a:p>
            <a:pPr marL="0" indent="0">
              <a:buNone/>
            </a:pPr>
            <a:r>
              <a:rPr lang="en-US" sz="980" dirty="0">
                <a:solidFill>
                  <a:srgbClr val="F59E0B"/>
                </a:solidFill>
                <a:latin typeface="Calibri" pitchFamily="34" charset="0"/>
                <a:ea typeface="Calibri" pitchFamily="34" charset="-122"/>
                <a:cs typeface="Calibri" pitchFamily="34" charset="-120"/>
              </a:rPr>
              <a:t>→ Cron job to archive old call_signals</a:t>
            </a:r>
            <a:endParaRPr lang="en-US" sz="980" dirty="0"/>
          </a:p>
        </p:txBody>
      </p:sp>
      <p:sp>
        <p:nvSpPr>
          <p:cNvPr id="46" name="Text 41"/>
          <p:cNvSpPr/>
          <p:nvPr/>
        </p:nvSpPr>
        <p:spPr>
          <a:xfrm>
            <a:off x="6309360" y="4634179"/>
            <a:ext cx="2542032" cy="338328"/>
          </a:xfrm>
          <a:prstGeom prst="rect">
            <a:avLst/>
          </a:prstGeom>
          <a:noFill/>
          <a:ln/>
        </p:spPr>
        <p:txBody>
          <a:bodyPr wrap="square" lIns="0" tIns="0" rIns="0" bIns="0" rtlCol="0" anchor="ctr"/>
          <a:lstStyle/>
          <a:p>
            <a:pPr marL="0" indent="0">
              <a:buNone/>
            </a:pPr>
            <a:r>
              <a:rPr lang="en-US" sz="980" dirty="0">
                <a:solidFill>
                  <a:srgbClr val="F59E0B"/>
                </a:solidFill>
                <a:latin typeface="Calibri" pitchFamily="34" charset="0"/>
                <a:ea typeface="Calibri" pitchFamily="34" charset="-122"/>
                <a:cs typeface="Calibri" pitchFamily="34" charset="-120"/>
              </a:rPr>
              <a:t>→ Deploy: Vercel + Railway + Supabase</a:t>
            </a:r>
            <a:endParaRPr lang="en-US" sz="9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w="12700">
            <a:solidFill>
              <a:srgbClr val="6366F1"/>
            </a:solidFill>
            <a:prstDash val="solid"/>
          </a:ln>
        </p:spPr>
        <p:txBody>
          <a:bodyPr/>
          <a:lstStyle/>
          <a:p>
            <a:endParaRPr lang="en-US"/>
          </a:p>
        </p:txBody>
      </p:sp>
      <p:sp>
        <p:nvSpPr>
          <p:cNvPr id="3" name="Text 1"/>
          <p:cNvSpPr/>
          <p:nvPr/>
        </p:nvSpPr>
        <p:spPr>
          <a:xfrm>
            <a:off x="411480" y="137160"/>
            <a:ext cx="8321040" cy="475488"/>
          </a:xfrm>
          <a:prstGeom prst="rect">
            <a:avLst/>
          </a:prstGeom>
          <a:noFill/>
          <a:ln/>
        </p:spPr>
        <p:txBody>
          <a:bodyPr wrap="square" lIns="0" tIns="0" rIns="0" bIns="0" rtlCol="0" anchor="ctr"/>
          <a:lstStyle/>
          <a:p>
            <a:pPr marL="0" indent="0">
              <a:buNone/>
            </a:pPr>
            <a:r>
              <a:rPr lang="en-US" sz="2600" b="1" dirty="0">
                <a:solidFill>
                  <a:srgbClr val="F0F6FC"/>
                </a:solidFill>
                <a:latin typeface="Calibri" pitchFamily="34" charset="0"/>
                <a:ea typeface="Calibri" pitchFamily="34" charset="-122"/>
                <a:cs typeface="Calibri" pitchFamily="34" charset="-120"/>
              </a:rPr>
              <a:t>Deployment Architecture</a:t>
            </a:r>
            <a:endParaRPr lang="en-US" sz="2600" dirty="0"/>
          </a:p>
        </p:txBody>
      </p:sp>
      <p:sp>
        <p:nvSpPr>
          <p:cNvPr id="4" name="Text 2"/>
          <p:cNvSpPr/>
          <p:nvPr/>
        </p:nvSpPr>
        <p:spPr>
          <a:xfrm>
            <a:off x="411480" y="612648"/>
            <a:ext cx="832104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How Chatify runs in production — frontend, backend, database, and CDN</a:t>
            </a:r>
            <a:endParaRPr lang="en-US" sz="1300" dirty="0"/>
          </a:p>
        </p:txBody>
      </p:sp>
      <p:sp>
        <p:nvSpPr>
          <p:cNvPr id="5" name="Shape 3"/>
          <p:cNvSpPr/>
          <p:nvPr/>
        </p:nvSpPr>
        <p:spPr>
          <a:xfrm>
            <a:off x="256032" y="987552"/>
            <a:ext cx="5029200" cy="1335024"/>
          </a:xfrm>
          <a:prstGeom prst="rect">
            <a:avLst/>
          </a:prstGeom>
          <a:solidFill>
            <a:srgbClr val="161B22"/>
          </a:solidFill>
          <a:ln w="10160">
            <a:solidFill>
              <a:srgbClr val="22D3EE"/>
            </a:solidFill>
            <a:prstDash val="solid"/>
          </a:ln>
          <a:effectLst>
            <a:outerShdw blurRad="101600" dist="25400" dir="8100000" algn="bl" rotWithShape="0">
              <a:srgbClr val="000000">
                <a:alpha val="28000"/>
              </a:srgbClr>
            </a:outerShdw>
          </a:effectLst>
        </p:spPr>
        <p:txBody>
          <a:bodyPr/>
          <a:lstStyle/>
          <a:p>
            <a:endParaRPr lang="en-US"/>
          </a:p>
        </p:txBody>
      </p:sp>
      <p:sp>
        <p:nvSpPr>
          <p:cNvPr id="6" name="Shape 4"/>
          <p:cNvSpPr/>
          <p:nvPr/>
        </p:nvSpPr>
        <p:spPr>
          <a:xfrm>
            <a:off x="256032" y="987552"/>
            <a:ext cx="5029200" cy="329184"/>
          </a:xfrm>
          <a:prstGeom prst="rect">
            <a:avLst/>
          </a:prstGeom>
          <a:solidFill>
            <a:srgbClr val="22D3EE"/>
          </a:solidFill>
          <a:ln w="12700">
            <a:solidFill>
              <a:srgbClr val="22D3E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347472" y="1024128"/>
            <a:ext cx="274320" cy="274320"/>
          </a:xfrm>
          <a:prstGeom prst="rect">
            <a:avLst/>
          </a:prstGeom>
        </p:spPr>
      </p:pic>
      <p:sp>
        <p:nvSpPr>
          <p:cNvPr id="8" name="Text 5"/>
          <p:cNvSpPr/>
          <p:nvPr/>
        </p:nvSpPr>
        <p:spPr>
          <a:xfrm>
            <a:off x="694944" y="1033272"/>
            <a:ext cx="4480560" cy="274320"/>
          </a:xfrm>
          <a:prstGeom prst="rect">
            <a:avLst/>
          </a:prstGeom>
          <a:noFill/>
          <a:ln/>
        </p:spPr>
        <p:txBody>
          <a:bodyPr wrap="square" lIns="0" tIns="0" rIns="0" bIns="0" rtlCol="0" anchor="ctr"/>
          <a:lstStyle/>
          <a:p>
            <a:pPr marL="0" indent="0">
              <a:buNone/>
            </a:pPr>
            <a:r>
              <a:rPr lang="en-US" sz="1300" b="1" dirty="0">
                <a:solidFill>
                  <a:srgbClr val="0D1117"/>
                </a:solidFill>
                <a:latin typeface="Calibri" pitchFamily="34" charset="0"/>
                <a:ea typeface="Calibri" pitchFamily="34" charset="-122"/>
                <a:cs typeface="Calibri" pitchFamily="34" charset="-120"/>
              </a:rPr>
              <a:t>Frontend  →  Vercel</a:t>
            </a:r>
            <a:endParaRPr lang="en-US" sz="1300" dirty="0"/>
          </a:p>
        </p:txBody>
      </p:sp>
      <p:sp>
        <p:nvSpPr>
          <p:cNvPr id="9" name="Text 6"/>
          <p:cNvSpPr/>
          <p:nvPr/>
        </p:nvSpPr>
        <p:spPr>
          <a:xfrm>
            <a:off x="420624" y="1371600"/>
            <a:ext cx="4709160" cy="877824"/>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npm run build produces an optimized dist/ folder. Vercel picks up the Vite output automatically. Environment variables (VITE_*) are set in Vercel dashboard. Custom domain mapped and HTTPS auto-configured.</a:t>
            </a:r>
            <a:endParaRPr lang="en-US" sz="1100" dirty="0"/>
          </a:p>
        </p:txBody>
      </p:sp>
      <p:sp>
        <p:nvSpPr>
          <p:cNvPr id="10" name="Shape 7"/>
          <p:cNvSpPr/>
          <p:nvPr/>
        </p:nvSpPr>
        <p:spPr>
          <a:xfrm>
            <a:off x="256032" y="2432304"/>
            <a:ext cx="5029200" cy="1335024"/>
          </a:xfrm>
          <a:prstGeom prst="rect">
            <a:avLst/>
          </a:prstGeom>
          <a:solidFill>
            <a:srgbClr val="161B22"/>
          </a:solidFill>
          <a:ln w="10160">
            <a:solidFill>
              <a:srgbClr val="6366F1"/>
            </a:solidFill>
            <a:prstDash val="solid"/>
          </a:ln>
          <a:effectLst>
            <a:outerShdw blurRad="101600" dist="25400" dir="8100000" algn="bl" rotWithShape="0">
              <a:srgbClr val="000000">
                <a:alpha val="28000"/>
              </a:srgbClr>
            </a:outerShdw>
          </a:effectLst>
        </p:spPr>
        <p:txBody>
          <a:bodyPr/>
          <a:lstStyle/>
          <a:p>
            <a:endParaRPr lang="en-US"/>
          </a:p>
        </p:txBody>
      </p:sp>
      <p:sp>
        <p:nvSpPr>
          <p:cNvPr id="11" name="Shape 8"/>
          <p:cNvSpPr/>
          <p:nvPr/>
        </p:nvSpPr>
        <p:spPr>
          <a:xfrm>
            <a:off x="256032" y="2432304"/>
            <a:ext cx="5029200" cy="329184"/>
          </a:xfrm>
          <a:prstGeom prst="rect">
            <a:avLst/>
          </a:prstGeom>
          <a:solidFill>
            <a:srgbClr val="6366F1"/>
          </a:solidFill>
          <a:ln w="12700">
            <a:solidFill>
              <a:srgbClr val="6366F1"/>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47472" y="2468880"/>
            <a:ext cx="274320" cy="274320"/>
          </a:xfrm>
          <a:prstGeom prst="rect">
            <a:avLst/>
          </a:prstGeom>
        </p:spPr>
      </p:pic>
      <p:sp>
        <p:nvSpPr>
          <p:cNvPr id="13" name="Text 9"/>
          <p:cNvSpPr/>
          <p:nvPr/>
        </p:nvSpPr>
        <p:spPr>
          <a:xfrm>
            <a:off x="694944" y="2478024"/>
            <a:ext cx="4480560" cy="274320"/>
          </a:xfrm>
          <a:prstGeom prst="rect">
            <a:avLst/>
          </a:prstGeom>
          <a:noFill/>
          <a:ln/>
        </p:spPr>
        <p:txBody>
          <a:bodyPr wrap="square" lIns="0" tIns="0" rIns="0" bIns="0" rtlCol="0" anchor="ctr"/>
          <a:lstStyle/>
          <a:p>
            <a:pPr marL="0" indent="0">
              <a:buNone/>
            </a:pPr>
            <a:r>
              <a:rPr lang="en-US" sz="1300" b="1" dirty="0">
                <a:solidFill>
                  <a:srgbClr val="0D1117"/>
                </a:solidFill>
                <a:latin typeface="Calibri" pitchFamily="34" charset="0"/>
                <a:ea typeface="Calibri" pitchFamily="34" charset="-122"/>
                <a:cs typeface="Calibri" pitchFamily="34" charset="-120"/>
              </a:rPr>
              <a:t>Backend  →  Railway / Render</a:t>
            </a:r>
            <a:endParaRPr lang="en-US" sz="1300" dirty="0"/>
          </a:p>
        </p:txBody>
      </p:sp>
      <p:sp>
        <p:nvSpPr>
          <p:cNvPr id="14" name="Text 10"/>
          <p:cNvSpPr/>
          <p:nvPr/>
        </p:nvSpPr>
        <p:spPr>
          <a:xfrm>
            <a:off x="420624" y="2816352"/>
            <a:ext cx="4709160" cy="877824"/>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npm start runs node src/server.js on PORT env var. Dockerfile optional. Health endpoint /api/health confirms deployment. CORS FRONTEND_URL set to the Vercel domain. Firebase service account and Supabase service role key set as secrets.</a:t>
            </a:r>
            <a:endParaRPr lang="en-US" sz="1100" dirty="0"/>
          </a:p>
        </p:txBody>
      </p:sp>
      <p:sp>
        <p:nvSpPr>
          <p:cNvPr id="15" name="Shape 11"/>
          <p:cNvSpPr/>
          <p:nvPr/>
        </p:nvSpPr>
        <p:spPr>
          <a:xfrm>
            <a:off x="256032" y="3877056"/>
            <a:ext cx="5029200" cy="1335024"/>
          </a:xfrm>
          <a:prstGeom prst="rect">
            <a:avLst/>
          </a:prstGeom>
          <a:solidFill>
            <a:srgbClr val="161B22"/>
          </a:solidFill>
          <a:ln w="10160">
            <a:solidFill>
              <a:srgbClr val="10B981"/>
            </a:solidFill>
            <a:prstDash val="solid"/>
          </a:ln>
          <a:effectLst>
            <a:outerShdw blurRad="101600" dist="25400" dir="8100000" algn="bl" rotWithShape="0">
              <a:srgbClr val="000000">
                <a:alpha val="28000"/>
              </a:srgbClr>
            </a:outerShdw>
          </a:effectLst>
        </p:spPr>
        <p:txBody>
          <a:bodyPr/>
          <a:lstStyle/>
          <a:p>
            <a:endParaRPr lang="en-US"/>
          </a:p>
        </p:txBody>
      </p:sp>
      <p:sp>
        <p:nvSpPr>
          <p:cNvPr id="16" name="Shape 12"/>
          <p:cNvSpPr/>
          <p:nvPr/>
        </p:nvSpPr>
        <p:spPr>
          <a:xfrm>
            <a:off x="256032" y="3877056"/>
            <a:ext cx="5029200" cy="329184"/>
          </a:xfrm>
          <a:prstGeom prst="rect">
            <a:avLst/>
          </a:prstGeom>
          <a:solidFill>
            <a:srgbClr val="10B981"/>
          </a:solidFill>
          <a:ln w="12700">
            <a:solidFill>
              <a:srgbClr val="10B981"/>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47472" y="3913632"/>
            <a:ext cx="274320" cy="274320"/>
          </a:xfrm>
          <a:prstGeom prst="rect">
            <a:avLst/>
          </a:prstGeom>
        </p:spPr>
      </p:pic>
      <p:sp>
        <p:nvSpPr>
          <p:cNvPr id="18" name="Text 13"/>
          <p:cNvSpPr/>
          <p:nvPr/>
        </p:nvSpPr>
        <p:spPr>
          <a:xfrm>
            <a:off x="694944" y="3922776"/>
            <a:ext cx="4480560" cy="274320"/>
          </a:xfrm>
          <a:prstGeom prst="rect">
            <a:avLst/>
          </a:prstGeom>
          <a:noFill/>
          <a:ln/>
        </p:spPr>
        <p:txBody>
          <a:bodyPr wrap="square" lIns="0" tIns="0" rIns="0" bIns="0" rtlCol="0" anchor="ctr"/>
          <a:lstStyle/>
          <a:p>
            <a:pPr marL="0" indent="0">
              <a:buNone/>
            </a:pPr>
            <a:r>
              <a:rPr lang="en-US" sz="1300" b="1" dirty="0">
                <a:solidFill>
                  <a:srgbClr val="0D1117"/>
                </a:solidFill>
                <a:latin typeface="Calibri" pitchFamily="34" charset="0"/>
                <a:ea typeface="Calibri" pitchFamily="34" charset="-122"/>
                <a:cs typeface="Calibri" pitchFamily="34" charset="-120"/>
              </a:rPr>
              <a:t>Database  →  Supabase Cloud</a:t>
            </a:r>
            <a:endParaRPr lang="en-US" sz="1300" dirty="0"/>
          </a:p>
        </p:txBody>
      </p:sp>
      <p:sp>
        <p:nvSpPr>
          <p:cNvPr id="19" name="Text 14"/>
          <p:cNvSpPr/>
          <p:nvPr/>
        </p:nvSpPr>
        <p:spPr>
          <a:xfrm>
            <a:off x="420624" y="4261104"/>
            <a:ext cx="4709160" cy="877824"/>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Managed PostgreSQL. Run migration.sql then migration_v2.sql once in SQL Editor. Enable Realtime for all hot tables. Create storage buckets (avatars, media, statuses) with public access. Row-Level Security already configured.</a:t>
            </a:r>
            <a:endParaRPr lang="en-US" sz="1100" dirty="0"/>
          </a:p>
        </p:txBody>
      </p:sp>
      <p:sp>
        <p:nvSpPr>
          <p:cNvPr id="20" name="Shape 15"/>
          <p:cNvSpPr/>
          <p:nvPr/>
        </p:nvSpPr>
        <p:spPr>
          <a:xfrm>
            <a:off x="5468112" y="987552"/>
            <a:ext cx="3419856" cy="4224528"/>
          </a:xfrm>
          <a:prstGeom prst="rect">
            <a:avLst/>
          </a:prstGeom>
          <a:solidFill>
            <a:srgbClr val="161B22"/>
          </a:solidFill>
          <a:ln w="8890">
            <a:solidFill>
              <a:srgbClr val="8B5CF6"/>
            </a:solidFill>
            <a:prstDash val="solid"/>
          </a:ln>
          <a:effectLst>
            <a:outerShdw blurRad="101600" dist="25400" dir="8100000" algn="bl" rotWithShape="0">
              <a:srgbClr val="000000">
                <a:alpha val="28000"/>
              </a:srgbClr>
            </a:outerShdw>
          </a:effectLst>
        </p:spPr>
        <p:txBody>
          <a:bodyPr/>
          <a:lstStyle/>
          <a:p>
            <a:endParaRPr lang="en-US"/>
          </a:p>
        </p:txBody>
      </p:sp>
      <p:sp>
        <p:nvSpPr>
          <p:cNvPr id="21" name="Shape 16"/>
          <p:cNvSpPr/>
          <p:nvPr/>
        </p:nvSpPr>
        <p:spPr>
          <a:xfrm>
            <a:off x="5468112" y="987552"/>
            <a:ext cx="3419856" cy="310896"/>
          </a:xfrm>
          <a:prstGeom prst="rect">
            <a:avLst/>
          </a:prstGeom>
          <a:solidFill>
            <a:srgbClr val="8B5CF6"/>
          </a:solidFill>
          <a:ln w="12700">
            <a:solidFill>
              <a:srgbClr val="8B5CF6"/>
            </a:solidFill>
            <a:prstDash val="solid"/>
          </a:ln>
        </p:spPr>
        <p:txBody>
          <a:bodyPr/>
          <a:lstStyle/>
          <a:p>
            <a:endParaRPr lang="en-US"/>
          </a:p>
        </p:txBody>
      </p:sp>
      <p:sp>
        <p:nvSpPr>
          <p:cNvPr id="22" name="Text 17"/>
          <p:cNvSpPr/>
          <p:nvPr/>
        </p:nvSpPr>
        <p:spPr>
          <a:xfrm>
            <a:off x="5559552" y="996696"/>
            <a:ext cx="3200400" cy="274320"/>
          </a:xfrm>
          <a:prstGeom prst="rect">
            <a:avLst/>
          </a:prstGeom>
          <a:noFill/>
          <a:ln/>
        </p:spPr>
        <p:txBody>
          <a:bodyPr wrap="square" lIns="0" tIns="0" rIns="0" bIns="0" rtlCol="0" anchor="ctr"/>
          <a:lstStyle/>
          <a:p>
            <a:pPr marL="0" indent="0">
              <a:buNone/>
            </a:pPr>
            <a:r>
              <a:rPr lang="en-US" sz="1200" b="1" dirty="0">
                <a:solidFill>
                  <a:srgbClr val="0D1117"/>
                </a:solidFill>
                <a:latin typeface="Calibri" pitchFamily="34" charset="0"/>
                <a:ea typeface="Calibri" pitchFamily="34" charset="-122"/>
                <a:cs typeface="Calibri" pitchFamily="34" charset="-120"/>
              </a:rPr>
              <a:t>Environment Variables</a:t>
            </a:r>
            <a:endParaRPr lang="en-US" sz="1200" dirty="0"/>
          </a:p>
        </p:txBody>
      </p:sp>
      <p:sp>
        <p:nvSpPr>
          <p:cNvPr id="23" name="Shape 18"/>
          <p:cNvSpPr/>
          <p:nvPr/>
        </p:nvSpPr>
        <p:spPr>
          <a:xfrm>
            <a:off x="5468112" y="1371600"/>
            <a:ext cx="3419856" cy="333756"/>
          </a:xfrm>
          <a:prstGeom prst="rect">
            <a:avLst/>
          </a:prstGeom>
          <a:solidFill>
            <a:srgbClr val="161B22"/>
          </a:solidFill>
          <a:ln w="12700">
            <a:solidFill>
              <a:srgbClr val="161B22"/>
            </a:solidFill>
            <a:prstDash val="solid"/>
          </a:ln>
        </p:spPr>
        <p:txBody>
          <a:bodyPr/>
          <a:lstStyle/>
          <a:p>
            <a:endParaRPr lang="en-US"/>
          </a:p>
        </p:txBody>
      </p:sp>
      <p:sp>
        <p:nvSpPr>
          <p:cNvPr id="24" name="Shape 19"/>
          <p:cNvSpPr/>
          <p:nvPr/>
        </p:nvSpPr>
        <p:spPr>
          <a:xfrm>
            <a:off x="5468112" y="1426464"/>
            <a:ext cx="420624" cy="228600"/>
          </a:xfrm>
          <a:prstGeom prst="rect">
            <a:avLst/>
          </a:prstGeom>
          <a:solidFill>
            <a:srgbClr val="6366F1"/>
          </a:solidFill>
          <a:ln w="12700">
            <a:solidFill>
              <a:srgbClr val="6366F1"/>
            </a:solidFill>
            <a:prstDash val="solid"/>
          </a:ln>
        </p:spPr>
        <p:txBody>
          <a:bodyPr/>
          <a:lstStyle/>
          <a:p>
            <a:endParaRPr lang="en-US"/>
          </a:p>
        </p:txBody>
      </p:sp>
      <p:sp>
        <p:nvSpPr>
          <p:cNvPr id="25" name="Text 20"/>
          <p:cNvSpPr/>
          <p:nvPr/>
        </p:nvSpPr>
        <p:spPr>
          <a:xfrm>
            <a:off x="5468112" y="1426464"/>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BE</a:t>
            </a:r>
            <a:endParaRPr lang="en-US" sz="800" dirty="0"/>
          </a:p>
        </p:txBody>
      </p:sp>
      <p:sp>
        <p:nvSpPr>
          <p:cNvPr id="26" name="Text 21"/>
          <p:cNvSpPr/>
          <p:nvPr/>
        </p:nvSpPr>
        <p:spPr>
          <a:xfrm>
            <a:off x="5943600" y="1371600"/>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PORT</a:t>
            </a:r>
            <a:endParaRPr lang="en-US" sz="850" dirty="0"/>
          </a:p>
        </p:txBody>
      </p:sp>
      <p:sp>
        <p:nvSpPr>
          <p:cNvPr id="27" name="Text 22"/>
          <p:cNvSpPr/>
          <p:nvPr/>
        </p:nvSpPr>
        <p:spPr>
          <a:xfrm>
            <a:off x="7991856" y="1371600"/>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5000 (default)</a:t>
            </a:r>
            <a:endParaRPr lang="en-US" sz="750" dirty="0"/>
          </a:p>
        </p:txBody>
      </p:sp>
      <p:sp>
        <p:nvSpPr>
          <p:cNvPr id="28" name="Shape 23"/>
          <p:cNvSpPr/>
          <p:nvPr/>
        </p:nvSpPr>
        <p:spPr>
          <a:xfrm>
            <a:off x="5468112" y="1715414"/>
            <a:ext cx="3419856" cy="333756"/>
          </a:xfrm>
          <a:prstGeom prst="rect">
            <a:avLst/>
          </a:prstGeom>
          <a:solidFill>
            <a:srgbClr val="1A2233"/>
          </a:solidFill>
          <a:ln w="12700">
            <a:solidFill>
              <a:srgbClr val="1A2233"/>
            </a:solidFill>
            <a:prstDash val="solid"/>
          </a:ln>
        </p:spPr>
        <p:txBody>
          <a:bodyPr/>
          <a:lstStyle/>
          <a:p>
            <a:endParaRPr lang="en-US"/>
          </a:p>
        </p:txBody>
      </p:sp>
      <p:sp>
        <p:nvSpPr>
          <p:cNvPr id="29" name="Shape 24"/>
          <p:cNvSpPr/>
          <p:nvPr/>
        </p:nvSpPr>
        <p:spPr>
          <a:xfrm>
            <a:off x="5468112" y="1770278"/>
            <a:ext cx="420624" cy="228600"/>
          </a:xfrm>
          <a:prstGeom prst="rect">
            <a:avLst/>
          </a:prstGeom>
          <a:solidFill>
            <a:srgbClr val="6366F1"/>
          </a:solidFill>
          <a:ln w="12700">
            <a:solidFill>
              <a:srgbClr val="6366F1"/>
            </a:solidFill>
            <a:prstDash val="solid"/>
          </a:ln>
        </p:spPr>
        <p:txBody>
          <a:bodyPr/>
          <a:lstStyle/>
          <a:p>
            <a:endParaRPr lang="en-US"/>
          </a:p>
        </p:txBody>
      </p:sp>
      <p:sp>
        <p:nvSpPr>
          <p:cNvPr id="30" name="Text 25"/>
          <p:cNvSpPr/>
          <p:nvPr/>
        </p:nvSpPr>
        <p:spPr>
          <a:xfrm>
            <a:off x="5468112" y="1770278"/>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BE</a:t>
            </a:r>
            <a:endParaRPr lang="en-US" sz="800" dirty="0"/>
          </a:p>
        </p:txBody>
      </p:sp>
      <p:sp>
        <p:nvSpPr>
          <p:cNvPr id="31" name="Text 26"/>
          <p:cNvSpPr/>
          <p:nvPr/>
        </p:nvSpPr>
        <p:spPr>
          <a:xfrm>
            <a:off x="5943600" y="1715414"/>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FIREBASE_PROJECT_ID</a:t>
            </a:r>
            <a:endParaRPr lang="en-US" sz="850" dirty="0"/>
          </a:p>
        </p:txBody>
      </p:sp>
      <p:sp>
        <p:nvSpPr>
          <p:cNvPr id="32" name="Text 27"/>
          <p:cNvSpPr/>
          <p:nvPr/>
        </p:nvSpPr>
        <p:spPr>
          <a:xfrm>
            <a:off x="7991856" y="1715414"/>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Firebase project ID</a:t>
            </a:r>
            <a:endParaRPr lang="en-US" sz="750" dirty="0"/>
          </a:p>
        </p:txBody>
      </p:sp>
      <p:sp>
        <p:nvSpPr>
          <p:cNvPr id="33" name="Shape 28"/>
          <p:cNvSpPr/>
          <p:nvPr/>
        </p:nvSpPr>
        <p:spPr>
          <a:xfrm>
            <a:off x="5468112" y="2059229"/>
            <a:ext cx="3419856" cy="333756"/>
          </a:xfrm>
          <a:prstGeom prst="rect">
            <a:avLst/>
          </a:prstGeom>
          <a:solidFill>
            <a:srgbClr val="161B22"/>
          </a:solidFill>
          <a:ln w="12700">
            <a:solidFill>
              <a:srgbClr val="161B22"/>
            </a:solidFill>
            <a:prstDash val="solid"/>
          </a:ln>
        </p:spPr>
        <p:txBody>
          <a:bodyPr/>
          <a:lstStyle/>
          <a:p>
            <a:endParaRPr lang="en-US"/>
          </a:p>
        </p:txBody>
      </p:sp>
      <p:sp>
        <p:nvSpPr>
          <p:cNvPr id="34" name="Shape 29"/>
          <p:cNvSpPr/>
          <p:nvPr/>
        </p:nvSpPr>
        <p:spPr>
          <a:xfrm>
            <a:off x="5468112" y="2114093"/>
            <a:ext cx="420624" cy="228600"/>
          </a:xfrm>
          <a:prstGeom prst="rect">
            <a:avLst/>
          </a:prstGeom>
          <a:solidFill>
            <a:srgbClr val="6366F1"/>
          </a:solidFill>
          <a:ln w="12700">
            <a:solidFill>
              <a:srgbClr val="6366F1"/>
            </a:solidFill>
            <a:prstDash val="solid"/>
          </a:ln>
        </p:spPr>
        <p:txBody>
          <a:bodyPr/>
          <a:lstStyle/>
          <a:p>
            <a:endParaRPr lang="en-US"/>
          </a:p>
        </p:txBody>
      </p:sp>
      <p:sp>
        <p:nvSpPr>
          <p:cNvPr id="35" name="Text 30"/>
          <p:cNvSpPr/>
          <p:nvPr/>
        </p:nvSpPr>
        <p:spPr>
          <a:xfrm>
            <a:off x="5468112" y="2114093"/>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BE</a:t>
            </a:r>
            <a:endParaRPr lang="en-US" sz="800" dirty="0"/>
          </a:p>
        </p:txBody>
      </p:sp>
      <p:sp>
        <p:nvSpPr>
          <p:cNvPr id="36" name="Text 31"/>
          <p:cNvSpPr/>
          <p:nvPr/>
        </p:nvSpPr>
        <p:spPr>
          <a:xfrm>
            <a:off x="5943600" y="2059229"/>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FIREBASE_SERVICE_ACCOUNT_KEY</a:t>
            </a:r>
            <a:endParaRPr lang="en-US" sz="850" dirty="0"/>
          </a:p>
        </p:txBody>
      </p:sp>
      <p:sp>
        <p:nvSpPr>
          <p:cNvPr id="37" name="Text 32"/>
          <p:cNvSpPr/>
          <p:nvPr/>
        </p:nvSpPr>
        <p:spPr>
          <a:xfrm>
            <a:off x="7991856" y="2059229"/>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JSON string (secret!)</a:t>
            </a:r>
            <a:endParaRPr lang="en-US" sz="750" dirty="0"/>
          </a:p>
        </p:txBody>
      </p:sp>
      <p:sp>
        <p:nvSpPr>
          <p:cNvPr id="38" name="Shape 33"/>
          <p:cNvSpPr/>
          <p:nvPr/>
        </p:nvSpPr>
        <p:spPr>
          <a:xfrm>
            <a:off x="5468112" y="2403043"/>
            <a:ext cx="3419856" cy="333756"/>
          </a:xfrm>
          <a:prstGeom prst="rect">
            <a:avLst/>
          </a:prstGeom>
          <a:solidFill>
            <a:srgbClr val="1A2233"/>
          </a:solidFill>
          <a:ln w="12700">
            <a:solidFill>
              <a:srgbClr val="1A2233"/>
            </a:solidFill>
            <a:prstDash val="solid"/>
          </a:ln>
        </p:spPr>
        <p:txBody>
          <a:bodyPr/>
          <a:lstStyle/>
          <a:p>
            <a:endParaRPr lang="en-US"/>
          </a:p>
        </p:txBody>
      </p:sp>
      <p:sp>
        <p:nvSpPr>
          <p:cNvPr id="39" name="Shape 34"/>
          <p:cNvSpPr/>
          <p:nvPr/>
        </p:nvSpPr>
        <p:spPr>
          <a:xfrm>
            <a:off x="5468112" y="2457907"/>
            <a:ext cx="420624" cy="228600"/>
          </a:xfrm>
          <a:prstGeom prst="rect">
            <a:avLst/>
          </a:prstGeom>
          <a:solidFill>
            <a:srgbClr val="6366F1"/>
          </a:solidFill>
          <a:ln w="12700">
            <a:solidFill>
              <a:srgbClr val="6366F1"/>
            </a:solidFill>
            <a:prstDash val="solid"/>
          </a:ln>
        </p:spPr>
        <p:txBody>
          <a:bodyPr/>
          <a:lstStyle/>
          <a:p>
            <a:endParaRPr lang="en-US"/>
          </a:p>
        </p:txBody>
      </p:sp>
      <p:sp>
        <p:nvSpPr>
          <p:cNvPr id="40" name="Text 35"/>
          <p:cNvSpPr/>
          <p:nvPr/>
        </p:nvSpPr>
        <p:spPr>
          <a:xfrm>
            <a:off x="5468112" y="2457907"/>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BE</a:t>
            </a:r>
            <a:endParaRPr lang="en-US" sz="800" dirty="0"/>
          </a:p>
        </p:txBody>
      </p:sp>
      <p:sp>
        <p:nvSpPr>
          <p:cNvPr id="41" name="Text 36"/>
          <p:cNvSpPr/>
          <p:nvPr/>
        </p:nvSpPr>
        <p:spPr>
          <a:xfrm>
            <a:off x="5943600" y="2403043"/>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SUPABASE_URL</a:t>
            </a:r>
            <a:endParaRPr lang="en-US" sz="850" dirty="0"/>
          </a:p>
        </p:txBody>
      </p:sp>
      <p:sp>
        <p:nvSpPr>
          <p:cNvPr id="42" name="Text 37"/>
          <p:cNvSpPr/>
          <p:nvPr/>
        </p:nvSpPr>
        <p:spPr>
          <a:xfrm>
            <a:off x="7991856" y="2403043"/>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Project URL</a:t>
            </a:r>
            <a:endParaRPr lang="en-US" sz="750" dirty="0"/>
          </a:p>
        </p:txBody>
      </p:sp>
      <p:sp>
        <p:nvSpPr>
          <p:cNvPr id="43" name="Shape 38"/>
          <p:cNvSpPr/>
          <p:nvPr/>
        </p:nvSpPr>
        <p:spPr>
          <a:xfrm>
            <a:off x="5468112" y="2746858"/>
            <a:ext cx="3419856" cy="333756"/>
          </a:xfrm>
          <a:prstGeom prst="rect">
            <a:avLst/>
          </a:prstGeom>
          <a:solidFill>
            <a:srgbClr val="161B22"/>
          </a:solidFill>
          <a:ln w="12700">
            <a:solidFill>
              <a:srgbClr val="161B22"/>
            </a:solidFill>
            <a:prstDash val="solid"/>
          </a:ln>
        </p:spPr>
        <p:txBody>
          <a:bodyPr/>
          <a:lstStyle/>
          <a:p>
            <a:endParaRPr lang="en-US"/>
          </a:p>
        </p:txBody>
      </p:sp>
      <p:sp>
        <p:nvSpPr>
          <p:cNvPr id="44" name="Shape 39"/>
          <p:cNvSpPr/>
          <p:nvPr/>
        </p:nvSpPr>
        <p:spPr>
          <a:xfrm>
            <a:off x="5468112" y="2801722"/>
            <a:ext cx="420624" cy="228600"/>
          </a:xfrm>
          <a:prstGeom prst="rect">
            <a:avLst/>
          </a:prstGeom>
          <a:solidFill>
            <a:srgbClr val="6366F1"/>
          </a:solidFill>
          <a:ln w="12700">
            <a:solidFill>
              <a:srgbClr val="6366F1"/>
            </a:solidFill>
            <a:prstDash val="solid"/>
          </a:ln>
        </p:spPr>
        <p:txBody>
          <a:bodyPr/>
          <a:lstStyle/>
          <a:p>
            <a:endParaRPr lang="en-US"/>
          </a:p>
        </p:txBody>
      </p:sp>
      <p:sp>
        <p:nvSpPr>
          <p:cNvPr id="45" name="Text 40"/>
          <p:cNvSpPr/>
          <p:nvPr/>
        </p:nvSpPr>
        <p:spPr>
          <a:xfrm>
            <a:off x="5468112" y="2801722"/>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BE</a:t>
            </a:r>
            <a:endParaRPr lang="en-US" sz="800" dirty="0"/>
          </a:p>
        </p:txBody>
      </p:sp>
      <p:sp>
        <p:nvSpPr>
          <p:cNvPr id="46" name="Text 41"/>
          <p:cNvSpPr/>
          <p:nvPr/>
        </p:nvSpPr>
        <p:spPr>
          <a:xfrm>
            <a:off x="5943600" y="2746858"/>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SUPABASE_SERVICE_ROLE_KEY</a:t>
            </a:r>
            <a:endParaRPr lang="en-US" sz="850" dirty="0"/>
          </a:p>
        </p:txBody>
      </p:sp>
      <p:sp>
        <p:nvSpPr>
          <p:cNvPr id="47" name="Text 42"/>
          <p:cNvSpPr/>
          <p:nvPr/>
        </p:nvSpPr>
        <p:spPr>
          <a:xfrm>
            <a:off x="7991856" y="2746858"/>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Service key (secret!)</a:t>
            </a:r>
            <a:endParaRPr lang="en-US" sz="750" dirty="0"/>
          </a:p>
        </p:txBody>
      </p:sp>
      <p:sp>
        <p:nvSpPr>
          <p:cNvPr id="48" name="Shape 43"/>
          <p:cNvSpPr/>
          <p:nvPr/>
        </p:nvSpPr>
        <p:spPr>
          <a:xfrm>
            <a:off x="5468112" y="3090672"/>
            <a:ext cx="3419856" cy="333756"/>
          </a:xfrm>
          <a:prstGeom prst="rect">
            <a:avLst/>
          </a:prstGeom>
          <a:solidFill>
            <a:srgbClr val="1A2233"/>
          </a:solidFill>
          <a:ln w="12700">
            <a:solidFill>
              <a:srgbClr val="1A2233"/>
            </a:solidFill>
            <a:prstDash val="solid"/>
          </a:ln>
        </p:spPr>
        <p:txBody>
          <a:bodyPr/>
          <a:lstStyle/>
          <a:p>
            <a:endParaRPr lang="en-US"/>
          </a:p>
        </p:txBody>
      </p:sp>
      <p:sp>
        <p:nvSpPr>
          <p:cNvPr id="49" name="Shape 44"/>
          <p:cNvSpPr/>
          <p:nvPr/>
        </p:nvSpPr>
        <p:spPr>
          <a:xfrm>
            <a:off x="5468112" y="3145536"/>
            <a:ext cx="420624" cy="228600"/>
          </a:xfrm>
          <a:prstGeom prst="rect">
            <a:avLst/>
          </a:prstGeom>
          <a:solidFill>
            <a:srgbClr val="6366F1"/>
          </a:solidFill>
          <a:ln w="12700">
            <a:solidFill>
              <a:srgbClr val="6366F1"/>
            </a:solidFill>
            <a:prstDash val="solid"/>
          </a:ln>
        </p:spPr>
        <p:txBody>
          <a:bodyPr/>
          <a:lstStyle/>
          <a:p>
            <a:endParaRPr lang="en-US"/>
          </a:p>
        </p:txBody>
      </p:sp>
      <p:sp>
        <p:nvSpPr>
          <p:cNvPr id="50" name="Text 45"/>
          <p:cNvSpPr/>
          <p:nvPr/>
        </p:nvSpPr>
        <p:spPr>
          <a:xfrm>
            <a:off x="5468112" y="3145536"/>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BE</a:t>
            </a:r>
            <a:endParaRPr lang="en-US" sz="800" dirty="0"/>
          </a:p>
        </p:txBody>
      </p:sp>
      <p:sp>
        <p:nvSpPr>
          <p:cNvPr id="51" name="Text 46"/>
          <p:cNvSpPr/>
          <p:nvPr/>
        </p:nvSpPr>
        <p:spPr>
          <a:xfrm>
            <a:off x="5943600" y="3090672"/>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FRONTEND_URL</a:t>
            </a:r>
            <a:endParaRPr lang="en-US" sz="850" dirty="0"/>
          </a:p>
        </p:txBody>
      </p:sp>
      <p:sp>
        <p:nvSpPr>
          <p:cNvPr id="52" name="Text 47"/>
          <p:cNvSpPr/>
          <p:nvPr/>
        </p:nvSpPr>
        <p:spPr>
          <a:xfrm>
            <a:off x="7991856" y="3090672"/>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Vercel domain</a:t>
            </a:r>
            <a:endParaRPr lang="en-US" sz="750" dirty="0"/>
          </a:p>
        </p:txBody>
      </p:sp>
      <p:sp>
        <p:nvSpPr>
          <p:cNvPr id="53" name="Shape 48"/>
          <p:cNvSpPr/>
          <p:nvPr/>
        </p:nvSpPr>
        <p:spPr>
          <a:xfrm>
            <a:off x="5468112" y="3434486"/>
            <a:ext cx="3419856" cy="333756"/>
          </a:xfrm>
          <a:prstGeom prst="rect">
            <a:avLst/>
          </a:prstGeom>
          <a:solidFill>
            <a:srgbClr val="161B22"/>
          </a:solidFill>
          <a:ln w="12700">
            <a:solidFill>
              <a:srgbClr val="161B22"/>
            </a:solidFill>
            <a:prstDash val="solid"/>
          </a:ln>
        </p:spPr>
        <p:txBody>
          <a:bodyPr/>
          <a:lstStyle/>
          <a:p>
            <a:endParaRPr lang="en-US"/>
          </a:p>
        </p:txBody>
      </p:sp>
      <p:sp>
        <p:nvSpPr>
          <p:cNvPr id="54" name="Shape 49"/>
          <p:cNvSpPr/>
          <p:nvPr/>
        </p:nvSpPr>
        <p:spPr>
          <a:xfrm>
            <a:off x="5468112" y="3489350"/>
            <a:ext cx="420624" cy="228600"/>
          </a:xfrm>
          <a:prstGeom prst="rect">
            <a:avLst/>
          </a:prstGeom>
          <a:solidFill>
            <a:srgbClr val="10B981"/>
          </a:solidFill>
          <a:ln w="12700">
            <a:solidFill>
              <a:srgbClr val="10B981"/>
            </a:solidFill>
            <a:prstDash val="solid"/>
          </a:ln>
        </p:spPr>
        <p:txBody>
          <a:bodyPr/>
          <a:lstStyle/>
          <a:p>
            <a:endParaRPr lang="en-US"/>
          </a:p>
        </p:txBody>
      </p:sp>
      <p:sp>
        <p:nvSpPr>
          <p:cNvPr id="55" name="Text 50"/>
          <p:cNvSpPr/>
          <p:nvPr/>
        </p:nvSpPr>
        <p:spPr>
          <a:xfrm>
            <a:off x="5468112" y="3489350"/>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FE</a:t>
            </a:r>
            <a:endParaRPr lang="en-US" sz="800" dirty="0"/>
          </a:p>
        </p:txBody>
      </p:sp>
      <p:sp>
        <p:nvSpPr>
          <p:cNvPr id="56" name="Text 51"/>
          <p:cNvSpPr/>
          <p:nvPr/>
        </p:nvSpPr>
        <p:spPr>
          <a:xfrm>
            <a:off x="5943600" y="3434486"/>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VITE_FIREBASE_API_KEY</a:t>
            </a:r>
            <a:endParaRPr lang="en-US" sz="850" dirty="0"/>
          </a:p>
        </p:txBody>
      </p:sp>
      <p:sp>
        <p:nvSpPr>
          <p:cNvPr id="57" name="Text 52"/>
          <p:cNvSpPr/>
          <p:nvPr/>
        </p:nvSpPr>
        <p:spPr>
          <a:xfrm>
            <a:off x="7991856" y="3434486"/>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Web API key</a:t>
            </a:r>
            <a:endParaRPr lang="en-US" sz="750" dirty="0"/>
          </a:p>
        </p:txBody>
      </p:sp>
      <p:sp>
        <p:nvSpPr>
          <p:cNvPr id="58" name="Shape 53"/>
          <p:cNvSpPr/>
          <p:nvPr/>
        </p:nvSpPr>
        <p:spPr>
          <a:xfrm>
            <a:off x="5468112" y="3778301"/>
            <a:ext cx="3419856" cy="333756"/>
          </a:xfrm>
          <a:prstGeom prst="rect">
            <a:avLst/>
          </a:prstGeom>
          <a:solidFill>
            <a:srgbClr val="1A2233"/>
          </a:solidFill>
          <a:ln w="12700">
            <a:solidFill>
              <a:srgbClr val="1A2233"/>
            </a:solidFill>
            <a:prstDash val="solid"/>
          </a:ln>
        </p:spPr>
        <p:txBody>
          <a:bodyPr/>
          <a:lstStyle/>
          <a:p>
            <a:endParaRPr lang="en-US"/>
          </a:p>
        </p:txBody>
      </p:sp>
      <p:sp>
        <p:nvSpPr>
          <p:cNvPr id="59" name="Shape 54"/>
          <p:cNvSpPr/>
          <p:nvPr/>
        </p:nvSpPr>
        <p:spPr>
          <a:xfrm>
            <a:off x="5468112" y="3833165"/>
            <a:ext cx="420624" cy="228600"/>
          </a:xfrm>
          <a:prstGeom prst="rect">
            <a:avLst/>
          </a:prstGeom>
          <a:solidFill>
            <a:srgbClr val="10B981"/>
          </a:solidFill>
          <a:ln w="12700">
            <a:solidFill>
              <a:srgbClr val="10B981"/>
            </a:solidFill>
            <a:prstDash val="solid"/>
          </a:ln>
        </p:spPr>
        <p:txBody>
          <a:bodyPr/>
          <a:lstStyle/>
          <a:p>
            <a:endParaRPr lang="en-US"/>
          </a:p>
        </p:txBody>
      </p:sp>
      <p:sp>
        <p:nvSpPr>
          <p:cNvPr id="60" name="Text 55"/>
          <p:cNvSpPr/>
          <p:nvPr/>
        </p:nvSpPr>
        <p:spPr>
          <a:xfrm>
            <a:off x="5468112" y="3833165"/>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FE</a:t>
            </a:r>
            <a:endParaRPr lang="en-US" sz="800" dirty="0"/>
          </a:p>
        </p:txBody>
      </p:sp>
      <p:sp>
        <p:nvSpPr>
          <p:cNvPr id="61" name="Text 56"/>
          <p:cNvSpPr/>
          <p:nvPr/>
        </p:nvSpPr>
        <p:spPr>
          <a:xfrm>
            <a:off x="5943600" y="3778301"/>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VITE_FIREBASE_AUTH_DOMAIN</a:t>
            </a:r>
            <a:endParaRPr lang="en-US" sz="850" dirty="0"/>
          </a:p>
        </p:txBody>
      </p:sp>
      <p:sp>
        <p:nvSpPr>
          <p:cNvPr id="62" name="Text 57"/>
          <p:cNvSpPr/>
          <p:nvPr/>
        </p:nvSpPr>
        <p:spPr>
          <a:xfrm>
            <a:off x="7991856" y="3778301"/>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Auth domain</a:t>
            </a:r>
            <a:endParaRPr lang="en-US" sz="750" dirty="0"/>
          </a:p>
        </p:txBody>
      </p:sp>
      <p:sp>
        <p:nvSpPr>
          <p:cNvPr id="63" name="Shape 58"/>
          <p:cNvSpPr/>
          <p:nvPr/>
        </p:nvSpPr>
        <p:spPr>
          <a:xfrm>
            <a:off x="5468112" y="4122115"/>
            <a:ext cx="3419856" cy="333756"/>
          </a:xfrm>
          <a:prstGeom prst="rect">
            <a:avLst/>
          </a:prstGeom>
          <a:solidFill>
            <a:srgbClr val="161B22"/>
          </a:solidFill>
          <a:ln w="12700">
            <a:solidFill>
              <a:srgbClr val="161B22"/>
            </a:solidFill>
            <a:prstDash val="solid"/>
          </a:ln>
        </p:spPr>
        <p:txBody>
          <a:bodyPr/>
          <a:lstStyle/>
          <a:p>
            <a:endParaRPr lang="en-US"/>
          </a:p>
        </p:txBody>
      </p:sp>
      <p:sp>
        <p:nvSpPr>
          <p:cNvPr id="64" name="Shape 59"/>
          <p:cNvSpPr/>
          <p:nvPr/>
        </p:nvSpPr>
        <p:spPr>
          <a:xfrm>
            <a:off x="5468112" y="4176979"/>
            <a:ext cx="420624" cy="228600"/>
          </a:xfrm>
          <a:prstGeom prst="rect">
            <a:avLst/>
          </a:prstGeom>
          <a:solidFill>
            <a:srgbClr val="10B981"/>
          </a:solidFill>
          <a:ln w="12700">
            <a:solidFill>
              <a:srgbClr val="10B981"/>
            </a:solidFill>
            <a:prstDash val="solid"/>
          </a:ln>
        </p:spPr>
        <p:txBody>
          <a:bodyPr/>
          <a:lstStyle/>
          <a:p>
            <a:endParaRPr lang="en-US"/>
          </a:p>
        </p:txBody>
      </p:sp>
      <p:sp>
        <p:nvSpPr>
          <p:cNvPr id="65" name="Text 60"/>
          <p:cNvSpPr/>
          <p:nvPr/>
        </p:nvSpPr>
        <p:spPr>
          <a:xfrm>
            <a:off x="5468112" y="4176979"/>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FE</a:t>
            </a:r>
            <a:endParaRPr lang="en-US" sz="800" dirty="0"/>
          </a:p>
        </p:txBody>
      </p:sp>
      <p:sp>
        <p:nvSpPr>
          <p:cNvPr id="66" name="Text 61"/>
          <p:cNvSpPr/>
          <p:nvPr/>
        </p:nvSpPr>
        <p:spPr>
          <a:xfrm>
            <a:off x="5943600" y="4122115"/>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VITE_SUPABASE_URL</a:t>
            </a:r>
            <a:endParaRPr lang="en-US" sz="850" dirty="0"/>
          </a:p>
        </p:txBody>
      </p:sp>
      <p:sp>
        <p:nvSpPr>
          <p:cNvPr id="67" name="Text 62"/>
          <p:cNvSpPr/>
          <p:nvPr/>
        </p:nvSpPr>
        <p:spPr>
          <a:xfrm>
            <a:off x="7991856" y="4122115"/>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Project URL</a:t>
            </a:r>
            <a:endParaRPr lang="en-US" sz="750" dirty="0"/>
          </a:p>
        </p:txBody>
      </p:sp>
      <p:sp>
        <p:nvSpPr>
          <p:cNvPr id="68" name="Shape 63"/>
          <p:cNvSpPr/>
          <p:nvPr/>
        </p:nvSpPr>
        <p:spPr>
          <a:xfrm>
            <a:off x="5468112" y="4465930"/>
            <a:ext cx="3419856" cy="333756"/>
          </a:xfrm>
          <a:prstGeom prst="rect">
            <a:avLst/>
          </a:prstGeom>
          <a:solidFill>
            <a:srgbClr val="1A2233"/>
          </a:solidFill>
          <a:ln w="12700">
            <a:solidFill>
              <a:srgbClr val="1A2233"/>
            </a:solidFill>
            <a:prstDash val="solid"/>
          </a:ln>
        </p:spPr>
        <p:txBody>
          <a:bodyPr/>
          <a:lstStyle/>
          <a:p>
            <a:endParaRPr lang="en-US"/>
          </a:p>
        </p:txBody>
      </p:sp>
      <p:sp>
        <p:nvSpPr>
          <p:cNvPr id="69" name="Shape 64"/>
          <p:cNvSpPr/>
          <p:nvPr/>
        </p:nvSpPr>
        <p:spPr>
          <a:xfrm>
            <a:off x="5468112" y="4520794"/>
            <a:ext cx="420624" cy="228600"/>
          </a:xfrm>
          <a:prstGeom prst="rect">
            <a:avLst/>
          </a:prstGeom>
          <a:solidFill>
            <a:srgbClr val="10B981"/>
          </a:solidFill>
          <a:ln w="12700">
            <a:solidFill>
              <a:srgbClr val="10B981"/>
            </a:solidFill>
            <a:prstDash val="solid"/>
          </a:ln>
        </p:spPr>
        <p:txBody>
          <a:bodyPr/>
          <a:lstStyle/>
          <a:p>
            <a:endParaRPr lang="en-US"/>
          </a:p>
        </p:txBody>
      </p:sp>
      <p:sp>
        <p:nvSpPr>
          <p:cNvPr id="70" name="Text 65"/>
          <p:cNvSpPr/>
          <p:nvPr/>
        </p:nvSpPr>
        <p:spPr>
          <a:xfrm>
            <a:off x="5468112" y="4520794"/>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FE</a:t>
            </a:r>
            <a:endParaRPr lang="en-US" sz="800" dirty="0"/>
          </a:p>
        </p:txBody>
      </p:sp>
      <p:sp>
        <p:nvSpPr>
          <p:cNvPr id="71" name="Text 66"/>
          <p:cNvSpPr/>
          <p:nvPr/>
        </p:nvSpPr>
        <p:spPr>
          <a:xfrm>
            <a:off x="5943600" y="4465930"/>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VITE_SUPABASE_ANON_KEY</a:t>
            </a:r>
            <a:endParaRPr lang="en-US" sz="850" dirty="0"/>
          </a:p>
        </p:txBody>
      </p:sp>
      <p:sp>
        <p:nvSpPr>
          <p:cNvPr id="72" name="Text 67"/>
          <p:cNvSpPr/>
          <p:nvPr/>
        </p:nvSpPr>
        <p:spPr>
          <a:xfrm>
            <a:off x="7991856" y="4465930"/>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Public anon key</a:t>
            </a:r>
            <a:endParaRPr lang="en-US" sz="750" dirty="0"/>
          </a:p>
        </p:txBody>
      </p:sp>
      <p:sp>
        <p:nvSpPr>
          <p:cNvPr id="73" name="Shape 68"/>
          <p:cNvSpPr/>
          <p:nvPr/>
        </p:nvSpPr>
        <p:spPr>
          <a:xfrm>
            <a:off x="5468112" y="4809744"/>
            <a:ext cx="3419856" cy="333756"/>
          </a:xfrm>
          <a:prstGeom prst="rect">
            <a:avLst/>
          </a:prstGeom>
          <a:solidFill>
            <a:srgbClr val="161B22"/>
          </a:solidFill>
          <a:ln w="12700">
            <a:solidFill>
              <a:srgbClr val="161B22"/>
            </a:solidFill>
            <a:prstDash val="solid"/>
          </a:ln>
        </p:spPr>
        <p:txBody>
          <a:bodyPr/>
          <a:lstStyle/>
          <a:p>
            <a:endParaRPr lang="en-US"/>
          </a:p>
        </p:txBody>
      </p:sp>
      <p:sp>
        <p:nvSpPr>
          <p:cNvPr id="74" name="Shape 69"/>
          <p:cNvSpPr/>
          <p:nvPr/>
        </p:nvSpPr>
        <p:spPr>
          <a:xfrm>
            <a:off x="5468112" y="4864608"/>
            <a:ext cx="420624" cy="228600"/>
          </a:xfrm>
          <a:prstGeom prst="rect">
            <a:avLst/>
          </a:prstGeom>
          <a:solidFill>
            <a:srgbClr val="10B981"/>
          </a:solidFill>
          <a:ln w="12700">
            <a:solidFill>
              <a:srgbClr val="10B981"/>
            </a:solidFill>
            <a:prstDash val="solid"/>
          </a:ln>
        </p:spPr>
        <p:txBody>
          <a:bodyPr/>
          <a:lstStyle/>
          <a:p>
            <a:endParaRPr lang="en-US"/>
          </a:p>
        </p:txBody>
      </p:sp>
      <p:sp>
        <p:nvSpPr>
          <p:cNvPr id="75" name="Text 70"/>
          <p:cNvSpPr/>
          <p:nvPr/>
        </p:nvSpPr>
        <p:spPr>
          <a:xfrm>
            <a:off x="5468112" y="4864608"/>
            <a:ext cx="420624" cy="228600"/>
          </a:xfrm>
          <a:prstGeom prst="rect">
            <a:avLst/>
          </a:prstGeom>
          <a:noFill/>
          <a:ln/>
        </p:spPr>
        <p:txBody>
          <a:bodyPr wrap="square" rtlCol="0" anchor="ctr"/>
          <a:lstStyle/>
          <a:p>
            <a:pPr marL="0" indent="0" algn="ctr">
              <a:buNone/>
            </a:pPr>
            <a:r>
              <a:rPr lang="en-US" sz="800" b="1" dirty="0">
                <a:solidFill>
                  <a:srgbClr val="0D1117"/>
                </a:solidFill>
                <a:latin typeface="Calibri" pitchFamily="34" charset="0"/>
                <a:ea typeface="Calibri" pitchFamily="34" charset="-122"/>
                <a:cs typeface="Calibri" pitchFamily="34" charset="-120"/>
              </a:rPr>
              <a:t>FE</a:t>
            </a:r>
            <a:endParaRPr lang="en-US" sz="800" dirty="0"/>
          </a:p>
        </p:txBody>
      </p:sp>
      <p:sp>
        <p:nvSpPr>
          <p:cNvPr id="76" name="Text 71"/>
          <p:cNvSpPr/>
          <p:nvPr/>
        </p:nvSpPr>
        <p:spPr>
          <a:xfrm>
            <a:off x="5943600" y="4809744"/>
            <a:ext cx="2011680" cy="333756"/>
          </a:xfrm>
          <a:prstGeom prst="rect">
            <a:avLst/>
          </a:prstGeom>
          <a:noFill/>
          <a:ln/>
        </p:spPr>
        <p:txBody>
          <a:bodyPr wrap="square" lIns="0" tIns="0" rIns="0" bIns="0" rtlCol="0" anchor="ctr"/>
          <a:lstStyle/>
          <a:p>
            <a:pPr marL="0" indent="0">
              <a:buNone/>
            </a:pPr>
            <a:r>
              <a:rPr lang="en-US" sz="850" dirty="0">
                <a:solidFill>
                  <a:srgbClr val="22D3EE"/>
                </a:solidFill>
                <a:latin typeface="Consolas" pitchFamily="34" charset="0"/>
                <a:ea typeface="Consolas" pitchFamily="34" charset="-122"/>
                <a:cs typeface="Consolas" pitchFamily="34" charset="-120"/>
              </a:rPr>
              <a:t>VITE_API_URL</a:t>
            </a:r>
            <a:endParaRPr lang="en-US" sz="850" dirty="0"/>
          </a:p>
        </p:txBody>
      </p:sp>
      <p:sp>
        <p:nvSpPr>
          <p:cNvPr id="77" name="Text 72"/>
          <p:cNvSpPr/>
          <p:nvPr/>
        </p:nvSpPr>
        <p:spPr>
          <a:xfrm>
            <a:off x="7991856" y="4809744"/>
            <a:ext cx="822960" cy="333756"/>
          </a:xfrm>
          <a:prstGeom prst="rect">
            <a:avLst/>
          </a:prstGeom>
          <a:noFill/>
          <a:ln/>
        </p:spPr>
        <p:txBody>
          <a:bodyPr wrap="square" lIns="0" tIns="0" rIns="0" bIns="0" rtlCol="0" anchor="ctr"/>
          <a:lstStyle/>
          <a:p>
            <a:pPr marL="0" indent="0">
              <a:buNone/>
            </a:pPr>
            <a:r>
              <a:rPr lang="en-US" sz="750" dirty="0">
                <a:solidFill>
                  <a:srgbClr val="8B949E"/>
                </a:solidFill>
                <a:latin typeface="Calibri" pitchFamily="34" charset="0"/>
                <a:ea typeface="Calibri" pitchFamily="34" charset="-122"/>
                <a:cs typeface="Calibri" pitchFamily="34" charset="-120"/>
              </a:rPr>
              <a:t>Backend base URL</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233"/>
          </a:solidFill>
          <a:ln w="12700">
            <a:solidFill>
              <a:srgbClr val="1A2233"/>
            </a:solidFill>
            <a:prstDash val="solid"/>
          </a:ln>
        </p:spPr>
        <p:txBody>
          <a:bodyPr/>
          <a:lstStyle/>
          <a:p>
            <a:endParaRPr lang="en-US"/>
          </a:p>
        </p:txBody>
      </p:sp>
      <p:sp>
        <p:nvSpPr>
          <p:cNvPr id="3" name="Shape 1"/>
          <p:cNvSpPr/>
          <p:nvPr/>
        </p:nvSpPr>
        <p:spPr>
          <a:xfrm>
            <a:off x="7132320" y="-548640"/>
            <a:ext cx="2194560" cy="2194560"/>
          </a:xfrm>
          <a:prstGeom prst="ellipse">
            <a:avLst/>
          </a:prstGeom>
          <a:solidFill>
            <a:srgbClr val="6366F1">
              <a:alpha val="26000"/>
            </a:srgbClr>
          </a:solidFill>
          <a:ln w="10160">
            <a:solidFill>
              <a:srgbClr val="6366F1"/>
            </a:solidFill>
            <a:prstDash val="solid"/>
          </a:ln>
        </p:spPr>
        <p:txBody>
          <a:bodyPr/>
          <a:lstStyle/>
          <a:p>
            <a:endParaRPr lang="en-US"/>
          </a:p>
        </p:txBody>
      </p:sp>
      <p:sp>
        <p:nvSpPr>
          <p:cNvPr id="4" name="Shape 2"/>
          <p:cNvSpPr/>
          <p:nvPr/>
        </p:nvSpPr>
        <p:spPr>
          <a:xfrm>
            <a:off x="8321040" y="1188720"/>
            <a:ext cx="1280160" cy="1280160"/>
          </a:xfrm>
          <a:prstGeom prst="ellipse">
            <a:avLst/>
          </a:prstGeom>
          <a:solidFill>
            <a:srgbClr val="8B5CF6">
              <a:alpha val="26000"/>
            </a:srgbClr>
          </a:solidFill>
          <a:ln w="10160">
            <a:solidFill>
              <a:srgbClr val="8B5CF6"/>
            </a:solidFill>
            <a:prstDash val="solid"/>
          </a:ln>
        </p:spPr>
        <p:txBody>
          <a:bodyPr/>
          <a:lstStyle/>
          <a:p>
            <a:endParaRPr lang="en-US"/>
          </a:p>
        </p:txBody>
      </p:sp>
      <p:sp>
        <p:nvSpPr>
          <p:cNvPr id="5" name="Shape 3"/>
          <p:cNvSpPr/>
          <p:nvPr/>
        </p:nvSpPr>
        <p:spPr>
          <a:xfrm>
            <a:off x="7132320" y="1737360"/>
            <a:ext cx="914400" cy="914400"/>
          </a:xfrm>
          <a:prstGeom prst="ellipse">
            <a:avLst/>
          </a:prstGeom>
          <a:solidFill>
            <a:srgbClr val="22D3EE">
              <a:alpha val="26000"/>
            </a:srgbClr>
          </a:solidFill>
          <a:ln w="10160">
            <a:solidFill>
              <a:srgbClr val="22D3EE"/>
            </a:solidFill>
            <a:prstDash val="solid"/>
          </a:ln>
        </p:spPr>
        <p:txBody>
          <a:bodyPr/>
          <a:lstStyle/>
          <a:p>
            <a:endParaRPr lang="en-US"/>
          </a:p>
        </p:txBody>
      </p:sp>
      <p:sp>
        <p:nvSpPr>
          <p:cNvPr id="6" name="Shape 4"/>
          <p:cNvSpPr/>
          <p:nvPr/>
        </p:nvSpPr>
        <p:spPr>
          <a:xfrm>
            <a:off x="-365760" y="3657600"/>
            <a:ext cx="1645920" cy="1645920"/>
          </a:xfrm>
          <a:prstGeom prst="ellipse">
            <a:avLst/>
          </a:prstGeom>
          <a:solidFill>
            <a:srgbClr val="F43F5E">
              <a:alpha val="26000"/>
            </a:srgbClr>
          </a:solidFill>
          <a:ln w="10160">
            <a:solidFill>
              <a:srgbClr val="F43F5E"/>
            </a:solidFill>
            <a:prstDash val="solid"/>
          </a:ln>
        </p:spPr>
        <p:txBody>
          <a:bodyPr/>
          <a:lstStyle/>
          <a:p>
            <a:endParaRPr lang="en-US"/>
          </a:p>
        </p:txBody>
      </p:sp>
      <p:sp>
        <p:nvSpPr>
          <p:cNvPr id="7" name="Shape 5"/>
          <p:cNvSpPr/>
          <p:nvPr/>
        </p:nvSpPr>
        <p:spPr>
          <a:xfrm>
            <a:off x="685800" y="2788920"/>
            <a:ext cx="1005840" cy="1005840"/>
          </a:xfrm>
          <a:prstGeom prst="ellipse">
            <a:avLst/>
          </a:prstGeom>
          <a:solidFill>
            <a:srgbClr val="F59E0B">
              <a:alpha val="26000"/>
            </a:srgbClr>
          </a:solidFill>
          <a:ln w="10160">
            <a:solidFill>
              <a:srgbClr val="F59E0B"/>
            </a:solidFill>
            <a:prstDash val="solid"/>
          </a:ln>
        </p:spPr>
        <p:txBody>
          <a:bodyPr/>
          <a:lstStyle/>
          <a:p>
            <a:endParaRPr lang="en-US"/>
          </a:p>
        </p:txBody>
      </p:sp>
      <p:sp>
        <p:nvSpPr>
          <p:cNvPr id="8" name="Shape 6"/>
          <p:cNvSpPr/>
          <p:nvPr/>
        </p:nvSpPr>
        <p:spPr>
          <a:xfrm>
            <a:off x="-45720" y="1508760"/>
            <a:ext cx="640080" cy="640080"/>
          </a:xfrm>
          <a:prstGeom prst="ellipse">
            <a:avLst/>
          </a:prstGeom>
          <a:solidFill>
            <a:srgbClr val="10B981">
              <a:alpha val="26000"/>
            </a:srgbClr>
          </a:solidFill>
          <a:ln w="10160">
            <a:solidFill>
              <a:srgbClr val="10B981"/>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274320" y="457200"/>
            <a:ext cx="1920240" cy="2112264"/>
          </a:xfrm>
          <a:prstGeom prst="rect">
            <a:avLst/>
          </a:prstGeom>
        </p:spPr>
      </p:pic>
      <p:pic>
        <p:nvPicPr>
          <p:cNvPr id="10" name="Image 1" descr="preencoded.png"/>
          <p:cNvPicPr>
            <a:picLocks noChangeAspect="1"/>
          </p:cNvPicPr>
          <p:nvPr/>
        </p:nvPicPr>
        <p:blipFill>
          <a:blip r:embed="rId4"/>
          <a:stretch>
            <a:fillRect/>
          </a:stretch>
        </p:blipFill>
        <p:spPr>
          <a:xfrm>
            <a:off x="6858000" y="2743200"/>
            <a:ext cx="2103120" cy="1408176"/>
          </a:xfrm>
          <a:prstGeom prst="rect">
            <a:avLst/>
          </a:prstGeom>
        </p:spPr>
      </p:pic>
      <p:sp>
        <p:nvSpPr>
          <p:cNvPr id="11" name="Text 7"/>
          <p:cNvSpPr/>
          <p:nvPr/>
        </p:nvSpPr>
        <p:spPr>
          <a:xfrm>
            <a:off x="2377440" y="749808"/>
            <a:ext cx="5486400" cy="868680"/>
          </a:xfrm>
          <a:prstGeom prst="rect">
            <a:avLst/>
          </a:prstGeom>
          <a:noFill/>
          <a:ln/>
        </p:spPr>
        <p:txBody>
          <a:bodyPr wrap="square" rtlCol="0" anchor="ctr"/>
          <a:lstStyle/>
          <a:p>
            <a:pPr marL="0" indent="0" algn="ctr">
              <a:buNone/>
            </a:pPr>
            <a:r>
              <a:rPr lang="en-US" sz="5800" b="1" dirty="0">
                <a:solidFill>
                  <a:srgbClr val="F0F6FC"/>
                </a:solidFill>
                <a:latin typeface="Calibri" pitchFamily="34" charset="0"/>
                <a:ea typeface="Calibri" pitchFamily="34" charset="-122"/>
                <a:cs typeface="Calibri" pitchFamily="34" charset="-120"/>
              </a:rPr>
              <a:t>Chatify</a:t>
            </a:r>
            <a:endParaRPr lang="en-US" sz="5800" dirty="0"/>
          </a:p>
        </p:txBody>
      </p:sp>
      <p:sp>
        <p:nvSpPr>
          <p:cNvPr id="12" name="Text 8"/>
          <p:cNvSpPr/>
          <p:nvPr/>
        </p:nvSpPr>
        <p:spPr>
          <a:xfrm>
            <a:off x="1828800" y="1664208"/>
            <a:ext cx="6858000" cy="329184"/>
          </a:xfrm>
          <a:prstGeom prst="rect">
            <a:avLst/>
          </a:prstGeom>
          <a:noFill/>
          <a:ln/>
        </p:spPr>
        <p:txBody>
          <a:bodyPr wrap="square"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A full-stack real-time communication platform — built from scratch.</a:t>
            </a:r>
            <a:endParaRPr lang="en-US" sz="1500" dirty="0"/>
          </a:p>
        </p:txBody>
      </p:sp>
      <p:sp>
        <p:nvSpPr>
          <p:cNvPr id="13" name="Shape 9"/>
          <p:cNvSpPr/>
          <p:nvPr/>
        </p:nvSpPr>
        <p:spPr>
          <a:xfrm>
            <a:off x="3291840" y="2121408"/>
            <a:ext cx="2560320" cy="45720"/>
          </a:xfrm>
          <a:prstGeom prst="rect">
            <a:avLst/>
          </a:prstGeom>
          <a:solidFill>
            <a:srgbClr val="6366F1"/>
          </a:solidFill>
          <a:ln w="12700">
            <a:solidFill>
              <a:srgbClr val="6366F1"/>
            </a:solidFill>
            <a:prstDash val="solid"/>
          </a:ln>
        </p:spPr>
        <p:txBody>
          <a:bodyPr/>
          <a:lstStyle/>
          <a:p>
            <a:endParaRPr lang="en-US"/>
          </a:p>
        </p:txBody>
      </p:sp>
      <p:sp>
        <p:nvSpPr>
          <p:cNvPr id="14" name="Text 10"/>
          <p:cNvSpPr/>
          <p:nvPr/>
        </p:nvSpPr>
        <p:spPr>
          <a:xfrm>
            <a:off x="1828800" y="2304288"/>
            <a:ext cx="5486400" cy="402336"/>
          </a:xfrm>
          <a:prstGeom prst="rect">
            <a:avLst/>
          </a:prstGeom>
          <a:noFill/>
          <a:ln/>
        </p:spPr>
        <p:txBody>
          <a:bodyPr wrap="square" rtlCol="0" anchor="ctr"/>
          <a:lstStyle/>
          <a:p>
            <a:pPr marL="0" indent="0" algn="ctr">
              <a:buNone/>
            </a:pPr>
            <a:r>
              <a:rPr lang="en-US" sz="2200" b="1" dirty="0">
                <a:solidFill>
                  <a:srgbClr val="F0F6FC"/>
                </a:solidFill>
                <a:latin typeface="Calibri" pitchFamily="34" charset="0"/>
                <a:ea typeface="Calibri" pitchFamily="34" charset="-122"/>
                <a:cs typeface="Calibri" pitchFamily="34" charset="-120"/>
              </a:rPr>
              <a:t>Nitish Kumar</a:t>
            </a:r>
            <a:endParaRPr lang="en-US" sz="2200" dirty="0"/>
          </a:p>
        </p:txBody>
      </p:sp>
      <p:sp>
        <p:nvSpPr>
          <p:cNvPr id="15" name="Text 11"/>
          <p:cNvSpPr/>
          <p:nvPr/>
        </p:nvSpPr>
        <p:spPr>
          <a:xfrm>
            <a:off x="1828800" y="2743200"/>
            <a:ext cx="5486400" cy="274320"/>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Final Year  ·  2026  ·  Bachelor of Computer Science</a:t>
            </a:r>
            <a:endParaRPr lang="en-US" sz="1400" dirty="0"/>
          </a:p>
        </p:txBody>
      </p:sp>
      <p:sp>
        <p:nvSpPr>
          <p:cNvPr id="16" name="Shape 12"/>
          <p:cNvSpPr/>
          <p:nvPr/>
        </p:nvSpPr>
        <p:spPr>
          <a:xfrm>
            <a:off x="402336" y="3310128"/>
            <a:ext cx="97840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17" name="Text 13"/>
          <p:cNvSpPr/>
          <p:nvPr/>
        </p:nvSpPr>
        <p:spPr>
          <a:xfrm>
            <a:off x="402336" y="3310128"/>
            <a:ext cx="97840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React 19</a:t>
            </a:r>
            <a:endParaRPr lang="en-US" sz="950" dirty="0"/>
          </a:p>
        </p:txBody>
      </p:sp>
      <p:sp>
        <p:nvSpPr>
          <p:cNvPr id="18" name="Shape 14"/>
          <p:cNvSpPr/>
          <p:nvPr/>
        </p:nvSpPr>
        <p:spPr>
          <a:xfrm>
            <a:off x="1453896" y="3310128"/>
            <a:ext cx="97840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19" name="Text 15"/>
          <p:cNvSpPr/>
          <p:nvPr/>
        </p:nvSpPr>
        <p:spPr>
          <a:xfrm>
            <a:off x="1453896" y="3310128"/>
            <a:ext cx="97840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Node.js</a:t>
            </a:r>
            <a:endParaRPr lang="en-US" sz="950" dirty="0"/>
          </a:p>
        </p:txBody>
      </p:sp>
      <p:sp>
        <p:nvSpPr>
          <p:cNvPr id="20" name="Shape 16"/>
          <p:cNvSpPr/>
          <p:nvPr/>
        </p:nvSpPr>
        <p:spPr>
          <a:xfrm>
            <a:off x="2505456" y="3310128"/>
            <a:ext cx="97840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21" name="Text 17"/>
          <p:cNvSpPr/>
          <p:nvPr/>
        </p:nvSpPr>
        <p:spPr>
          <a:xfrm>
            <a:off x="2505456" y="3310128"/>
            <a:ext cx="97840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Express</a:t>
            </a:r>
            <a:endParaRPr lang="en-US" sz="950" dirty="0"/>
          </a:p>
        </p:txBody>
      </p:sp>
      <p:sp>
        <p:nvSpPr>
          <p:cNvPr id="22" name="Shape 18"/>
          <p:cNvSpPr/>
          <p:nvPr/>
        </p:nvSpPr>
        <p:spPr>
          <a:xfrm>
            <a:off x="3557016" y="3310128"/>
            <a:ext cx="97840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23" name="Text 19"/>
          <p:cNvSpPr/>
          <p:nvPr/>
        </p:nvSpPr>
        <p:spPr>
          <a:xfrm>
            <a:off x="3557016" y="3310128"/>
            <a:ext cx="97840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Supabase</a:t>
            </a:r>
            <a:endParaRPr lang="en-US" sz="950" dirty="0"/>
          </a:p>
        </p:txBody>
      </p:sp>
      <p:sp>
        <p:nvSpPr>
          <p:cNvPr id="24" name="Shape 20"/>
          <p:cNvSpPr/>
          <p:nvPr/>
        </p:nvSpPr>
        <p:spPr>
          <a:xfrm>
            <a:off x="4608576" y="3310128"/>
            <a:ext cx="97840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25" name="Text 21"/>
          <p:cNvSpPr/>
          <p:nvPr/>
        </p:nvSpPr>
        <p:spPr>
          <a:xfrm>
            <a:off x="4608576" y="3310128"/>
            <a:ext cx="97840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Firebase</a:t>
            </a:r>
            <a:endParaRPr lang="en-US" sz="950" dirty="0"/>
          </a:p>
        </p:txBody>
      </p:sp>
      <p:sp>
        <p:nvSpPr>
          <p:cNvPr id="26" name="Shape 22"/>
          <p:cNvSpPr/>
          <p:nvPr/>
        </p:nvSpPr>
        <p:spPr>
          <a:xfrm>
            <a:off x="5660136" y="3310128"/>
            <a:ext cx="97840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27" name="Text 23"/>
          <p:cNvSpPr/>
          <p:nvPr/>
        </p:nvSpPr>
        <p:spPr>
          <a:xfrm>
            <a:off x="5660136" y="3310128"/>
            <a:ext cx="97840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WebRTC</a:t>
            </a:r>
            <a:endParaRPr lang="en-US" sz="950" dirty="0"/>
          </a:p>
        </p:txBody>
      </p:sp>
      <p:sp>
        <p:nvSpPr>
          <p:cNvPr id="28" name="Shape 24"/>
          <p:cNvSpPr/>
          <p:nvPr/>
        </p:nvSpPr>
        <p:spPr>
          <a:xfrm>
            <a:off x="6711696" y="3310128"/>
            <a:ext cx="97840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29" name="Text 25"/>
          <p:cNvSpPr/>
          <p:nvPr/>
        </p:nvSpPr>
        <p:spPr>
          <a:xfrm>
            <a:off x="6711696" y="3310128"/>
            <a:ext cx="97840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PostgreSQL</a:t>
            </a:r>
            <a:endParaRPr lang="en-US" sz="950" dirty="0"/>
          </a:p>
        </p:txBody>
      </p:sp>
      <p:sp>
        <p:nvSpPr>
          <p:cNvPr id="30" name="Shape 26"/>
          <p:cNvSpPr/>
          <p:nvPr/>
        </p:nvSpPr>
        <p:spPr>
          <a:xfrm>
            <a:off x="7763256" y="3310128"/>
            <a:ext cx="978408" cy="292608"/>
          </a:xfrm>
          <a:prstGeom prst="roundRect">
            <a:avLst>
              <a:gd name="adj" fmla="val 25000"/>
            </a:avLst>
          </a:prstGeom>
          <a:solidFill>
            <a:srgbClr val="161B22"/>
          </a:solidFill>
          <a:ln w="8890">
            <a:solidFill>
              <a:srgbClr val="6366F1"/>
            </a:solidFill>
            <a:prstDash val="solid"/>
          </a:ln>
        </p:spPr>
        <p:txBody>
          <a:bodyPr/>
          <a:lstStyle/>
          <a:p>
            <a:endParaRPr lang="en-US"/>
          </a:p>
        </p:txBody>
      </p:sp>
      <p:sp>
        <p:nvSpPr>
          <p:cNvPr id="31" name="Text 27"/>
          <p:cNvSpPr/>
          <p:nvPr/>
        </p:nvSpPr>
        <p:spPr>
          <a:xfrm>
            <a:off x="7763256" y="3310128"/>
            <a:ext cx="978408" cy="292608"/>
          </a:xfrm>
          <a:prstGeom prst="rect">
            <a:avLst/>
          </a:prstGeom>
          <a:noFill/>
          <a:ln/>
        </p:spPr>
        <p:txBody>
          <a:bodyPr wrap="square" rtlCol="0" anchor="ctr"/>
          <a:lstStyle/>
          <a:p>
            <a:pPr marL="0" indent="0" algn="ctr">
              <a:buNone/>
            </a:pPr>
            <a:r>
              <a:rPr lang="en-US" sz="950" b="1" dirty="0">
                <a:solidFill>
                  <a:srgbClr val="6366F1"/>
                </a:solidFill>
                <a:latin typeface="Calibri" pitchFamily="34" charset="0"/>
                <a:ea typeface="Calibri" pitchFamily="34" charset="-122"/>
                <a:cs typeface="Calibri" pitchFamily="34" charset="-120"/>
              </a:rPr>
              <a:t>GSAP</a:t>
            </a:r>
            <a:endParaRPr lang="en-US" sz="950" dirty="0"/>
          </a:p>
        </p:txBody>
      </p:sp>
      <p:sp>
        <p:nvSpPr>
          <p:cNvPr id="32" name="Text 28"/>
          <p:cNvSpPr/>
          <p:nvPr/>
        </p:nvSpPr>
        <p:spPr>
          <a:xfrm>
            <a:off x="1828800" y="3913632"/>
            <a:ext cx="5486400" cy="347472"/>
          </a:xfrm>
          <a:prstGeom prst="rect">
            <a:avLst/>
          </a:prstGeom>
          <a:noFill/>
          <a:ln/>
        </p:spPr>
        <p:txBody>
          <a:bodyPr wrap="square" rtlCol="0" anchor="ctr"/>
          <a:lstStyle/>
          <a:p>
            <a:pPr marL="0" indent="0" algn="ctr">
              <a:buNone/>
            </a:pPr>
            <a:r>
              <a:rPr lang="en-US" sz="1400" i="1" dirty="0">
                <a:solidFill>
                  <a:srgbClr val="8B949E"/>
                </a:solidFill>
                <a:latin typeface="Calibri" pitchFamily="34" charset="0"/>
                <a:ea typeface="Calibri" pitchFamily="34" charset="-122"/>
                <a:cs typeface="Calibri" pitchFamily="34" charset="-120"/>
              </a:rPr>
              <a:t>Thank You</a:t>
            </a:r>
            <a:endParaRPr lang="en-US" sz="1400" dirty="0"/>
          </a:p>
        </p:txBody>
      </p:sp>
      <p:pic>
        <p:nvPicPr>
          <p:cNvPr id="33" name="Image 2" descr="preencoded.png"/>
          <p:cNvPicPr>
            <a:picLocks noChangeAspect="1"/>
          </p:cNvPicPr>
          <p:nvPr/>
        </p:nvPicPr>
        <p:blipFill>
          <a:blip r:embed="rId5"/>
          <a:stretch>
            <a:fillRect/>
          </a:stretch>
        </p:blipFill>
        <p:spPr>
          <a:xfrm>
            <a:off x="4206240" y="4407408"/>
            <a:ext cx="457200" cy="457200"/>
          </a:xfrm>
          <a:prstGeom prst="rect">
            <a:avLst/>
          </a:prstGeom>
        </p:spPr>
      </p:pic>
      <p:pic>
        <p:nvPicPr>
          <p:cNvPr id="34" name="Image 3" descr="preencoded.png"/>
          <p:cNvPicPr>
            <a:picLocks noChangeAspect="1"/>
          </p:cNvPicPr>
          <p:nvPr/>
        </p:nvPicPr>
        <p:blipFill>
          <a:blip r:embed="rId6"/>
          <a:stretch>
            <a:fillRect/>
          </a:stretch>
        </p:blipFill>
        <p:spPr>
          <a:xfrm>
            <a:off x="4754880" y="4407408"/>
            <a:ext cx="457200"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3760</Words>
  <Application>Microsoft Office PowerPoint</Application>
  <PresentationFormat>On-screen Show (16:9)</PresentationFormat>
  <Paragraphs>498</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Chatify — Deep Technical Analysis</dc:title>
  <dc:subject>PptxGenJS Presentation</dc:subject>
  <dc:creator>Nitish Kumar</dc:creator>
  <cp:lastModifiedBy>Nitish Kumar</cp:lastModifiedBy>
  <cp:revision>2</cp:revision>
  <dcterms:created xsi:type="dcterms:W3CDTF">2026-05-18T07:11:26Z</dcterms:created>
  <dcterms:modified xsi:type="dcterms:W3CDTF">2026-05-19T07:36:37Z</dcterms:modified>
</cp:coreProperties>
</file>